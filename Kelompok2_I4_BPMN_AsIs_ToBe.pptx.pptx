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Deck pemodelan proses bisnis BPMN As-Is dan To-Be untuk usulan AI Voice Assistant Coretax.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Menetapkan studi kasus layanan informasi Coretax dan dua proses bisnis yang dimodelkan, serta metode As-Is/To-Be dengan BPMN 2.0.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BPMN As-Is PB-1 sesuai SOP resmi: permintaan tercatat pada register Coretax dan eskalasi berjenjang lewat tiket Melati, tetapi setiap pertanyaan tetap dijawab petugas pada jam kerja.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BPMN To-Be PB-1: AI Voice Agent menjawab pertanyaan umum dari knowledge base resmi; kasus berisiko dibuatkan tiket eskalasi dan diteruskan ke PB-2.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Enam perubahan kunci pada To-Be PB-1, termasuk catatan bahwa To-Be menambah langkah kontrol namun tetap lebih efisien karena waktu tunggu manusia hilang.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BPMN As-Is PB-2 sesuai SOP resmi: tiket Melati dan register sudah digital, namun wajib pajak harus memeriksa status sendiri dan waktu selesai bergantung antrean unit teknis.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BPMN To-Be PB-2: tiket dan transkrip dibuat otomatis, petugas menerima notifikasi pagi dan bekerja dari dashboard, laporan serta metrik dihasilkan harian.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Perbandingan PB-2: pencatatan sudah digital sejak awal, sehingga nilai tambah To-Be ada pada penjawaban otomatis, ringkasan, dan notifikasi.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Kesimpulan identifikasi: As-Is dan To-Be tidak sama, dengan enam jenis perubahan yang masing-masing dibuktikan pada model.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Kesimpulan: proses berubah bentuk, efisiensi ada pada beban menjawab dan waktu tunggu, bukan pada pencatatan yang memang sudah berjalan.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7A141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1735731"/>
            <a:ext cx="14275794" cy="261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3"/>
              </a:lnSpc>
            </a:pPr>
            <a:r>
              <a:rPr lang="en-US" sz="690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Proses Bisnis As-Is &amp; To-Be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1059" y="3520202"/>
            <a:ext cx="14550323" cy="45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551">
                <a:solidFill>
                  <a:srgbClr val="F7D9DB"/>
                </a:solidFill>
                <a:latin typeface="Arial"/>
                <a:ea typeface="Arial"/>
                <a:cs typeface="Arial"/>
                <a:sym typeface="Arial"/>
              </a:rPr>
              <a:t>AI Voice Assistant untuk Layanan Informasi Coretax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1059" y="4426163"/>
            <a:ext cx="14550323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726">
                <a:solidFill>
                  <a:srgbClr val="E2AFB2"/>
                </a:solidFill>
                <a:latin typeface="Arial"/>
                <a:ea typeface="Arial"/>
                <a:cs typeface="Arial"/>
                <a:sym typeface="Arial"/>
              </a:rPr>
              <a:t>Analisis perbandingan proses sebelum dan sesudah penerapan sistem informasi, beserta dampaknya pada efisiensi layanan.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1059" y="6259382"/>
            <a:ext cx="8236039" cy="301990"/>
            <a:chOff x="0" y="0"/>
            <a:chExt cx="10981385" cy="4026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1379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0981385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3"/>
                </a:lnSpc>
              </a:pPr>
              <a:r>
                <a:rPr lang="en-US" sz="1411" b="true">
                  <a:solidFill>
                    <a:srgbClr val="E8A8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KELOMPOK 2 - KELAS I4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51059" y="6686874"/>
            <a:ext cx="3738134" cy="34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7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Hariz Fauzil Adhim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1059" y="7365930"/>
            <a:ext cx="3738134" cy="29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D89A9E"/>
                </a:solidFill>
                <a:latin typeface="Arial"/>
                <a:ea typeface="Arial"/>
                <a:cs typeface="Arial"/>
                <a:sym typeface="Arial"/>
              </a:rPr>
              <a:t>18724011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0987" y="6686874"/>
            <a:ext cx="3738134" cy="6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7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Adrian Faishal Hilmy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00987" y="7365930"/>
            <a:ext cx="3738134" cy="29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D89A9E"/>
                </a:solidFill>
                <a:latin typeface="Arial"/>
                <a:ea typeface="Arial"/>
                <a:cs typeface="Arial"/>
                <a:sym typeface="Arial"/>
              </a:rPr>
              <a:t>187241089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925" y="6686874"/>
            <a:ext cx="3738134" cy="6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7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Kevin Brawijaya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925" y="7365930"/>
            <a:ext cx="37381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D89A9E"/>
                </a:solidFill>
                <a:latin typeface="Arial"/>
                <a:ea typeface="Arial"/>
                <a:cs typeface="Arial"/>
                <a:sym typeface="Arial"/>
              </a:rPr>
              <a:t>187241114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0853" y="6686874"/>
            <a:ext cx="3738134" cy="6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7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Thoriq Rafi Al Bani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0853" y="7365930"/>
            <a:ext cx="3738134" cy="29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D89A9E"/>
                </a:solidFill>
                <a:latin typeface="Arial"/>
                <a:ea typeface="Arial"/>
                <a:cs typeface="Arial"/>
                <a:sym typeface="Arial"/>
              </a:rPr>
              <a:t>187241092</a:t>
            </a:r>
          </a:p>
        </p:txBody>
      </p:sp>
      <p:sp>
        <p:nvSpPr>
          <p:cNvPr name="AutoShape 18" id="18"/>
          <p:cNvSpPr/>
          <p:nvPr/>
        </p:nvSpPr>
        <p:spPr>
          <a:xfrm rot="3540">
            <a:off x="842477" y="8395992"/>
            <a:ext cx="16616896" cy="0"/>
          </a:xfrm>
          <a:prstGeom prst="line">
            <a:avLst/>
          </a:prstGeom>
          <a:ln cap="rnd" w="9525">
            <a:solidFill>
              <a:srgbClr val="9E40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51059" y="8599094"/>
            <a:ext cx="10157774" cy="100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576">
                <a:solidFill>
                  <a:srgbClr val="F0C6C8"/>
                </a:solidFill>
                <a:latin typeface="Arial"/>
                <a:ea typeface="Arial"/>
                <a:cs typeface="Arial"/>
                <a:sym typeface="Arial"/>
              </a:rPr>
              <a:t>Dosen Pengampu: Dr. Indra Kharisma Raharjana, S.Kom., M.T.</a:t>
            </a:r>
          </a:p>
          <a:p>
            <a:pPr algn="l">
              <a:lnSpc>
                <a:spcPts val="2534"/>
              </a:lnSpc>
            </a:pPr>
            <a:r>
              <a:rPr lang="en-US" sz="1576">
                <a:solidFill>
                  <a:srgbClr val="F0C6C8"/>
                </a:solidFill>
                <a:latin typeface="Arial"/>
                <a:ea typeface="Arial"/>
                <a:cs typeface="Arial"/>
                <a:sym typeface="Arial"/>
              </a:rPr>
              <a:t>S1 Sistem Informasi - Departemen Matematika, Fakultas Sains dan Teknologi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60095" y="8599094"/>
            <a:ext cx="5490686" cy="30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1576">
                <a:solidFill>
                  <a:srgbClr val="D89A9E"/>
                </a:solidFill>
                <a:latin typeface="Arial"/>
                <a:ea typeface="Arial"/>
                <a:cs typeface="Arial"/>
                <a:sym typeface="Arial"/>
              </a:rPr>
              <a:t>Mata kuliah Pengembangan Perangkat Lunak Praktikum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557470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KONTEKS &amp; RUANG LINGKUP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778669"/>
            <a:ext cx="16599722" cy="6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903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Studi Kasus dan Dua Proses Bisnis yang Dimodelkan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1059" y="1553470"/>
            <a:ext cx="16334804" cy="62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2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Fokus studi kasus adalah layanan bantuan penggunaan platform Coretax - bukan layanan perpajakan secara umum. Sistem yang diusulkan kelompok adalah AI Voice</a:t>
            </a:r>
          </a:p>
          <a:p>
            <a:pPr algn="l">
              <a:lnSpc>
                <a:spcPts val="2610"/>
              </a:lnSpc>
            </a:pPr>
            <a:r>
              <a:rPr lang="en-US" sz="172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Assistant berbasis Speech-to-Text, LLM, dan Retrieval-Augmented Generation di atas knowledge base resmi Coretax.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41524" y="2529526"/>
            <a:ext cx="8030670" cy="2736952"/>
            <a:chOff x="0" y="0"/>
            <a:chExt cx="10707560" cy="36492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07497" cy="3649218"/>
            </a:xfrm>
            <a:custGeom>
              <a:avLst/>
              <a:gdLst/>
              <a:ahLst/>
              <a:cxnLst/>
              <a:rect r="r" b="b" t="t" l="l"/>
              <a:pathLst>
                <a:path h="3649218" w="10707497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523220" y="0"/>
                  </a:lnTo>
                  <a:cubicBezTo>
                    <a:pt x="10624947" y="0"/>
                    <a:pt x="10707497" y="82550"/>
                    <a:pt x="10707497" y="184277"/>
                  </a:cubicBezTo>
                  <a:lnTo>
                    <a:pt x="10707497" y="3464941"/>
                  </a:lnTo>
                  <a:cubicBezTo>
                    <a:pt x="10707497" y="3566668"/>
                    <a:pt x="10624947" y="3649218"/>
                    <a:pt x="10523220" y="3649218"/>
                  </a:cubicBezTo>
                  <a:lnTo>
                    <a:pt x="184277" y="3649218"/>
                  </a:lnTo>
                  <a:cubicBezTo>
                    <a:pt x="82550" y="3649218"/>
                    <a:pt x="0" y="3566795"/>
                    <a:pt x="0" y="3464941"/>
                  </a:cubicBezTo>
                  <a:close/>
                </a:path>
              </a:pathLst>
            </a:custGeom>
            <a:solidFill>
              <a:srgbClr val="F5F7F8"/>
            </a:solidFill>
            <a:ln w="19065" cap="sq">
              <a:solidFill>
                <a:srgbClr val="DCE3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0686" y="2758688"/>
            <a:ext cx="713794" cy="713794"/>
            <a:chOff x="0" y="0"/>
            <a:chExt cx="951725" cy="951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0686" y="2895962"/>
            <a:ext cx="713794" cy="439255"/>
            <a:chOff x="0" y="0"/>
            <a:chExt cx="951725" cy="5856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720" cy="585674"/>
            </a:xfrm>
            <a:custGeom>
              <a:avLst/>
              <a:gdLst/>
              <a:ahLst/>
              <a:cxnLst/>
              <a:rect r="r" b="b" t="t" l="l"/>
              <a:pathLst>
                <a:path h="585674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5" t="0" r="-2895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5172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31559" y="2802950"/>
            <a:ext cx="6611474" cy="61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0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Layanan Informasi Coretax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0314" y="3470234"/>
            <a:ext cx="7133092" cy="30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561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Dari pertanyaan pengguna Coretax masuk sampai jawaban diterima.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7765" y="4040857"/>
            <a:ext cx="90592" cy="90592"/>
            <a:chOff x="0" y="0"/>
            <a:chExt cx="120790" cy="120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92304" y="3912241"/>
            <a:ext cx="6831101" cy="29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Aktor As-Is: WP, Petugas Layanan, Unit Teknis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17765" y="4397950"/>
            <a:ext cx="90592" cy="90592"/>
            <a:chOff x="0" y="0"/>
            <a:chExt cx="120790" cy="120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2304" y="4269324"/>
            <a:ext cx="6831101" cy="29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Aktor To-Be: WP, Sistem SIGAP (Voice, AI Engine, KB)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17765" y="4755032"/>
            <a:ext cx="90592" cy="90592"/>
            <a:chOff x="0" y="0"/>
            <a:chExt cx="120790" cy="1207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92304" y="4626407"/>
            <a:ext cx="6831101" cy="52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Cakupan: aktivasi &amp; akses akun, registrasi &amp; perubahan data, pembayaran &amp;</a:t>
            </a:r>
          </a:p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kode billing, faktur, bukti potong, dan SPT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29645" y="2529526"/>
            <a:ext cx="8030670" cy="2736952"/>
            <a:chOff x="0" y="0"/>
            <a:chExt cx="10707560" cy="36492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07497" cy="3649218"/>
            </a:xfrm>
            <a:custGeom>
              <a:avLst/>
              <a:gdLst/>
              <a:ahLst/>
              <a:cxnLst/>
              <a:rect r="r" b="b" t="t" l="l"/>
              <a:pathLst>
                <a:path h="3649218" w="10707497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523220" y="0"/>
                  </a:lnTo>
                  <a:cubicBezTo>
                    <a:pt x="10624947" y="0"/>
                    <a:pt x="10707497" y="82550"/>
                    <a:pt x="10707497" y="184277"/>
                  </a:cubicBezTo>
                  <a:lnTo>
                    <a:pt x="10707497" y="3464941"/>
                  </a:lnTo>
                  <a:cubicBezTo>
                    <a:pt x="10707497" y="3566668"/>
                    <a:pt x="10624947" y="3649218"/>
                    <a:pt x="10523220" y="3649218"/>
                  </a:cubicBezTo>
                  <a:lnTo>
                    <a:pt x="184277" y="3649218"/>
                  </a:lnTo>
                  <a:cubicBezTo>
                    <a:pt x="82550" y="3649218"/>
                    <a:pt x="0" y="3566795"/>
                    <a:pt x="0" y="3464941"/>
                  </a:cubicBezTo>
                  <a:close/>
                </a:path>
              </a:pathLst>
            </a:custGeom>
            <a:solidFill>
              <a:srgbClr val="F5F7F8"/>
            </a:solidFill>
            <a:ln w="19065" cap="sq">
              <a:solidFill>
                <a:srgbClr val="DCE3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58807" y="2758688"/>
            <a:ext cx="713794" cy="713794"/>
            <a:chOff x="0" y="0"/>
            <a:chExt cx="951725" cy="9517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58807" y="2895962"/>
            <a:ext cx="713794" cy="439255"/>
            <a:chOff x="0" y="0"/>
            <a:chExt cx="951725" cy="585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720" cy="585674"/>
            </a:xfrm>
            <a:custGeom>
              <a:avLst/>
              <a:gdLst/>
              <a:ahLst/>
              <a:cxnLst/>
              <a:rect r="r" b="b" t="t" l="l"/>
              <a:pathLst>
                <a:path h="585674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5" t="0" r="-2895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172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619680" y="2802950"/>
            <a:ext cx="6611474" cy="61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0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Penanganan Eskalasi &amp; Pelaporan Layanan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8435" y="3470234"/>
            <a:ext cx="7133092" cy="30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561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Dari kasus yang belum terjawab sampai laporan layanan tersedia.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05895" y="4040857"/>
            <a:ext cx="90592" cy="90592"/>
            <a:chOff x="0" y="0"/>
            <a:chExt cx="120790" cy="1207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80425" y="3912241"/>
            <a:ext cx="6831101" cy="29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Aktor As-Is: Petugas Layanan, Supervisor, WP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05895" y="4397950"/>
            <a:ext cx="90592" cy="90592"/>
            <a:chOff x="0" y="0"/>
            <a:chExt cx="120790" cy="1207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180425" y="4269324"/>
            <a:ext cx="6831101" cy="29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Aktor To-Be: Sistem SIGAP, Petugas Coretax, WP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05895" y="4755032"/>
            <a:ext cx="90592" cy="90592"/>
            <a:chOff x="0" y="0"/>
            <a:chExt cx="120790" cy="1207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180425" y="4626407"/>
            <a:ext cx="6831101" cy="29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47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Cakupan: tiket Melati, register permintaan, rekap harian, dan laporan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1059" y="5704608"/>
            <a:ext cx="16599722" cy="34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PEMETAAN KE ENAM LANGKAH ALUR SIGAP PADA DOKUMEN USULAN KELOMPOK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41524" y="6153388"/>
            <a:ext cx="2602659" cy="1583912"/>
            <a:chOff x="0" y="0"/>
            <a:chExt cx="3470212" cy="211188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FBE9EA"/>
            </a:solidFill>
            <a:ln w="19065" cap="sq">
              <a:solidFill>
                <a:srgbClr val="EFC9C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70686" y="6327638"/>
            <a:ext cx="494167" cy="494167"/>
            <a:chOff x="0" y="0"/>
            <a:chExt cx="658889" cy="6588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6327638"/>
            <a:ext cx="494167" cy="494167"/>
            <a:chOff x="0" y="0"/>
            <a:chExt cx="658889" cy="6588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02117" y="6410001"/>
            <a:ext cx="1512913" cy="329441"/>
            <a:chOff x="0" y="0"/>
            <a:chExt cx="2017217" cy="4392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A81D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PB-1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53049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Panggilan dijawab</a:t>
            </a:r>
          </a:p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AI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3644751" y="6153388"/>
            <a:ext cx="2602659" cy="1583912"/>
            <a:chOff x="0" y="0"/>
            <a:chExt cx="3470212" cy="21118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FBE9EA"/>
            </a:solidFill>
            <a:ln w="19065" cap="sq">
              <a:solidFill>
                <a:srgbClr val="EFC9C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3873913" y="6327638"/>
            <a:ext cx="494167" cy="494167"/>
            <a:chOff x="0" y="0"/>
            <a:chExt cx="658889" cy="6588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873913" y="6327638"/>
            <a:ext cx="494167" cy="494167"/>
            <a:chOff x="0" y="0"/>
            <a:chExt cx="658889" cy="6588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505344" y="6410001"/>
            <a:ext cx="1512913" cy="329441"/>
            <a:chOff x="0" y="0"/>
            <a:chExt cx="2017217" cy="4392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A81D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PB-1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3956266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Memahami</a:t>
            </a:r>
          </a:p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pertanyaan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447977" y="6153388"/>
            <a:ext cx="2602659" cy="1583912"/>
            <a:chOff x="0" y="0"/>
            <a:chExt cx="3470212" cy="211188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FBE9EA"/>
            </a:solidFill>
            <a:ln w="19065" cap="sq">
              <a:solidFill>
                <a:srgbClr val="EFC9C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677139" y="6327638"/>
            <a:ext cx="494167" cy="494167"/>
            <a:chOff x="0" y="0"/>
            <a:chExt cx="658889" cy="6588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677139" y="6327638"/>
            <a:ext cx="494167" cy="494167"/>
            <a:chOff x="0" y="0"/>
            <a:chExt cx="658889" cy="65888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308561" y="6410001"/>
            <a:ext cx="1512913" cy="329441"/>
            <a:chOff x="0" y="0"/>
            <a:chExt cx="2017217" cy="4392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A81D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PB-1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6759492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Menjawab dari KB</a:t>
            </a:r>
          </a:p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resmi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251204" y="6153388"/>
            <a:ext cx="2602659" cy="1583912"/>
            <a:chOff x="0" y="0"/>
            <a:chExt cx="3470212" cy="211188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CFDCE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480366" y="6327638"/>
            <a:ext cx="494167" cy="494167"/>
            <a:chOff x="0" y="0"/>
            <a:chExt cx="658889" cy="6588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480366" y="6327638"/>
            <a:ext cx="494167" cy="494167"/>
            <a:chOff x="0" y="0"/>
            <a:chExt cx="658889" cy="65888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111788" y="6410001"/>
            <a:ext cx="1512913" cy="329441"/>
            <a:chOff x="0" y="0"/>
            <a:chExt cx="2017217" cy="4392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PB-2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562719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Eskalasi otomatis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054430" y="6153388"/>
            <a:ext cx="2602659" cy="1583912"/>
            <a:chOff x="0" y="0"/>
            <a:chExt cx="3470212" cy="211188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CFDCE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283592" y="6327638"/>
            <a:ext cx="494167" cy="494167"/>
            <a:chOff x="0" y="0"/>
            <a:chExt cx="658889" cy="65888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283592" y="6327638"/>
            <a:ext cx="494167" cy="494167"/>
            <a:chOff x="0" y="0"/>
            <a:chExt cx="658889" cy="65888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915014" y="6410001"/>
            <a:ext cx="1512913" cy="329441"/>
            <a:chOff x="0" y="0"/>
            <a:chExt cx="2017217" cy="4392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PB-2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2365946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Notifikasi pagi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4857657" y="6153388"/>
            <a:ext cx="2602659" cy="1583912"/>
            <a:chOff x="0" y="0"/>
            <a:chExt cx="3470212" cy="211188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70275" cy="2111883"/>
            </a:xfrm>
            <a:custGeom>
              <a:avLst/>
              <a:gdLst/>
              <a:ahLst/>
              <a:cxnLst/>
              <a:rect r="r" b="b" t="t" l="l"/>
              <a:pathLst>
                <a:path h="2111883" w="3470275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22066" y="0"/>
                  </a:lnTo>
                  <a:cubicBezTo>
                    <a:pt x="3403854" y="0"/>
                    <a:pt x="3470275" y="66294"/>
                    <a:pt x="3470275" y="148209"/>
                  </a:cubicBezTo>
                  <a:lnTo>
                    <a:pt x="3470275" y="1963674"/>
                  </a:lnTo>
                  <a:cubicBezTo>
                    <a:pt x="3470275" y="2045462"/>
                    <a:pt x="3403981" y="2111883"/>
                    <a:pt x="3322066" y="2111883"/>
                  </a:cubicBezTo>
                  <a:lnTo>
                    <a:pt x="148209" y="2111883"/>
                  </a:lnTo>
                  <a:cubicBezTo>
                    <a:pt x="66294" y="2111883"/>
                    <a:pt x="0" y="2045589"/>
                    <a:pt x="0" y="196367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CFDCEA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5086809" y="6327638"/>
            <a:ext cx="494167" cy="494167"/>
            <a:chOff x="0" y="0"/>
            <a:chExt cx="658889" cy="65888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cubicBezTo>
                    <a:pt x="511429" y="0"/>
                    <a:pt x="658876" y="147447"/>
                    <a:pt x="658876" y="329438"/>
                  </a:cubicBezTo>
                  <a:cubicBezTo>
                    <a:pt x="658876" y="511429"/>
                    <a:pt x="511429" y="658876"/>
                    <a:pt x="329438" y="658876"/>
                  </a:cubicBez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086809" y="6327638"/>
            <a:ext cx="494167" cy="494167"/>
            <a:chOff x="0" y="0"/>
            <a:chExt cx="658889" cy="65888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58883" cy="658883"/>
            </a:xfrm>
            <a:custGeom>
              <a:avLst/>
              <a:gdLst/>
              <a:ahLst/>
              <a:cxnLst/>
              <a:rect r="r" b="b" t="t" l="l"/>
              <a:pathLst>
                <a:path h="658883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4" t="0" r="-78305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58889" cy="69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4"/>
                </a:lnSpc>
              </a:pPr>
              <a:r>
                <a:rPr lang="en-US" sz="157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18241" y="6410001"/>
            <a:ext cx="1512913" cy="329441"/>
            <a:chOff x="0" y="0"/>
            <a:chExt cx="2017217" cy="43925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17218" cy="439255"/>
            </a:xfrm>
            <a:custGeom>
              <a:avLst/>
              <a:gdLst/>
              <a:ahLst/>
              <a:cxnLst/>
              <a:rect r="r" b="b" t="t" l="l"/>
              <a:pathLst>
                <a:path h="439255" w="2017218">
                  <a:moveTo>
                    <a:pt x="0" y="0"/>
                  </a:moveTo>
                  <a:lnTo>
                    <a:pt x="2017218" y="0"/>
                  </a:lnTo>
                  <a:lnTo>
                    <a:pt x="2017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82" r="0" b="-3948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017217" cy="458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 b="true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PB-2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5169172" y="6920970"/>
            <a:ext cx="1979619" cy="66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6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Tindak lanjut staf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2 / 16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392754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PB-1 - AS-IS (SEBELUM SISTEM USULAN)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33279" y="1184636"/>
            <a:ext cx="13620737" cy="8978336"/>
          </a:xfrm>
          <a:custGeom>
            <a:avLst/>
            <a:gdLst/>
            <a:ahLst/>
            <a:cxnLst/>
            <a:rect r="r" b="b" t="t" l="l"/>
            <a:pathLst>
              <a:path h="8978336" w="13620737">
                <a:moveTo>
                  <a:pt x="0" y="0"/>
                </a:moveTo>
                <a:lnTo>
                  <a:pt x="13620737" y="0"/>
                </a:lnTo>
                <a:lnTo>
                  <a:pt x="13620737" y="8978336"/>
                </a:lnTo>
                <a:lnTo>
                  <a:pt x="0" y="8978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1059" y="633003"/>
            <a:ext cx="16599722" cy="48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Layanan Informasi Coretax - Kondisi Saat Ini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4128" y="9699269"/>
            <a:ext cx="258137" cy="258137"/>
            <a:chOff x="0" y="0"/>
            <a:chExt cx="344183" cy="3441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9103" y="9636157"/>
            <a:ext cx="1194854" cy="384353"/>
            <a:chOff x="0" y="0"/>
            <a:chExt cx="1593139" cy="512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22742" y="9699269"/>
            <a:ext cx="258137" cy="258137"/>
            <a:chOff x="0" y="0"/>
            <a:chExt cx="344183" cy="344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190988" y="9784690"/>
            <a:ext cx="121644" cy="87287"/>
            <a:chOff x="0" y="0"/>
            <a:chExt cx="162192" cy="1163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179" cy="116332"/>
            </a:xfrm>
            <a:custGeom>
              <a:avLst/>
              <a:gdLst/>
              <a:ahLst/>
              <a:cxnLst/>
              <a:rect r="r" b="b" t="t" l="l"/>
              <a:pathLst>
                <a:path h="116332" w="162179">
                  <a:moveTo>
                    <a:pt x="0" y="0"/>
                  </a:moveTo>
                  <a:lnTo>
                    <a:pt x="162179" y="0"/>
                  </a:lnTo>
                  <a:lnTo>
                    <a:pt x="162179" y="116332"/>
                  </a:lnTo>
                  <a:lnTo>
                    <a:pt x="0" y="1163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069" t="0" r="-42077" b="-43"/>
              </a:stretch>
            </a:blipFill>
            <a:ln w="14299" cap="sq">
              <a:solidFill>
                <a:srgbClr val="2F7D4F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2470020">
            <a:off x="2180463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-2470020">
            <a:off x="2234127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2457707" y="9636157"/>
            <a:ext cx="1194854" cy="384353"/>
            <a:chOff x="0" y="0"/>
            <a:chExt cx="1593139" cy="512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start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82298" y="9700222"/>
            <a:ext cx="256232" cy="256232"/>
            <a:chOff x="0" y="0"/>
            <a:chExt cx="341643" cy="3416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1630" cy="341630"/>
            </a:xfrm>
            <a:custGeom>
              <a:avLst/>
              <a:gdLst/>
              <a:ahLst/>
              <a:cxnLst/>
              <a:rect r="r" b="b" t="t" l="l"/>
              <a:pathLst>
                <a:path h="341630" w="341630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cubicBezTo>
                    <a:pt x="265176" y="0"/>
                    <a:pt x="341630" y="76454"/>
                    <a:pt x="341630" y="170815"/>
                  </a:cubicBezTo>
                  <a:cubicBezTo>
                    <a:pt x="341630" y="265176"/>
                    <a:pt x="265176" y="341630"/>
                    <a:pt x="170815" y="341630"/>
                  </a:cubicBezTo>
                  <a:cubicBezTo>
                    <a:pt x="76454" y="341630"/>
                    <a:pt x="0" y="265176"/>
                    <a:pt x="0" y="170815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716312" y="9734226"/>
            <a:ext cx="188204" cy="188204"/>
            <a:chOff x="0" y="0"/>
            <a:chExt cx="250939" cy="2509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0952" cy="250952"/>
            </a:xfrm>
            <a:custGeom>
              <a:avLst/>
              <a:gdLst/>
              <a:ahLst/>
              <a:cxnLst/>
              <a:rect r="r" b="b" t="t" l="l"/>
              <a:pathLst>
                <a:path h="250952" w="250952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cubicBezTo>
                    <a:pt x="194818" y="0"/>
                    <a:pt x="250952" y="56134"/>
                    <a:pt x="250952" y="125476"/>
                  </a:cubicBezTo>
                  <a:cubicBezTo>
                    <a:pt x="250952" y="194818"/>
                    <a:pt x="194818" y="250952"/>
                    <a:pt x="125476" y="250952"/>
                  </a:cubicBezTo>
                  <a:cubicBezTo>
                    <a:pt x="56134" y="250952"/>
                    <a:pt x="0" y="194818"/>
                    <a:pt x="0" y="12547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9" t="0" r="-78294" b="5"/>
              </a:stretch>
            </a:blipFill>
            <a:ln w="15252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747259" y="9765182"/>
            <a:ext cx="126311" cy="126311"/>
            <a:chOff x="0" y="0"/>
            <a:chExt cx="168415" cy="168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8402" cy="168402"/>
            </a:xfrm>
            <a:custGeom>
              <a:avLst/>
              <a:gdLst/>
              <a:ahLst/>
              <a:cxnLst/>
              <a:rect r="r" b="b" t="t" l="l"/>
              <a:pathLst>
                <a:path h="168402" w="168402">
                  <a:moveTo>
                    <a:pt x="0" y="84201"/>
                  </a:moveTo>
                  <a:cubicBezTo>
                    <a:pt x="0" y="37719"/>
                    <a:pt x="37719" y="0"/>
                    <a:pt x="84201" y="0"/>
                  </a:cubicBezTo>
                  <a:cubicBezTo>
                    <a:pt x="130683" y="0"/>
                    <a:pt x="168402" y="37719"/>
                    <a:pt x="168402" y="84201"/>
                  </a:cubicBezTo>
                  <a:cubicBezTo>
                    <a:pt x="168402" y="130683"/>
                    <a:pt x="130683" y="168402"/>
                    <a:pt x="84201" y="168402"/>
                  </a:cubicBezTo>
                  <a:cubicBezTo>
                    <a:pt x="37719" y="168402"/>
                    <a:pt x="0" y="130683"/>
                    <a:pt x="0" y="8420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9" t="0" r="-78317" b="-7"/>
              </a:stretch>
            </a:blipFill>
            <a:ln w="14299" cap="sq">
              <a:solidFill>
                <a:srgbClr val="9A6E08"/>
              </a:solidFill>
              <a:prstDash val="solid"/>
              <a:miter/>
            </a:ln>
          </p:spPr>
        </p:sp>
      </p:grpSp>
      <p:sp>
        <p:nvSpPr>
          <p:cNvPr name="AutoShape 25" id="25"/>
          <p:cNvSpPr/>
          <p:nvPr/>
        </p:nvSpPr>
        <p:spPr>
          <a:xfrm rot="4464840">
            <a:off x="3783806" y="9805092"/>
            <a:ext cx="53216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019700">
            <a:off x="3802199" y="9823571"/>
            <a:ext cx="48920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016312" y="9636157"/>
            <a:ext cx="1194854" cy="384353"/>
            <a:chOff x="0" y="0"/>
            <a:chExt cx="1593139" cy="512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Intermediate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28511" y="9687830"/>
            <a:ext cx="281016" cy="281016"/>
            <a:chOff x="0" y="0"/>
            <a:chExt cx="374688" cy="3746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650" cy="374650"/>
            </a:xfrm>
            <a:custGeom>
              <a:avLst/>
              <a:gdLst/>
              <a:ahLst/>
              <a:cxnLst/>
              <a:rect r="r" b="b" t="t" l="l"/>
              <a:pathLst>
                <a:path h="374650" w="374650">
                  <a:moveTo>
                    <a:pt x="0" y="187325"/>
                  </a:moveTo>
                  <a:cubicBezTo>
                    <a:pt x="0" y="83820"/>
                    <a:pt x="83820" y="0"/>
                    <a:pt x="187325" y="0"/>
                  </a:cubicBezTo>
                  <a:cubicBezTo>
                    <a:pt x="290830" y="0"/>
                    <a:pt x="374650" y="83820"/>
                    <a:pt x="374650" y="187325"/>
                  </a:cubicBezTo>
                  <a:cubicBezTo>
                    <a:pt x="374650" y="290830"/>
                    <a:pt x="290830" y="374650"/>
                    <a:pt x="187325" y="374650"/>
                  </a:cubicBezTo>
                  <a:cubicBezTo>
                    <a:pt x="83820" y="374650"/>
                    <a:pt x="0" y="290830"/>
                    <a:pt x="0" y="187325"/>
                  </a:cubicBezTo>
                  <a:close/>
                </a:path>
              </a:pathLst>
            </a:custGeom>
            <a:solidFill>
              <a:srgbClr val="FFFFFF"/>
            </a:solidFill>
            <a:ln w="47662" cap="sq">
              <a:solidFill>
                <a:srgbClr val="A81D2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574925" y="9636157"/>
            <a:ext cx="1194854" cy="384353"/>
            <a:chOff x="0" y="0"/>
            <a:chExt cx="1593139" cy="512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1421" y="9713109"/>
            <a:ext cx="362236" cy="230457"/>
            <a:chOff x="0" y="0"/>
            <a:chExt cx="482981" cy="3072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2981" cy="307340"/>
            </a:xfrm>
            <a:custGeom>
              <a:avLst/>
              <a:gdLst/>
              <a:ahLst/>
              <a:cxnLst/>
              <a:rect r="r" b="b" t="t" l="l"/>
              <a:pathLst>
                <a:path h="307340" w="482981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413131" y="0"/>
                  </a:lnTo>
                  <a:cubicBezTo>
                    <a:pt x="451739" y="0"/>
                    <a:pt x="482981" y="31242"/>
                    <a:pt x="482981" y="69850"/>
                  </a:cubicBezTo>
                  <a:lnTo>
                    <a:pt x="482981" y="237490"/>
                  </a:lnTo>
                  <a:cubicBezTo>
                    <a:pt x="482981" y="276098"/>
                    <a:pt x="451739" y="307340"/>
                    <a:pt x="413131" y="307340"/>
                  </a:cubicBezTo>
                  <a:lnTo>
                    <a:pt x="69850" y="307340"/>
                  </a:lnTo>
                  <a:cubicBezTo>
                    <a:pt x="31242" y="307340"/>
                    <a:pt x="0" y="276098"/>
                    <a:pt x="0" y="2374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5A6B7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250211" y="9636157"/>
            <a:ext cx="1078173" cy="384353"/>
            <a:chOff x="0" y="0"/>
            <a:chExt cx="1437564" cy="512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Aktivitas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58597" y="9693831"/>
            <a:ext cx="269005" cy="269005"/>
            <a:chOff x="0" y="0"/>
            <a:chExt cx="358673" cy="358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2" id="42"/>
          <p:cNvSpPr/>
          <p:nvPr/>
        </p:nvSpPr>
        <p:spPr>
          <a:xfrm rot="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-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8705860" y="9636157"/>
            <a:ext cx="1181119" cy="384353"/>
            <a:chOff x="0" y="0"/>
            <a:chExt cx="1574825" cy="5124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XOR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17201" y="9693831"/>
            <a:ext cx="269005" cy="269005"/>
            <a:chOff x="0" y="0"/>
            <a:chExt cx="358673" cy="3586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9" id="49"/>
          <p:cNvSpPr/>
          <p:nvPr/>
        </p:nvSpPr>
        <p:spPr>
          <a:xfrm rot="73146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466854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0264473" y="9636157"/>
            <a:ext cx="1181119" cy="384353"/>
            <a:chOff x="0" y="0"/>
            <a:chExt cx="1574825" cy="5124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paralel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77234" y="9719967"/>
            <a:ext cx="334775" cy="216732"/>
            <a:chOff x="0" y="0"/>
            <a:chExt cx="446367" cy="288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6405" cy="288925"/>
            </a:xfrm>
            <a:custGeom>
              <a:avLst/>
              <a:gdLst/>
              <a:ahLst/>
              <a:cxnLst/>
              <a:rect r="r" b="b" t="t" l="l"/>
              <a:pathLst>
                <a:path h="288925" w="446405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376174" y="0"/>
                  </a:lnTo>
                  <a:cubicBezTo>
                    <a:pt x="414909" y="0"/>
                    <a:pt x="446405" y="31496"/>
                    <a:pt x="446405" y="70231"/>
                  </a:cubicBezTo>
                  <a:lnTo>
                    <a:pt x="446405" y="218694"/>
                  </a:lnTo>
                  <a:cubicBezTo>
                    <a:pt x="446405" y="257429"/>
                    <a:pt x="414909" y="288925"/>
                    <a:pt x="376174" y="288925"/>
                  </a:cubicBezTo>
                  <a:lnTo>
                    <a:pt x="70231" y="288925"/>
                  </a:lnTo>
                  <a:cubicBezTo>
                    <a:pt x="31496" y="288925"/>
                    <a:pt x="0" y="257556"/>
                    <a:pt x="0" y="21869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898573" y="9636157"/>
            <a:ext cx="1105624" cy="384353"/>
            <a:chOff x="0" y="0"/>
            <a:chExt cx="1474165" cy="5124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74168" cy="512464"/>
            </a:xfrm>
            <a:custGeom>
              <a:avLst/>
              <a:gdLst/>
              <a:ahLst/>
              <a:cxnLst/>
              <a:rect r="r" b="b" t="t" l="l"/>
              <a:pathLst>
                <a:path h="512464" w="1474168">
                  <a:moveTo>
                    <a:pt x="0" y="0"/>
                  </a:moveTo>
                  <a:lnTo>
                    <a:pt x="1474168" y="0"/>
                  </a:lnTo>
                  <a:lnTo>
                    <a:pt x="147416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0" r="0" b="-60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47416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Data store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74180">
            <a:off x="13035601" y="9823571"/>
            <a:ext cx="376447" cy="0"/>
          </a:xfrm>
          <a:prstGeom prst="line">
            <a:avLst/>
          </a:prstGeom>
          <a:ln cap="rnd" w="9525">
            <a:solidFill>
              <a:srgbClr val="3E4C5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13484638" y="9636157"/>
            <a:ext cx="1078173" cy="384353"/>
            <a:chOff x="0" y="0"/>
            <a:chExt cx="1437564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Sequence flow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74180">
            <a:off x="14594215" y="9823571"/>
            <a:ext cx="376447" cy="0"/>
          </a:xfrm>
          <a:prstGeom prst="line">
            <a:avLst/>
          </a:prstGeom>
          <a:ln cap="rnd" w="9525">
            <a:solidFill>
              <a:srgbClr val="8A9A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4595405" y="9771707"/>
            <a:ext cx="113243" cy="113243"/>
            <a:chOff x="0" y="0"/>
            <a:chExt cx="150990" cy="1509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0876" cy="150876"/>
            </a:xfrm>
            <a:custGeom>
              <a:avLst/>
              <a:gdLst/>
              <a:ahLst/>
              <a:cxnLst/>
              <a:rect r="r" b="b" t="t" l="l"/>
              <a:pathLst>
                <a:path h="150876" w="150876">
                  <a:moveTo>
                    <a:pt x="0" y="75438"/>
                  </a:moveTo>
                  <a:cubicBezTo>
                    <a:pt x="0" y="33782"/>
                    <a:pt x="33782" y="0"/>
                    <a:pt x="75438" y="0"/>
                  </a:cubicBezTo>
                  <a:cubicBezTo>
                    <a:pt x="117094" y="0"/>
                    <a:pt x="150876" y="33782"/>
                    <a:pt x="150876" y="75438"/>
                  </a:cubicBezTo>
                  <a:cubicBezTo>
                    <a:pt x="150876" y="117094"/>
                    <a:pt x="117094" y="150876"/>
                    <a:pt x="75438" y="150876"/>
                  </a:cubicBezTo>
                  <a:cubicBezTo>
                    <a:pt x="33782" y="150876"/>
                    <a:pt x="0" y="117221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835626" y="9766087"/>
            <a:ext cx="133836" cy="124501"/>
            <a:chOff x="0" y="0"/>
            <a:chExt cx="178448" cy="16600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8435" cy="165989"/>
            </a:xfrm>
            <a:custGeom>
              <a:avLst/>
              <a:gdLst/>
              <a:ahLst/>
              <a:cxnLst/>
              <a:rect r="r" b="b" t="t" l="l"/>
              <a:pathLst>
                <a:path h="165989" w="178435">
                  <a:moveTo>
                    <a:pt x="178435" y="83058"/>
                  </a:moveTo>
                  <a:lnTo>
                    <a:pt x="0" y="165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043242" y="9636157"/>
            <a:ext cx="1078173" cy="384353"/>
            <a:chOff x="0" y="0"/>
            <a:chExt cx="1437564" cy="5124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flow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57560">
            <a:off x="16153819" y="9823571"/>
            <a:ext cx="374447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-1828800">
            <a:off x="16398326" y="9850336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1828800">
            <a:off x="16398326" y="9796805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4" id="74"/>
          <p:cNvGrpSpPr/>
          <p:nvPr/>
        </p:nvGrpSpPr>
        <p:grpSpPr>
          <a:xfrm rot="0">
            <a:off x="16601846" y="9636157"/>
            <a:ext cx="1078173" cy="384353"/>
            <a:chOff x="0" y="0"/>
            <a:chExt cx="1437564" cy="5124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Association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4 / 16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392754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PB-1 - TO-BE (SETELAH SISTEM USULAN)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633003"/>
            <a:ext cx="16599722" cy="48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Layanan Informasi Coretax dengan AI Voice Agent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4128" y="9699269"/>
            <a:ext cx="258137" cy="258137"/>
            <a:chOff x="0" y="0"/>
            <a:chExt cx="344183" cy="344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88684" y="1221981"/>
            <a:ext cx="15524472" cy="8855417"/>
          </a:xfrm>
          <a:custGeom>
            <a:avLst/>
            <a:gdLst/>
            <a:ahLst/>
            <a:cxnLst/>
            <a:rect r="r" b="b" t="t" l="l"/>
            <a:pathLst>
              <a:path h="8855417" w="15524472">
                <a:moveTo>
                  <a:pt x="0" y="0"/>
                </a:moveTo>
                <a:lnTo>
                  <a:pt x="15524472" y="0"/>
                </a:lnTo>
                <a:lnTo>
                  <a:pt x="15524472" y="8855418"/>
                </a:lnTo>
                <a:lnTo>
                  <a:pt x="0" y="885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9103" y="9636157"/>
            <a:ext cx="1194854" cy="384353"/>
            <a:chOff x="0" y="0"/>
            <a:chExt cx="1593139" cy="512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22742" y="9699269"/>
            <a:ext cx="258137" cy="258137"/>
            <a:chOff x="0" y="0"/>
            <a:chExt cx="344183" cy="344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190988" y="9784690"/>
            <a:ext cx="121644" cy="87287"/>
            <a:chOff x="0" y="0"/>
            <a:chExt cx="162192" cy="1163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179" cy="116332"/>
            </a:xfrm>
            <a:custGeom>
              <a:avLst/>
              <a:gdLst/>
              <a:ahLst/>
              <a:cxnLst/>
              <a:rect r="r" b="b" t="t" l="l"/>
              <a:pathLst>
                <a:path h="116332" w="162179">
                  <a:moveTo>
                    <a:pt x="0" y="0"/>
                  </a:moveTo>
                  <a:lnTo>
                    <a:pt x="162179" y="0"/>
                  </a:lnTo>
                  <a:lnTo>
                    <a:pt x="162179" y="116332"/>
                  </a:lnTo>
                  <a:lnTo>
                    <a:pt x="0" y="1163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069" t="0" r="-42077" b="-43"/>
              </a:stretch>
            </a:blipFill>
            <a:ln w="14299" cap="sq">
              <a:solidFill>
                <a:srgbClr val="2F7D4F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2470020">
            <a:off x="2180463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-2470020">
            <a:off x="2234127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2457707" y="9636157"/>
            <a:ext cx="1194854" cy="384353"/>
            <a:chOff x="0" y="0"/>
            <a:chExt cx="1593139" cy="512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start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82298" y="9700222"/>
            <a:ext cx="256232" cy="256232"/>
            <a:chOff x="0" y="0"/>
            <a:chExt cx="341643" cy="3416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1630" cy="341630"/>
            </a:xfrm>
            <a:custGeom>
              <a:avLst/>
              <a:gdLst/>
              <a:ahLst/>
              <a:cxnLst/>
              <a:rect r="r" b="b" t="t" l="l"/>
              <a:pathLst>
                <a:path h="341630" w="341630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cubicBezTo>
                    <a:pt x="265176" y="0"/>
                    <a:pt x="341630" y="76454"/>
                    <a:pt x="341630" y="170815"/>
                  </a:cubicBezTo>
                  <a:cubicBezTo>
                    <a:pt x="341630" y="265176"/>
                    <a:pt x="265176" y="341630"/>
                    <a:pt x="170815" y="341630"/>
                  </a:cubicBezTo>
                  <a:cubicBezTo>
                    <a:pt x="76454" y="341630"/>
                    <a:pt x="0" y="265176"/>
                    <a:pt x="0" y="170815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716312" y="9734226"/>
            <a:ext cx="188204" cy="188204"/>
            <a:chOff x="0" y="0"/>
            <a:chExt cx="250939" cy="2509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0952" cy="250952"/>
            </a:xfrm>
            <a:custGeom>
              <a:avLst/>
              <a:gdLst/>
              <a:ahLst/>
              <a:cxnLst/>
              <a:rect r="r" b="b" t="t" l="l"/>
              <a:pathLst>
                <a:path h="250952" w="250952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cubicBezTo>
                    <a:pt x="194818" y="0"/>
                    <a:pt x="250952" y="56134"/>
                    <a:pt x="250952" y="125476"/>
                  </a:cubicBezTo>
                  <a:cubicBezTo>
                    <a:pt x="250952" y="194818"/>
                    <a:pt x="194818" y="250952"/>
                    <a:pt x="125476" y="250952"/>
                  </a:cubicBezTo>
                  <a:cubicBezTo>
                    <a:pt x="56134" y="250952"/>
                    <a:pt x="0" y="194818"/>
                    <a:pt x="0" y="12547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9" t="0" r="-78294" b="5"/>
              </a:stretch>
            </a:blipFill>
            <a:ln w="15252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747259" y="9765182"/>
            <a:ext cx="126311" cy="126311"/>
            <a:chOff x="0" y="0"/>
            <a:chExt cx="168415" cy="168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8402" cy="168402"/>
            </a:xfrm>
            <a:custGeom>
              <a:avLst/>
              <a:gdLst/>
              <a:ahLst/>
              <a:cxnLst/>
              <a:rect r="r" b="b" t="t" l="l"/>
              <a:pathLst>
                <a:path h="168402" w="168402">
                  <a:moveTo>
                    <a:pt x="0" y="84201"/>
                  </a:moveTo>
                  <a:cubicBezTo>
                    <a:pt x="0" y="37719"/>
                    <a:pt x="37719" y="0"/>
                    <a:pt x="84201" y="0"/>
                  </a:cubicBezTo>
                  <a:cubicBezTo>
                    <a:pt x="130683" y="0"/>
                    <a:pt x="168402" y="37719"/>
                    <a:pt x="168402" y="84201"/>
                  </a:cubicBezTo>
                  <a:cubicBezTo>
                    <a:pt x="168402" y="130683"/>
                    <a:pt x="130683" y="168402"/>
                    <a:pt x="84201" y="168402"/>
                  </a:cubicBezTo>
                  <a:cubicBezTo>
                    <a:pt x="37719" y="168402"/>
                    <a:pt x="0" y="130683"/>
                    <a:pt x="0" y="8420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9" t="0" r="-78317" b="-7"/>
              </a:stretch>
            </a:blipFill>
            <a:ln w="14299" cap="sq">
              <a:solidFill>
                <a:srgbClr val="9A6E08"/>
              </a:solidFill>
              <a:prstDash val="solid"/>
              <a:miter/>
            </a:ln>
          </p:spPr>
        </p:sp>
      </p:grpSp>
      <p:sp>
        <p:nvSpPr>
          <p:cNvPr name="AutoShape 25" id="25"/>
          <p:cNvSpPr/>
          <p:nvPr/>
        </p:nvSpPr>
        <p:spPr>
          <a:xfrm rot="4464840">
            <a:off x="3783806" y="9805092"/>
            <a:ext cx="53216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019700">
            <a:off x="3802199" y="9823571"/>
            <a:ext cx="48920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016312" y="9636157"/>
            <a:ext cx="1194854" cy="384353"/>
            <a:chOff x="0" y="0"/>
            <a:chExt cx="1593139" cy="512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Intermediate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28511" y="9687830"/>
            <a:ext cx="281016" cy="281016"/>
            <a:chOff x="0" y="0"/>
            <a:chExt cx="374688" cy="3746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650" cy="374650"/>
            </a:xfrm>
            <a:custGeom>
              <a:avLst/>
              <a:gdLst/>
              <a:ahLst/>
              <a:cxnLst/>
              <a:rect r="r" b="b" t="t" l="l"/>
              <a:pathLst>
                <a:path h="374650" w="374650">
                  <a:moveTo>
                    <a:pt x="0" y="187325"/>
                  </a:moveTo>
                  <a:cubicBezTo>
                    <a:pt x="0" y="83820"/>
                    <a:pt x="83820" y="0"/>
                    <a:pt x="187325" y="0"/>
                  </a:cubicBezTo>
                  <a:cubicBezTo>
                    <a:pt x="290830" y="0"/>
                    <a:pt x="374650" y="83820"/>
                    <a:pt x="374650" y="187325"/>
                  </a:cubicBezTo>
                  <a:cubicBezTo>
                    <a:pt x="374650" y="290830"/>
                    <a:pt x="290830" y="374650"/>
                    <a:pt x="187325" y="374650"/>
                  </a:cubicBezTo>
                  <a:cubicBezTo>
                    <a:pt x="83820" y="374650"/>
                    <a:pt x="0" y="290830"/>
                    <a:pt x="0" y="187325"/>
                  </a:cubicBezTo>
                  <a:close/>
                </a:path>
              </a:pathLst>
            </a:custGeom>
            <a:solidFill>
              <a:srgbClr val="FFFFFF"/>
            </a:solidFill>
            <a:ln w="47662" cap="sq">
              <a:solidFill>
                <a:srgbClr val="A81D2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574925" y="9636157"/>
            <a:ext cx="1194854" cy="384353"/>
            <a:chOff x="0" y="0"/>
            <a:chExt cx="1593139" cy="512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1421" y="9713109"/>
            <a:ext cx="362236" cy="230457"/>
            <a:chOff x="0" y="0"/>
            <a:chExt cx="482981" cy="3072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2981" cy="307340"/>
            </a:xfrm>
            <a:custGeom>
              <a:avLst/>
              <a:gdLst/>
              <a:ahLst/>
              <a:cxnLst/>
              <a:rect r="r" b="b" t="t" l="l"/>
              <a:pathLst>
                <a:path h="307340" w="482981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413131" y="0"/>
                  </a:lnTo>
                  <a:cubicBezTo>
                    <a:pt x="451739" y="0"/>
                    <a:pt x="482981" y="31242"/>
                    <a:pt x="482981" y="69850"/>
                  </a:cubicBezTo>
                  <a:lnTo>
                    <a:pt x="482981" y="237490"/>
                  </a:lnTo>
                  <a:cubicBezTo>
                    <a:pt x="482981" y="276098"/>
                    <a:pt x="451739" y="307340"/>
                    <a:pt x="413131" y="307340"/>
                  </a:cubicBezTo>
                  <a:lnTo>
                    <a:pt x="69850" y="307340"/>
                  </a:lnTo>
                  <a:cubicBezTo>
                    <a:pt x="31242" y="307340"/>
                    <a:pt x="0" y="276098"/>
                    <a:pt x="0" y="2374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5A6B7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250211" y="9636157"/>
            <a:ext cx="1078173" cy="384353"/>
            <a:chOff x="0" y="0"/>
            <a:chExt cx="1437564" cy="512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Aktivitas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58597" y="9693831"/>
            <a:ext cx="269005" cy="269005"/>
            <a:chOff x="0" y="0"/>
            <a:chExt cx="358673" cy="358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2" id="42"/>
          <p:cNvSpPr/>
          <p:nvPr/>
        </p:nvSpPr>
        <p:spPr>
          <a:xfrm rot="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-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8705860" y="9636157"/>
            <a:ext cx="1181119" cy="384353"/>
            <a:chOff x="0" y="0"/>
            <a:chExt cx="1574825" cy="5124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XOR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17201" y="9693831"/>
            <a:ext cx="269005" cy="269005"/>
            <a:chOff x="0" y="0"/>
            <a:chExt cx="358673" cy="3586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9" id="49"/>
          <p:cNvSpPr/>
          <p:nvPr/>
        </p:nvSpPr>
        <p:spPr>
          <a:xfrm rot="73146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466854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0264473" y="9636157"/>
            <a:ext cx="1181119" cy="384353"/>
            <a:chOff x="0" y="0"/>
            <a:chExt cx="1574825" cy="5124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paralel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77234" y="9719967"/>
            <a:ext cx="334775" cy="216732"/>
            <a:chOff x="0" y="0"/>
            <a:chExt cx="446367" cy="288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6405" cy="288925"/>
            </a:xfrm>
            <a:custGeom>
              <a:avLst/>
              <a:gdLst/>
              <a:ahLst/>
              <a:cxnLst/>
              <a:rect r="r" b="b" t="t" l="l"/>
              <a:pathLst>
                <a:path h="288925" w="446405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376174" y="0"/>
                  </a:lnTo>
                  <a:cubicBezTo>
                    <a:pt x="414909" y="0"/>
                    <a:pt x="446405" y="31496"/>
                    <a:pt x="446405" y="70231"/>
                  </a:cubicBezTo>
                  <a:lnTo>
                    <a:pt x="446405" y="218694"/>
                  </a:lnTo>
                  <a:cubicBezTo>
                    <a:pt x="446405" y="257429"/>
                    <a:pt x="414909" y="288925"/>
                    <a:pt x="376174" y="288925"/>
                  </a:cubicBezTo>
                  <a:lnTo>
                    <a:pt x="70231" y="288925"/>
                  </a:lnTo>
                  <a:cubicBezTo>
                    <a:pt x="31496" y="288925"/>
                    <a:pt x="0" y="257556"/>
                    <a:pt x="0" y="21869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898573" y="9636157"/>
            <a:ext cx="1105624" cy="384353"/>
            <a:chOff x="0" y="0"/>
            <a:chExt cx="1474165" cy="5124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74168" cy="512464"/>
            </a:xfrm>
            <a:custGeom>
              <a:avLst/>
              <a:gdLst/>
              <a:ahLst/>
              <a:cxnLst/>
              <a:rect r="r" b="b" t="t" l="l"/>
              <a:pathLst>
                <a:path h="512464" w="1474168">
                  <a:moveTo>
                    <a:pt x="0" y="0"/>
                  </a:moveTo>
                  <a:lnTo>
                    <a:pt x="1474168" y="0"/>
                  </a:lnTo>
                  <a:lnTo>
                    <a:pt x="147416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0" r="0" b="-60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47416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Data store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74180">
            <a:off x="13035601" y="9823571"/>
            <a:ext cx="376447" cy="0"/>
          </a:xfrm>
          <a:prstGeom prst="line">
            <a:avLst/>
          </a:prstGeom>
          <a:ln cap="rnd" w="9525">
            <a:solidFill>
              <a:srgbClr val="3E4C5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13484638" y="9636157"/>
            <a:ext cx="1078173" cy="384353"/>
            <a:chOff x="0" y="0"/>
            <a:chExt cx="1437564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Sequence flow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74180">
            <a:off x="14594215" y="9823571"/>
            <a:ext cx="376447" cy="0"/>
          </a:xfrm>
          <a:prstGeom prst="line">
            <a:avLst/>
          </a:prstGeom>
          <a:ln cap="rnd" w="9525">
            <a:solidFill>
              <a:srgbClr val="8A9A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4595405" y="9771707"/>
            <a:ext cx="113243" cy="113243"/>
            <a:chOff x="0" y="0"/>
            <a:chExt cx="150990" cy="1509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0876" cy="150876"/>
            </a:xfrm>
            <a:custGeom>
              <a:avLst/>
              <a:gdLst/>
              <a:ahLst/>
              <a:cxnLst/>
              <a:rect r="r" b="b" t="t" l="l"/>
              <a:pathLst>
                <a:path h="150876" w="150876">
                  <a:moveTo>
                    <a:pt x="0" y="75438"/>
                  </a:moveTo>
                  <a:cubicBezTo>
                    <a:pt x="0" y="33782"/>
                    <a:pt x="33782" y="0"/>
                    <a:pt x="75438" y="0"/>
                  </a:cubicBezTo>
                  <a:cubicBezTo>
                    <a:pt x="117094" y="0"/>
                    <a:pt x="150876" y="33782"/>
                    <a:pt x="150876" y="75438"/>
                  </a:cubicBezTo>
                  <a:cubicBezTo>
                    <a:pt x="150876" y="117094"/>
                    <a:pt x="117094" y="150876"/>
                    <a:pt x="75438" y="150876"/>
                  </a:cubicBezTo>
                  <a:cubicBezTo>
                    <a:pt x="33782" y="150876"/>
                    <a:pt x="0" y="117221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835626" y="9766087"/>
            <a:ext cx="133836" cy="124501"/>
            <a:chOff x="0" y="0"/>
            <a:chExt cx="178448" cy="16600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8435" cy="165989"/>
            </a:xfrm>
            <a:custGeom>
              <a:avLst/>
              <a:gdLst/>
              <a:ahLst/>
              <a:cxnLst/>
              <a:rect r="r" b="b" t="t" l="l"/>
              <a:pathLst>
                <a:path h="165989" w="178435">
                  <a:moveTo>
                    <a:pt x="178435" y="83058"/>
                  </a:moveTo>
                  <a:lnTo>
                    <a:pt x="0" y="165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043242" y="9636157"/>
            <a:ext cx="1078173" cy="384353"/>
            <a:chOff x="0" y="0"/>
            <a:chExt cx="1437564" cy="5124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flow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57560">
            <a:off x="16153819" y="9823571"/>
            <a:ext cx="374447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-1828800">
            <a:off x="16398326" y="9850336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1828800">
            <a:off x="16398326" y="9796805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4" id="74"/>
          <p:cNvGrpSpPr/>
          <p:nvPr/>
        </p:nvGrpSpPr>
        <p:grpSpPr>
          <a:xfrm rot="0">
            <a:off x="16601846" y="9636157"/>
            <a:ext cx="1078173" cy="384353"/>
            <a:chOff x="0" y="0"/>
            <a:chExt cx="1437564" cy="5124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Association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6 / 16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557470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ANALISIS - PB-1 TO-BE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778669"/>
            <a:ext cx="16599722" cy="6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903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Perubahan Kunci pada Proses To-Be PB-1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1059" y="1739484"/>
            <a:ext cx="549069" cy="549069"/>
            <a:chOff x="0" y="0"/>
            <a:chExt cx="732092" cy="732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1059" y="1739484"/>
            <a:ext cx="549069" cy="549069"/>
            <a:chOff x="0" y="0"/>
            <a:chExt cx="732092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9755" y="1710909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Aktor utama berpindah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755" y="2184892"/>
            <a:ext cx="7119366" cy="6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Pertanyaan umum ditangani Sistem SIGAP. Petugas hanya menerima kasus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yang dieskalasi, bukan setiap panggilan.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52905" y="1739484"/>
            <a:ext cx="549069" cy="549069"/>
            <a:chOff x="0" y="0"/>
            <a:chExt cx="732092" cy="732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52905" y="1739484"/>
            <a:ext cx="549069" cy="549069"/>
            <a:chOff x="0" y="0"/>
            <a:chExt cx="732092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21601" y="1710909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Dua titik tunggu hilang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1601" y="2184892"/>
            <a:ext cx="7119366" cy="6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Tidak ada antrean panggilan dan tidak ada SLA multi-hari pada jalur otomatis;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jawaban diberikan dalam satu sesi percakapan.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1059" y="3633768"/>
            <a:ext cx="549069" cy="549069"/>
            <a:chOff x="0" y="0"/>
            <a:chExt cx="732092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1059" y="3633768"/>
            <a:ext cx="549069" cy="549069"/>
            <a:chOff x="0" y="0"/>
            <a:chExt cx="732092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19755" y="3605193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Dua kontrol baru ditambahkan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9755" y="4079186"/>
            <a:ext cx="7119366" cy="6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Guardrail data personal dan ambang skor relevansi sumber. Keduanya tidak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ada pada proses As-Is.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52905" y="3633768"/>
            <a:ext cx="549069" cy="549069"/>
            <a:chOff x="0" y="0"/>
            <a:chExt cx="732092" cy="732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52905" y="3633768"/>
            <a:ext cx="549069" cy="549069"/>
            <a:chOff x="0" y="0"/>
            <a:chExt cx="732092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21601" y="3605193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Jawaban menjadi dapat diverifikasi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21601" y="4079186"/>
            <a:ext cx="7119366" cy="6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Setiap jawaban disusun dari knowledge base resmi dan disertai rujukan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sumber.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1059" y="5528053"/>
            <a:ext cx="549069" cy="549069"/>
            <a:chOff x="0" y="0"/>
            <a:chExt cx="732092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51059" y="5528053"/>
            <a:ext cx="549069" cy="549069"/>
            <a:chOff x="0" y="0"/>
            <a:chExt cx="732092" cy="7320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19755" y="5499478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Menumpang sistem yang sudah ada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19755" y="5973470"/>
            <a:ext cx="7119366" cy="87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To-Be menulis ke register Coretax yang sudah dipakai hari ini, bukan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membuat basis data tiket sendiri; yang ditambahkan hanya transkrip dan</a:t>
            </a:r>
          </a:p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ringkasan.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52905" y="5528053"/>
            <a:ext cx="549069" cy="549069"/>
            <a:chOff x="0" y="0"/>
            <a:chExt cx="732092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52905" y="5528053"/>
            <a:ext cx="549069" cy="549069"/>
            <a:chOff x="0" y="0"/>
            <a:chExt cx="732092" cy="7320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221601" y="5499478"/>
            <a:ext cx="7119366" cy="46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9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Layanan tersedia 24/7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21601" y="5973470"/>
            <a:ext cx="7119366" cy="34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06">
                <a:solidFill>
                  <a:srgbClr val="5A6B7B"/>
                </a:solidFill>
                <a:latin typeface="Arial"/>
                <a:ea typeface="Arial"/>
                <a:cs typeface="Arial"/>
                <a:sym typeface="Arial"/>
              </a:rPr>
              <a:t>Kanal suara otomatis tidak terikat jam kerja unit layanan.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7 / 16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392754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PB-2 - AS-IS (SEBELUM SISTEM USULAN)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633003"/>
            <a:ext cx="16599722" cy="48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Penanganan Eskalasi - Kondisi Saat Ini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4128" y="9699269"/>
            <a:ext cx="258137" cy="258137"/>
            <a:chOff x="0" y="0"/>
            <a:chExt cx="344183" cy="344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9103" y="9636157"/>
            <a:ext cx="1194854" cy="384353"/>
            <a:chOff x="0" y="0"/>
            <a:chExt cx="1593139" cy="5124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22742" y="9699269"/>
            <a:ext cx="258137" cy="258137"/>
            <a:chOff x="0" y="0"/>
            <a:chExt cx="344183" cy="344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190988" y="9784690"/>
            <a:ext cx="121644" cy="87287"/>
            <a:chOff x="0" y="0"/>
            <a:chExt cx="162192" cy="116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179" cy="116332"/>
            </a:xfrm>
            <a:custGeom>
              <a:avLst/>
              <a:gdLst/>
              <a:ahLst/>
              <a:cxnLst/>
              <a:rect r="r" b="b" t="t" l="l"/>
              <a:pathLst>
                <a:path h="116332" w="162179">
                  <a:moveTo>
                    <a:pt x="0" y="0"/>
                  </a:moveTo>
                  <a:lnTo>
                    <a:pt x="162179" y="0"/>
                  </a:lnTo>
                  <a:lnTo>
                    <a:pt x="162179" y="116332"/>
                  </a:lnTo>
                  <a:lnTo>
                    <a:pt x="0" y="1163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069" t="0" r="-42077" b="-43"/>
              </a:stretch>
            </a:blipFill>
            <a:ln w="14299" cap="sq">
              <a:solidFill>
                <a:srgbClr val="2F7D4F"/>
              </a:solidFill>
              <a:prstDash val="solid"/>
              <a:miter/>
            </a:ln>
          </p:spPr>
        </p:sp>
      </p:grpSp>
      <p:sp>
        <p:nvSpPr>
          <p:cNvPr name="AutoShape 13" id="13"/>
          <p:cNvSpPr/>
          <p:nvPr/>
        </p:nvSpPr>
        <p:spPr>
          <a:xfrm rot="2470020">
            <a:off x="2180463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-2470020">
            <a:off x="2234127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457707" y="9636157"/>
            <a:ext cx="1194854" cy="384353"/>
            <a:chOff x="0" y="0"/>
            <a:chExt cx="1593139" cy="512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start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82298" y="9700222"/>
            <a:ext cx="256232" cy="256232"/>
            <a:chOff x="0" y="0"/>
            <a:chExt cx="341643" cy="341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1630" cy="341630"/>
            </a:xfrm>
            <a:custGeom>
              <a:avLst/>
              <a:gdLst/>
              <a:ahLst/>
              <a:cxnLst/>
              <a:rect r="r" b="b" t="t" l="l"/>
              <a:pathLst>
                <a:path h="341630" w="341630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cubicBezTo>
                    <a:pt x="265176" y="0"/>
                    <a:pt x="341630" y="76454"/>
                    <a:pt x="341630" y="170815"/>
                  </a:cubicBezTo>
                  <a:cubicBezTo>
                    <a:pt x="341630" y="265176"/>
                    <a:pt x="265176" y="341630"/>
                    <a:pt x="170815" y="341630"/>
                  </a:cubicBezTo>
                  <a:cubicBezTo>
                    <a:pt x="76454" y="341630"/>
                    <a:pt x="0" y="265176"/>
                    <a:pt x="0" y="170815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716312" y="9734226"/>
            <a:ext cx="188204" cy="188204"/>
            <a:chOff x="0" y="0"/>
            <a:chExt cx="250939" cy="2509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0952" cy="250952"/>
            </a:xfrm>
            <a:custGeom>
              <a:avLst/>
              <a:gdLst/>
              <a:ahLst/>
              <a:cxnLst/>
              <a:rect r="r" b="b" t="t" l="l"/>
              <a:pathLst>
                <a:path h="250952" w="250952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cubicBezTo>
                    <a:pt x="194818" y="0"/>
                    <a:pt x="250952" y="56134"/>
                    <a:pt x="250952" y="125476"/>
                  </a:cubicBezTo>
                  <a:cubicBezTo>
                    <a:pt x="250952" y="194818"/>
                    <a:pt x="194818" y="250952"/>
                    <a:pt x="125476" y="250952"/>
                  </a:cubicBezTo>
                  <a:cubicBezTo>
                    <a:pt x="56134" y="250952"/>
                    <a:pt x="0" y="194818"/>
                    <a:pt x="0" y="12547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299" t="0" r="-78294" b="5"/>
              </a:stretch>
            </a:blipFill>
            <a:ln w="15252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747259" y="9765182"/>
            <a:ext cx="126311" cy="126311"/>
            <a:chOff x="0" y="0"/>
            <a:chExt cx="168415" cy="168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402" cy="168402"/>
            </a:xfrm>
            <a:custGeom>
              <a:avLst/>
              <a:gdLst/>
              <a:ahLst/>
              <a:cxnLst/>
              <a:rect r="r" b="b" t="t" l="l"/>
              <a:pathLst>
                <a:path h="168402" w="168402">
                  <a:moveTo>
                    <a:pt x="0" y="84201"/>
                  </a:moveTo>
                  <a:cubicBezTo>
                    <a:pt x="0" y="37719"/>
                    <a:pt x="37719" y="0"/>
                    <a:pt x="84201" y="0"/>
                  </a:cubicBezTo>
                  <a:cubicBezTo>
                    <a:pt x="130683" y="0"/>
                    <a:pt x="168402" y="37719"/>
                    <a:pt x="168402" y="84201"/>
                  </a:cubicBezTo>
                  <a:cubicBezTo>
                    <a:pt x="168402" y="130683"/>
                    <a:pt x="130683" y="168402"/>
                    <a:pt x="84201" y="168402"/>
                  </a:cubicBezTo>
                  <a:cubicBezTo>
                    <a:pt x="37719" y="168402"/>
                    <a:pt x="0" y="130683"/>
                    <a:pt x="0" y="8420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9" t="0" r="-78317" b="-7"/>
              </a:stretch>
            </a:blipFill>
            <a:ln w="14299" cap="sq">
              <a:solidFill>
                <a:srgbClr val="9A6E08"/>
              </a:solidFill>
              <a:prstDash val="solid"/>
              <a:miter/>
            </a:ln>
          </p:spPr>
        </p:sp>
      </p:grpSp>
      <p:sp>
        <p:nvSpPr>
          <p:cNvPr name="AutoShape 24" id="24"/>
          <p:cNvSpPr/>
          <p:nvPr/>
        </p:nvSpPr>
        <p:spPr>
          <a:xfrm rot="4464840">
            <a:off x="3783806" y="9805092"/>
            <a:ext cx="53216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019700">
            <a:off x="3802199" y="9823571"/>
            <a:ext cx="48920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4016312" y="9636157"/>
            <a:ext cx="1194854" cy="384353"/>
            <a:chOff x="0" y="0"/>
            <a:chExt cx="1593139" cy="5124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Intermediate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28511" y="9687830"/>
            <a:ext cx="281016" cy="281016"/>
            <a:chOff x="0" y="0"/>
            <a:chExt cx="374688" cy="3746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650" cy="374650"/>
            </a:xfrm>
            <a:custGeom>
              <a:avLst/>
              <a:gdLst/>
              <a:ahLst/>
              <a:cxnLst/>
              <a:rect r="r" b="b" t="t" l="l"/>
              <a:pathLst>
                <a:path h="374650" w="374650">
                  <a:moveTo>
                    <a:pt x="0" y="187325"/>
                  </a:moveTo>
                  <a:cubicBezTo>
                    <a:pt x="0" y="83820"/>
                    <a:pt x="83820" y="0"/>
                    <a:pt x="187325" y="0"/>
                  </a:cubicBezTo>
                  <a:cubicBezTo>
                    <a:pt x="290830" y="0"/>
                    <a:pt x="374650" y="83820"/>
                    <a:pt x="374650" y="187325"/>
                  </a:cubicBezTo>
                  <a:cubicBezTo>
                    <a:pt x="374650" y="290830"/>
                    <a:pt x="290830" y="374650"/>
                    <a:pt x="187325" y="374650"/>
                  </a:cubicBezTo>
                  <a:cubicBezTo>
                    <a:pt x="83820" y="374650"/>
                    <a:pt x="0" y="290830"/>
                    <a:pt x="0" y="187325"/>
                  </a:cubicBezTo>
                  <a:close/>
                </a:path>
              </a:pathLst>
            </a:custGeom>
            <a:solidFill>
              <a:srgbClr val="FFFFFF"/>
            </a:solidFill>
            <a:ln w="47662" cap="sq">
              <a:solidFill>
                <a:srgbClr val="A81D2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574925" y="9636157"/>
            <a:ext cx="1194854" cy="384353"/>
            <a:chOff x="0" y="0"/>
            <a:chExt cx="1593139" cy="512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01421" y="9713109"/>
            <a:ext cx="362236" cy="230457"/>
            <a:chOff x="0" y="0"/>
            <a:chExt cx="482981" cy="3072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2981" cy="307340"/>
            </a:xfrm>
            <a:custGeom>
              <a:avLst/>
              <a:gdLst/>
              <a:ahLst/>
              <a:cxnLst/>
              <a:rect r="r" b="b" t="t" l="l"/>
              <a:pathLst>
                <a:path h="307340" w="482981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413131" y="0"/>
                  </a:lnTo>
                  <a:cubicBezTo>
                    <a:pt x="451739" y="0"/>
                    <a:pt x="482981" y="31242"/>
                    <a:pt x="482981" y="69850"/>
                  </a:cubicBezTo>
                  <a:lnTo>
                    <a:pt x="482981" y="237490"/>
                  </a:lnTo>
                  <a:cubicBezTo>
                    <a:pt x="482981" y="276098"/>
                    <a:pt x="451739" y="307340"/>
                    <a:pt x="413131" y="307340"/>
                  </a:cubicBezTo>
                  <a:lnTo>
                    <a:pt x="69850" y="307340"/>
                  </a:lnTo>
                  <a:cubicBezTo>
                    <a:pt x="31242" y="307340"/>
                    <a:pt x="0" y="276098"/>
                    <a:pt x="0" y="2374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5A6B7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250211" y="9636157"/>
            <a:ext cx="1078173" cy="384353"/>
            <a:chOff x="0" y="0"/>
            <a:chExt cx="1437564" cy="5124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Aktivitas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358597" y="9693831"/>
            <a:ext cx="269005" cy="269005"/>
            <a:chOff x="0" y="0"/>
            <a:chExt cx="358673" cy="3586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1" id="41"/>
          <p:cNvSpPr/>
          <p:nvPr/>
        </p:nvSpPr>
        <p:spPr>
          <a:xfrm rot="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-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8705860" y="9636157"/>
            <a:ext cx="1181119" cy="384353"/>
            <a:chOff x="0" y="0"/>
            <a:chExt cx="1574825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XOR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17201" y="9693831"/>
            <a:ext cx="269005" cy="269005"/>
            <a:chOff x="0" y="0"/>
            <a:chExt cx="358673" cy="3586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8" id="48"/>
          <p:cNvSpPr/>
          <p:nvPr/>
        </p:nvSpPr>
        <p:spPr>
          <a:xfrm rot="73146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rot="466854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0264473" y="9636157"/>
            <a:ext cx="1181119" cy="384353"/>
            <a:chOff x="0" y="0"/>
            <a:chExt cx="1574825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paralel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77234" y="9719967"/>
            <a:ext cx="334775" cy="216732"/>
            <a:chOff x="0" y="0"/>
            <a:chExt cx="446367" cy="2889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6405" cy="288925"/>
            </a:xfrm>
            <a:custGeom>
              <a:avLst/>
              <a:gdLst/>
              <a:ahLst/>
              <a:cxnLst/>
              <a:rect r="r" b="b" t="t" l="l"/>
              <a:pathLst>
                <a:path h="288925" w="446405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376174" y="0"/>
                  </a:lnTo>
                  <a:cubicBezTo>
                    <a:pt x="414909" y="0"/>
                    <a:pt x="446405" y="31496"/>
                    <a:pt x="446405" y="70231"/>
                  </a:cubicBezTo>
                  <a:lnTo>
                    <a:pt x="446405" y="218694"/>
                  </a:lnTo>
                  <a:cubicBezTo>
                    <a:pt x="446405" y="257429"/>
                    <a:pt x="414909" y="288925"/>
                    <a:pt x="376174" y="288925"/>
                  </a:cubicBezTo>
                  <a:lnTo>
                    <a:pt x="70231" y="288925"/>
                  </a:lnTo>
                  <a:cubicBezTo>
                    <a:pt x="31496" y="288925"/>
                    <a:pt x="0" y="257556"/>
                    <a:pt x="0" y="21869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898573" y="9636157"/>
            <a:ext cx="1105624" cy="384353"/>
            <a:chOff x="0" y="0"/>
            <a:chExt cx="1474165" cy="512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74168" cy="512464"/>
            </a:xfrm>
            <a:custGeom>
              <a:avLst/>
              <a:gdLst/>
              <a:ahLst/>
              <a:cxnLst/>
              <a:rect r="r" b="b" t="t" l="l"/>
              <a:pathLst>
                <a:path h="512464" w="1474168">
                  <a:moveTo>
                    <a:pt x="0" y="0"/>
                  </a:moveTo>
                  <a:lnTo>
                    <a:pt x="1474168" y="0"/>
                  </a:lnTo>
                  <a:lnTo>
                    <a:pt x="147416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0" r="0" b="-605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7416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Data store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74180">
            <a:off x="13035601" y="9823571"/>
            <a:ext cx="376447" cy="0"/>
          </a:xfrm>
          <a:prstGeom prst="line">
            <a:avLst/>
          </a:prstGeom>
          <a:ln cap="rnd" w="9525">
            <a:solidFill>
              <a:srgbClr val="3E4C5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9" id="59"/>
          <p:cNvGrpSpPr/>
          <p:nvPr/>
        </p:nvGrpSpPr>
        <p:grpSpPr>
          <a:xfrm rot="0">
            <a:off x="13484638" y="9636157"/>
            <a:ext cx="1078173" cy="384353"/>
            <a:chOff x="0" y="0"/>
            <a:chExt cx="1437564" cy="512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Sequence flow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174180">
            <a:off x="14594215" y="9823571"/>
            <a:ext cx="376447" cy="0"/>
          </a:xfrm>
          <a:prstGeom prst="line">
            <a:avLst/>
          </a:prstGeom>
          <a:ln cap="rnd" w="9525">
            <a:solidFill>
              <a:srgbClr val="8A9A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4595405" y="9771707"/>
            <a:ext cx="113243" cy="113243"/>
            <a:chOff x="0" y="0"/>
            <a:chExt cx="150990" cy="1509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0876" cy="150876"/>
            </a:xfrm>
            <a:custGeom>
              <a:avLst/>
              <a:gdLst/>
              <a:ahLst/>
              <a:cxnLst/>
              <a:rect r="r" b="b" t="t" l="l"/>
              <a:pathLst>
                <a:path h="150876" w="150876">
                  <a:moveTo>
                    <a:pt x="0" y="75438"/>
                  </a:moveTo>
                  <a:cubicBezTo>
                    <a:pt x="0" y="33782"/>
                    <a:pt x="33782" y="0"/>
                    <a:pt x="75438" y="0"/>
                  </a:cubicBezTo>
                  <a:cubicBezTo>
                    <a:pt x="117094" y="0"/>
                    <a:pt x="150876" y="33782"/>
                    <a:pt x="150876" y="75438"/>
                  </a:cubicBezTo>
                  <a:cubicBezTo>
                    <a:pt x="150876" y="117094"/>
                    <a:pt x="117094" y="150876"/>
                    <a:pt x="75438" y="150876"/>
                  </a:cubicBezTo>
                  <a:cubicBezTo>
                    <a:pt x="33782" y="150876"/>
                    <a:pt x="0" y="117221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835626" y="9766087"/>
            <a:ext cx="133836" cy="124501"/>
            <a:chOff x="0" y="0"/>
            <a:chExt cx="178448" cy="16600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8435" cy="165989"/>
            </a:xfrm>
            <a:custGeom>
              <a:avLst/>
              <a:gdLst/>
              <a:ahLst/>
              <a:cxnLst/>
              <a:rect r="r" b="b" t="t" l="l"/>
              <a:pathLst>
                <a:path h="165989" w="178435">
                  <a:moveTo>
                    <a:pt x="178435" y="83058"/>
                  </a:moveTo>
                  <a:lnTo>
                    <a:pt x="0" y="165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043242" y="9636157"/>
            <a:ext cx="1078173" cy="384353"/>
            <a:chOff x="0" y="0"/>
            <a:chExt cx="1437564" cy="5124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flow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157560">
            <a:off x="16153819" y="9823571"/>
            <a:ext cx="374447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-1828800">
            <a:off x="16398326" y="9850336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1828800">
            <a:off x="16398326" y="9796805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6601846" y="9636157"/>
            <a:ext cx="1078173" cy="384353"/>
            <a:chOff x="0" y="0"/>
            <a:chExt cx="1437564" cy="5124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Association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8 / 16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4754950" y="1221981"/>
            <a:ext cx="9082938" cy="8280211"/>
          </a:xfrm>
          <a:custGeom>
            <a:avLst/>
            <a:gdLst/>
            <a:ahLst/>
            <a:cxnLst/>
            <a:rect r="r" b="b" t="t" l="l"/>
            <a:pathLst>
              <a:path h="8280211" w="9082938">
                <a:moveTo>
                  <a:pt x="0" y="0"/>
                </a:moveTo>
                <a:lnTo>
                  <a:pt x="9082938" y="0"/>
                </a:lnTo>
                <a:lnTo>
                  <a:pt x="9082938" y="8280212"/>
                </a:lnTo>
                <a:lnTo>
                  <a:pt x="0" y="8280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60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392754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PB-2 - TO-BE (SETELAH SISTEM USULAN)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633003"/>
            <a:ext cx="16599722" cy="48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Eskalasi dan Pelaporan Otomatis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4128" y="9699269"/>
            <a:ext cx="258137" cy="258137"/>
            <a:chOff x="0" y="0"/>
            <a:chExt cx="344183" cy="344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9103" y="9636157"/>
            <a:ext cx="1194854" cy="384353"/>
            <a:chOff x="0" y="0"/>
            <a:chExt cx="1593139" cy="5124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22742" y="9699269"/>
            <a:ext cx="258137" cy="258137"/>
            <a:chOff x="0" y="0"/>
            <a:chExt cx="344183" cy="344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70" cy="344170"/>
            </a:xfrm>
            <a:custGeom>
              <a:avLst/>
              <a:gdLst/>
              <a:ahLst/>
              <a:cxnLst/>
              <a:rect r="r" b="b" t="t" l="l"/>
              <a:pathLst>
                <a:path h="344170" w="344170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cubicBezTo>
                    <a:pt x="267081" y="0"/>
                    <a:pt x="344170" y="77089"/>
                    <a:pt x="344170" y="172085"/>
                  </a:cubicBezTo>
                  <a:cubicBezTo>
                    <a:pt x="344170" y="267081"/>
                    <a:pt x="267081" y="344170"/>
                    <a:pt x="172085" y="344170"/>
                  </a:cubicBezTo>
                  <a:cubicBezTo>
                    <a:pt x="77089" y="344170"/>
                    <a:pt x="0" y="267081"/>
                    <a:pt x="0" y="172085"/>
                  </a:cubicBezTo>
                  <a:close/>
                </a:path>
              </a:pathLst>
            </a:custGeom>
            <a:solidFill>
              <a:srgbClr val="FFFFFF"/>
            </a:solidFill>
            <a:ln w="24784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190988" y="9784690"/>
            <a:ext cx="121644" cy="87287"/>
            <a:chOff x="0" y="0"/>
            <a:chExt cx="162192" cy="116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179" cy="116332"/>
            </a:xfrm>
            <a:custGeom>
              <a:avLst/>
              <a:gdLst/>
              <a:ahLst/>
              <a:cxnLst/>
              <a:rect r="r" b="b" t="t" l="l"/>
              <a:pathLst>
                <a:path h="116332" w="162179">
                  <a:moveTo>
                    <a:pt x="0" y="0"/>
                  </a:moveTo>
                  <a:lnTo>
                    <a:pt x="162179" y="0"/>
                  </a:lnTo>
                  <a:lnTo>
                    <a:pt x="162179" y="116332"/>
                  </a:lnTo>
                  <a:lnTo>
                    <a:pt x="0" y="1163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069" t="0" r="-42077" b="-43"/>
              </a:stretch>
            </a:blipFill>
            <a:ln w="14299" cap="sq">
              <a:solidFill>
                <a:srgbClr val="2F7D4F"/>
              </a:solidFill>
              <a:prstDash val="solid"/>
              <a:miter/>
            </a:ln>
          </p:spPr>
        </p:sp>
      </p:grpSp>
      <p:sp>
        <p:nvSpPr>
          <p:cNvPr name="AutoShape 13" id="13"/>
          <p:cNvSpPr/>
          <p:nvPr/>
        </p:nvSpPr>
        <p:spPr>
          <a:xfrm rot="2470020">
            <a:off x="2180463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-2470020">
            <a:off x="2234127" y="9809702"/>
            <a:ext cx="89021" cy="0"/>
          </a:xfrm>
          <a:prstGeom prst="line">
            <a:avLst/>
          </a:prstGeom>
          <a:ln cap="rnd" w="9525">
            <a:solidFill>
              <a:srgbClr val="2F7D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457707" y="9636157"/>
            <a:ext cx="1194854" cy="384353"/>
            <a:chOff x="0" y="0"/>
            <a:chExt cx="1593139" cy="512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start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82298" y="9700222"/>
            <a:ext cx="256232" cy="256232"/>
            <a:chOff x="0" y="0"/>
            <a:chExt cx="341643" cy="341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1630" cy="341630"/>
            </a:xfrm>
            <a:custGeom>
              <a:avLst/>
              <a:gdLst/>
              <a:ahLst/>
              <a:cxnLst/>
              <a:rect r="r" b="b" t="t" l="l"/>
              <a:pathLst>
                <a:path h="341630" w="341630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cubicBezTo>
                    <a:pt x="265176" y="0"/>
                    <a:pt x="341630" y="76454"/>
                    <a:pt x="341630" y="170815"/>
                  </a:cubicBezTo>
                  <a:cubicBezTo>
                    <a:pt x="341630" y="265176"/>
                    <a:pt x="265176" y="341630"/>
                    <a:pt x="170815" y="341630"/>
                  </a:cubicBezTo>
                  <a:cubicBezTo>
                    <a:pt x="76454" y="341630"/>
                    <a:pt x="0" y="265176"/>
                    <a:pt x="0" y="170815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716312" y="9734226"/>
            <a:ext cx="188204" cy="188204"/>
            <a:chOff x="0" y="0"/>
            <a:chExt cx="250939" cy="2509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0952" cy="250952"/>
            </a:xfrm>
            <a:custGeom>
              <a:avLst/>
              <a:gdLst/>
              <a:ahLst/>
              <a:cxnLst/>
              <a:rect r="r" b="b" t="t" l="l"/>
              <a:pathLst>
                <a:path h="250952" w="250952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cubicBezTo>
                    <a:pt x="194818" y="0"/>
                    <a:pt x="250952" y="56134"/>
                    <a:pt x="250952" y="125476"/>
                  </a:cubicBezTo>
                  <a:cubicBezTo>
                    <a:pt x="250952" y="194818"/>
                    <a:pt x="194818" y="250952"/>
                    <a:pt x="125476" y="250952"/>
                  </a:cubicBezTo>
                  <a:cubicBezTo>
                    <a:pt x="56134" y="250952"/>
                    <a:pt x="0" y="194818"/>
                    <a:pt x="0" y="12547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299" t="0" r="-78294" b="5"/>
              </a:stretch>
            </a:blipFill>
            <a:ln w="15252" cap="sq">
              <a:solidFill>
                <a:srgbClr val="9A6E0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747259" y="9765182"/>
            <a:ext cx="126311" cy="126311"/>
            <a:chOff x="0" y="0"/>
            <a:chExt cx="168415" cy="168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402" cy="168402"/>
            </a:xfrm>
            <a:custGeom>
              <a:avLst/>
              <a:gdLst/>
              <a:ahLst/>
              <a:cxnLst/>
              <a:rect r="r" b="b" t="t" l="l"/>
              <a:pathLst>
                <a:path h="168402" w="168402">
                  <a:moveTo>
                    <a:pt x="0" y="84201"/>
                  </a:moveTo>
                  <a:cubicBezTo>
                    <a:pt x="0" y="37719"/>
                    <a:pt x="37719" y="0"/>
                    <a:pt x="84201" y="0"/>
                  </a:cubicBezTo>
                  <a:cubicBezTo>
                    <a:pt x="130683" y="0"/>
                    <a:pt x="168402" y="37719"/>
                    <a:pt x="168402" y="84201"/>
                  </a:cubicBezTo>
                  <a:cubicBezTo>
                    <a:pt x="168402" y="130683"/>
                    <a:pt x="130683" y="168402"/>
                    <a:pt x="84201" y="168402"/>
                  </a:cubicBezTo>
                  <a:cubicBezTo>
                    <a:pt x="37719" y="168402"/>
                    <a:pt x="0" y="130683"/>
                    <a:pt x="0" y="8420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9" t="0" r="-78317" b="-7"/>
              </a:stretch>
            </a:blipFill>
            <a:ln w="14299" cap="sq">
              <a:solidFill>
                <a:srgbClr val="9A6E08"/>
              </a:solidFill>
              <a:prstDash val="solid"/>
              <a:miter/>
            </a:ln>
          </p:spPr>
        </p:sp>
      </p:grpSp>
      <p:sp>
        <p:nvSpPr>
          <p:cNvPr name="AutoShape 24" id="24"/>
          <p:cNvSpPr/>
          <p:nvPr/>
        </p:nvSpPr>
        <p:spPr>
          <a:xfrm rot="4464840">
            <a:off x="3783806" y="9805092"/>
            <a:ext cx="53216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019700">
            <a:off x="3802199" y="9823571"/>
            <a:ext cx="48920" cy="0"/>
          </a:xfrm>
          <a:prstGeom prst="line">
            <a:avLst/>
          </a:prstGeom>
          <a:ln cap="rnd" w="9525">
            <a:solidFill>
              <a:srgbClr val="9A6E0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4016312" y="9636157"/>
            <a:ext cx="1194854" cy="384353"/>
            <a:chOff x="0" y="0"/>
            <a:chExt cx="1593139" cy="5124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Intermediate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28511" y="9687830"/>
            <a:ext cx="281016" cy="281016"/>
            <a:chOff x="0" y="0"/>
            <a:chExt cx="374688" cy="3746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650" cy="374650"/>
            </a:xfrm>
            <a:custGeom>
              <a:avLst/>
              <a:gdLst/>
              <a:ahLst/>
              <a:cxnLst/>
              <a:rect r="r" b="b" t="t" l="l"/>
              <a:pathLst>
                <a:path h="374650" w="374650">
                  <a:moveTo>
                    <a:pt x="0" y="187325"/>
                  </a:moveTo>
                  <a:cubicBezTo>
                    <a:pt x="0" y="83820"/>
                    <a:pt x="83820" y="0"/>
                    <a:pt x="187325" y="0"/>
                  </a:cubicBezTo>
                  <a:cubicBezTo>
                    <a:pt x="290830" y="0"/>
                    <a:pt x="374650" y="83820"/>
                    <a:pt x="374650" y="187325"/>
                  </a:cubicBezTo>
                  <a:cubicBezTo>
                    <a:pt x="374650" y="290830"/>
                    <a:pt x="290830" y="374650"/>
                    <a:pt x="187325" y="374650"/>
                  </a:cubicBezTo>
                  <a:cubicBezTo>
                    <a:pt x="83820" y="374650"/>
                    <a:pt x="0" y="290830"/>
                    <a:pt x="0" y="187325"/>
                  </a:cubicBezTo>
                  <a:close/>
                </a:path>
              </a:pathLst>
            </a:custGeom>
            <a:solidFill>
              <a:srgbClr val="FFFFFF"/>
            </a:solidFill>
            <a:ln w="47662" cap="sq">
              <a:solidFill>
                <a:srgbClr val="A81D2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574925" y="9636157"/>
            <a:ext cx="1194854" cy="384353"/>
            <a:chOff x="0" y="0"/>
            <a:chExt cx="1593139" cy="512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93133" cy="512464"/>
            </a:xfrm>
            <a:custGeom>
              <a:avLst/>
              <a:gdLst/>
              <a:ahLst/>
              <a:cxnLst/>
              <a:rect r="r" b="b" t="t" l="l"/>
              <a:pathLst>
                <a:path h="512464" w="1593133">
                  <a:moveTo>
                    <a:pt x="0" y="0"/>
                  </a:moveTo>
                  <a:lnTo>
                    <a:pt x="1593133" y="0"/>
                  </a:lnTo>
                  <a:lnTo>
                    <a:pt x="15931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4" r="0" b="-105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593139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01421" y="9713109"/>
            <a:ext cx="362236" cy="230457"/>
            <a:chOff x="0" y="0"/>
            <a:chExt cx="482981" cy="3072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2981" cy="307340"/>
            </a:xfrm>
            <a:custGeom>
              <a:avLst/>
              <a:gdLst/>
              <a:ahLst/>
              <a:cxnLst/>
              <a:rect r="r" b="b" t="t" l="l"/>
              <a:pathLst>
                <a:path h="307340" w="482981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413131" y="0"/>
                  </a:lnTo>
                  <a:cubicBezTo>
                    <a:pt x="451739" y="0"/>
                    <a:pt x="482981" y="31242"/>
                    <a:pt x="482981" y="69850"/>
                  </a:cubicBezTo>
                  <a:lnTo>
                    <a:pt x="482981" y="237490"/>
                  </a:lnTo>
                  <a:cubicBezTo>
                    <a:pt x="482981" y="276098"/>
                    <a:pt x="451739" y="307340"/>
                    <a:pt x="413131" y="307340"/>
                  </a:cubicBezTo>
                  <a:lnTo>
                    <a:pt x="69850" y="307340"/>
                  </a:lnTo>
                  <a:cubicBezTo>
                    <a:pt x="31242" y="307340"/>
                    <a:pt x="0" y="276098"/>
                    <a:pt x="0" y="2374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5A6B7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250211" y="9636157"/>
            <a:ext cx="1078173" cy="384353"/>
            <a:chOff x="0" y="0"/>
            <a:chExt cx="1437564" cy="5124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Aktivitas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358597" y="9693831"/>
            <a:ext cx="269005" cy="269005"/>
            <a:chOff x="0" y="0"/>
            <a:chExt cx="358673" cy="3586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1" id="41"/>
          <p:cNvSpPr/>
          <p:nvPr/>
        </p:nvSpPr>
        <p:spPr>
          <a:xfrm rot="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-2700000">
            <a:off x="8399497" y="9818808"/>
            <a:ext cx="187204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8705860" y="9636157"/>
            <a:ext cx="1181119" cy="384353"/>
            <a:chOff x="0" y="0"/>
            <a:chExt cx="1574825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XOR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17201" y="9693831"/>
            <a:ext cx="269005" cy="269005"/>
            <a:chOff x="0" y="0"/>
            <a:chExt cx="358673" cy="3586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8648" cy="358648"/>
            </a:xfrm>
            <a:custGeom>
              <a:avLst/>
              <a:gdLst/>
              <a:ahLst/>
              <a:cxnLst/>
              <a:rect r="r" b="b" t="t" l="l"/>
              <a:pathLst>
                <a:path h="358648" w="358648">
                  <a:moveTo>
                    <a:pt x="0" y="179324"/>
                  </a:moveTo>
                  <a:lnTo>
                    <a:pt x="179324" y="0"/>
                  </a:lnTo>
                  <a:lnTo>
                    <a:pt x="358648" y="179324"/>
                  </a:lnTo>
                  <a:lnTo>
                    <a:pt x="179324" y="358648"/>
                  </a:lnTo>
                  <a:close/>
                </a:path>
              </a:pathLst>
            </a:custGeom>
            <a:solidFill>
              <a:srgbClr val="FDF2D8"/>
            </a:solidFill>
            <a:ln w="21923" cap="sq">
              <a:solidFill>
                <a:srgbClr val="B6820F"/>
              </a:solidFill>
              <a:prstDash val="solid"/>
              <a:miter/>
            </a:ln>
          </p:spPr>
        </p:sp>
      </p:grpSp>
      <p:sp>
        <p:nvSpPr>
          <p:cNvPr name="AutoShape 48" id="48"/>
          <p:cNvSpPr/>
          <p:nvPr/>
        </p:nvSpPr>
        <p:spPr>
          <a:xfrm rot="73146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rot="4668540">
            <a:off x="9983991" y="9818808"/>
            <a:ext cx="135426" cy="0"/>
          </a:xfrm>
          <a:prstGeom prst="line">
            <a:avLst/>
          </a:prstGeom>
          <a:ln cap="rnd" w="19050">
            <a:solidFill>
              <a:srgbClr val="B6820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0264473" y="9636157"/>
            <a:ext cx="1181119" cy="384353"/>
            <a:chOff x="0" y="0"/>
            <a:chExt cx="1574825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4830" cy="512464"/>
            </a:xfrm>
            <a:custGeom>
              <a:avLst/>
              <a:gdLst/>
              <a:ahLst/>
              <a:cxnLst/>
              <a:rect r="r" b="b" t="t" l="l"/>
              <a:pathLst>
                <a:path h="512464" w="1574830">
                  <a:moveTo>
                    <a:pt x="0" y="0"/>
                  </a:moveTo>
                  <a:lnTo>
                    <a:pt x="1574830" y="0"/>
                  </a:lnTo>
                  <a:lnTo>
                    <a:pt x="15748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7" r="0" b="-98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57482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Gateway paralel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77234" y="9719967"/>
            <a:ext cx="334775" cy="216732"/>
            <a:chOff x="0" y="0"/>
            <a:chExt cx="446367" cy="2889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6405" cy="288925"/>
            </a:xfrm>
            <a:custGeom>
              <a:avLst/>
              <a:gdLst/>
              <a:ahLst/>
              <a:cxnLst/>
              <a:rect r="r" b="b" t="t" l="l"/>
              <a:pathLst>
                <a:path h="288925" w="446405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376174" y="0"/>
                  </a:lnTo>
                  <a:cubicBezTo>
                    <a:pt x="414909" y="0"/>
                    <a:pt x="446405" y="31496"/>
                    <a:pt x="446405" y="70231"/>
                  </a:cubicBezTo>
                  <a:lnTo>
                    <a:pt x="446405" y="218694"/>
                  </a:lnTo>
                  <a:cubicBezTo>
                    <a:pt x="446405" y="257429"/>
                    <a:pt x="414909" y="288925"/>
                    <a:pt x="376174" y="288925"/>
                  </a:cubicBezTo>
                  <a:lnTo>
                    <a:pt x="70231" y="288925"/>
                  </a:lnTo>
                  <a:cubicBezTo>
                    <a:pt x="31496" y="288925"/>
                    <a:pt x="0" y="257556"/>
                    <a:pt x="0" y="218694"/>
                  </a:cubicBezTo>
                  <a:close/>
                </a:path>
              </a:pathLst>
            </a:custGeom>
            <a:solidFill>
              <a:srgbClr val="E7EDF4"/>
            </a:solidFill>
            <a:ln w="19065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898573" y="9636157"/>
            <a:ext cx="1105624" cy="384353"/>
            <a:chOff x="0" y="0"/>
            <a:chExt cx="1474165" cy="512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74168" cy="512464"/>
            </a:xfrm>
            <a:custGeom>
              <a:avLst/>
              <a:gdLst/>
              <a:ahLst/>
              <a:cxnLst/>
              <a:rect r="r" b="b" t="t" l="l"/>
              <a:pathLst>
                <a:path h="512464" w="1474168">
                  <a:moveTo>
                    <a:pt x="0" y="0"/>
                  </a:moveTo>
                  <a:lnTo>
                    <a:pt x="1474168" y="0"/>
                  </a:lnTo>
                  <a:lnTo>
                    <a:pt x="147416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0" r="0" b="-605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74165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Data store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74180">
            <a:off x="13035601" y="9823571"/>
            <a:ext cx="376447" cy="0"/>
          </a:xfrm>
          <a:prstGeom prst="line">
            <a:avLst/>
          </a:prstGeom>
          <a:ln cap="rnd" w="9525">
            <a:solidFill>
              <a:srgbClr val="3E4C5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9" id="59"/>
          <p:cNvGrpSpPr/>
          <p:nvPr/>
        </p:nvGrpSpPr>
        <p:grpSpPr>
          <a:xfrm rot="0">
            <a:off x="13484638" y="9636157"/>
            <a:ext cx="1078173" cy="384353"/>
            <a:chOff x="0" y="0"/>
            <a:chExt cx="1437564" cy="512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Sequence flow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174180">
            <a:off x="14594215" y="9823571"/>
            <a:ext cx="376447" cy="0"/>
          </a:xfrm>
          <a:prstGeom prst="line">
            <a:avLst/>
          </a:prstGeom>
          <a:ln cap="rnd" w="9525">
            <a:solidFill>
              <a:srgbClr val="8A9A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4595405" y="9771707"/>
            <a:ext cx="113243" cy="113243"/>
            <a:chOff x="0" y="0"/>
            <a:chExt cx="150990" cy="1509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0876" cy="150876"/>
            </a:xfrm>
            <a:custGeom>
              <a:avLst/>
              <a:gdLst/>
              <a:ahLst/>
              <a:cxnLst/>
              <a:rect r="r" b="b" t="t" l="l"/>
              <a:pathLst>
                <a:path h="150876" w="150876">
                  <a:moveTo>
                    <a:pt x="0" y="75438"/>
                  </a:moveTo>
                  <a:cubicBezTo>
                    <a:pt x="0" y="33782"/>
                    <a:pt x="33782" y="0"/>
                    <a:pt x="75438" y="0"/>
                  </a:cubicBezTo>
                  <a:cubicBezTo>
                    <a:pt x="117094" y="0"/>
                    <a:pt x="150876" y="33782"/>
                    <a:pt x="150876" y="75438"/>
                  </a:cubicBezTo>
                  <a:cubicBezTo>
                    <a:pt x="150876" y="117094"/>
                    <a:pt x="117094" y="150876"/>
                    <a:pt x="75438" y="150876"/>
                  </a:cubicBezTo>
                  <a:cubicBezTo>
                    <a:pt x="33782" y="150876"/>
                    <a:pt x="0" y="117221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835626" y="9766087"/>
            <a:ext cx="133836" cy="124501"/>
            <a:chOff x="0" y="0"/>
            <a:chExt cx="178448" cy="16600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8435" cy="165989"/>
            </a:xfrm>
            <a:custGeom>
              <a:avLst/>
              <a:gdLst/>
              <a:ahLst/>
              <a:cxnLst/>
              <a:rect r="r" b="b" t="t" l="l"/>
              <a:pathLst>
                <a:path h="165989" w="178435">
                  <a:moveTo>
                    <a:pt x="178435" y="83058"/>
                  </a:moveTo>
                  <a:lnTo>
                    <a:pt x="0" y="165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158" cap="sq">
              <a:solidFill>
                <a:srgbClr val="8A9AA7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043242" y="9636157"/>
            <a:ext cx="1078173" cy="384353"/>
            <a:chOff x="0" y="0"/>
            <a:chExt cx="1437564" cy="5124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Message flow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157560">
            <a:off x="16153819" y="9823571"/>
            <a:ext cx="374447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-1828800">
            <a:off x="16398326" y="9850336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1828800">
            <a:off x="16398326" y="9796805"/>
            <a:ext cx="139370" cy="0"/>
          </a:xfrm>
          <a:prstGeom prst="line">
            <a:avLst/>
          </a:prstGeom>
          <a:ln cap="rnd" w="9525">
            <a:solidFill>
              <a:srgbClr val="7A889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6601846" y="9636157"/>
            <a:ext cx="1078173" cy="384353"/>
            <a:chOff x="0" y="0"/>
            <a:chExt cx="1437564" cy="5124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37563" cy="512464"/>
            </a:xfrm>
            <a:custGeom>
              <a:avLst/>
              <a:gdLst/>
              <a:ahLst/>
              <a:cxnLst/>
              <a:rect r="r" b="b" t="t" l="l"/>
              <a:pathLst>
                <a:path h="512464" w="1437563">
                  <a:moveTo>
                    <a:pt x="0" y="0"/>
                  </a:moveTo>
                  <a:lnTo>
                    <a:pt x="1437563" y="0"/>
                  </a:lnTo>
                  <a:lnTo>
                    <a:pt x="14375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" r="0" b="-465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437564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035">
                  <a:solidFill>
                    <a:srgbClr val="5A6B7B"/>
                  </a:solidFill>
                  <a:latin typeface="Arial"/>
                  <a:ea typeface="Arial"/>
                  <a:cs typeface="Arial"/>
                  <a:sym typeface="Arial"/>
                </a:rPr>
                <a:t>Association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9 / 16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2245130" y="1281725"/>
            <a:ext cx="13511988" cy="7976575"/>
          </a:xfrm>
          <a:custGeom>
            <a:avLst/>
            <a:gdLst/>
            <a:ahLst/>
            <a:cxnLst/>
            <a:rect r="r" b="b" t="t" l="l"/>
            <a:pathLst>
              <a:path h="7976575" w="13511988">
                <a:moveTo>
                  <a:pt x="0" y="0"/>
                </a:moveTo>
                <a:lnTo>
                  <a:pt x="13511988" y="0"/>
                </a:lnTo>
                <a:lnTo>
                  <a:pt x="13511988" y="7976575"/>
                </a:lnTo>
                <a:lnTo>
                  <a:pt x="0" y="7976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744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557470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ANALISIS - PB-2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778669"/>
            <a:ext cx="16599722" cy="6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903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PB-2: Dari Catatan Pribadi ke Tiket yang Terlacak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1524" y="1757401"/>
            <a:ext cx="8016945" cy="6909883"/>
            <a:chOff x="0" y="0"/>
            <a:chExt cx="10689260" cy="92131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89209" cy="9213215"/>
            </a:xfrm>
            <a:custGeom>
              <a:avLst/>
              <a:gdLst/>
              <a:ahLst/>
              <a:cxnLst/>
              <a:rect r="r" b="b" t="t" l="l"/>
              <a:pathLst>
                <a:path h="9213215" w="1068920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505694" y="0"/>
                  </a:lnTo>
                  <a:cubicBezTo>
                    <a:pt x="10607039" y="0"/>
                    <a:pt x="10689209" y="82169"/>
                    <a:pt x="10689209" y="183515"/>
                  </a:cubicBezTo>
                  <a:lnTo>
                    <a:pt x="10689209" y="9029700"/>
                  </a:lnTo>
                  <a:cubicBezTo>
                    <a:pt x="10689209" y="9131046"/>
                    <a:pt x="10607039" y="9213215"/>
                    <a:pt x="10505694" y="9213215"/>
                  </a:cubicBezTo>
                  <a:lnTo>
                    <a:pt x="183515" y="9213215"/>
                  </a:lnTo>
                  <a:cubicBezTo>
                    <a:pt x="82169" y="9213215"/>
                    <a:pt x="0" y="9131046"/>
                    <a:pt x="0" y="9029700"/>
                  </a:cubicBezTo>
                  <a:close/>
                </a:path>
              </a:pathLst>
            </a:custGeom>
            <a:solidFill>
              <a:srgbClr val="EDF1F4"/>
            </a:solidFill>
            <a:ln w="19065" cap="sq">
              <a:solidFill>
                <a:srgbClr val="D5DDE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62863" y="2077326"/>
            <a:ext cx="7174278" cy="32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64748B"/>
                </a:solidFill>
                <a:latin typeface="Arial Bold"/>
                <a:ea typeface="Arial Bold"/>
                <a:cs typeface="Arial Bold"/>
                <a:sym typeface="Arial Bold"/>
              </a:rPr>
              <a:t>SEBELUM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2863" y="2415169"/>
            <a:ext cx="7174278" cy="50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176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As-Is - kondisi saat ini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0314" y="3307737"/>
            <a:ext cx="90592" cy="90592"/>
            <a:chOff x="0" y="0"/>
            <a:chExt cx="120790" cy="120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4843" y="3155290"/>
            <a:ext cx="6872288" cy="59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Tiket dan riwayat sudah tercatat pada register Coretax - ini bukan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masalahnya.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0314" y="4353639"/>
            <a:ext cx="90592" cy="90592"/>
            <a:chOff x="0" y="0"/>
            <a:chExt cx="120790" cy="1207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64843" y="4201192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Wajib pajak tidak menerima notifikasi; harus memeriksa status sendiri.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90314" y="5137394"/>
            <a:ext cx="90592" cy="90592"/>
            <a:chOff x="0" y="0"/>
            <a:chExt cx="120790" cy="120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64843" y="4984947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Waktu penyelesaian bergantung antrean unit teknis.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90314" y="5921159"/>
            <a:ext cx="90592" cy="90592"/>
            <a:chOff x="0" y="0"/>
            <a:chExt cx="120790" cy="120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64843" y="5768711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Petugas memantau tiket satu per satu, tanpa daftar prioritas otomatis.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90314" y="6704914"/>
            <a:ext cx="90592" cy="90592"/>
            <a:chOff x="0" y="0"/>
            <a:chExt cx="120790" cy="1207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64843" y="6552467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Tidak ada ringkasan otomatis; petugas membaca riwayat panjang.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0314" y="7488669"/>
            <a:ext cx="90592" cy="90592"/>
            <a:chOff x="0" y="0"/>
            <a:chExt cx="120790" cy="1207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64843" y="7336222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Rekap layanan disusun dari register secara manual tiap periode.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43380" y="1757401"/>
            <a:ext cx="8016945" cy="6909883"/>
            <a:chOff x="0" y="0"/>
            <a:chExt cx="10689260" cy="92131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89209" cy="9213215"/>
            </a:xfrm>
            <a:custGeom>
              <a:avLst/>
              <a:gdLst/>
              <a:ahLst/>
              <a:cxnLst/>
              <a:rect r="r" b="b" t="t" l="l"/>
              <a:pathLst>
                <a:path h="9213215" w="1068920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505694" y="0"/>
                  </a:lnTo>
                  <a:cubicBezTo>
                    <a:pt x="10607039" y="0"/>
                    <a:pt x="10689209" y="82169"/>
                    <a:pt x="10689209" y="183515"/>
                  </a:cubicBezTo>
                  <a:lnTo>
                    <a:pt x="10689209" y="9029700"/>
                  </a:lnTo>
                  <a:cubicBezTo>
                    <a:pt x="10689209" y="9131046"/>
                    <a:pt x="10607039" y="9213215"/>
                    <a:pt x="10505694" y="9213215"/>
                  </a:cubicBezTo>
                  <a:lnTo>
                    <a:pt x="183515" y="9213215"/>
                  </a:lnTo>
                  <a:cubicBezTo>
                    <a:pt x="82169" y="9213215"/>
                    <a:pt x="0" y="9131046"/>
                    <a:pt x="0" y="9029700"/>
                  </a:cubicBezTo>
                  <a:close/>
                </a:path>
              </a:pathLst>
            </a:custGeom>
            <a:solidFill>
              <a:srgbClr val="FBE9EA"/>
            </a:solidFill>
            <a:ln w="19065" cap="sq">
              <a:solidFill>
                <a:srgbClr val="EFC9CB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864709" y="2077326"/>
            <a:ext cx="7174278" cy="32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SESUDAH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4709" y="2415169"/>
            <a:ext cx="7174278" cy="50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176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To-Be - Sistem SIGAP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92160" y="3307737"/>
            <a:ext cx="90592" cy="90592"/>
            <a:chOff x="0" y="0"/>
            <a:chExt cx="120790" cy="1207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66699" y="3155290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Tiket dibuat otomatis, dilengkapi transkrip percakapan suara.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92160" y="4091502"/>
            <a:ext cx="90592" cy="90592"/>
            <a:chOff x="0" y="0"/>
            <a:chExt cx="120790" cy="1207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66699" y="3939054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Notifikasi pagi berisi rekap kasus yang perlu ditindaklanjuti.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92160" y="4875257"/>
            <a:ext cx="90592" cy="90592"/>
            <a:chOff x="0" y="0"/>
            <a:chExt cx="120790" cy="1207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166699" y="4722809"/>
            <a:ext cx="6872288" cy="59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Petugas bekerja dari dashboard dengan ringkasan otomatis sebagai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konteks.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892160" y="5921159"/>
            <a:ext cx="90592" cy="90592"/>
            <a:chOff x="0" y="0"/>
            <a:chExt cx="120790" cy="1207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166699" y="5768711"/>
            <a:ext cx="6872288" cy="59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Gateway memisahkan kasus yang perlu verifikasi data dari yang bisa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dijawab langsung.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892160" y="6967052"/>
            <a:ext cx="90592" cy="90592"/>
            <a:chOff x="0" y="0"/>
            <a:chExt cx="120790" cy="1207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166699" y="6814604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Status penyelesaian diperbarui otomatis dan terlihat pada dashboard.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892160" y="7750816"/>
            <a:ext cx="90592" cy="90592"/>
            <a:chOff x="0" y="0"/>
            <a:chExt cx="120790" cy="1207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0777" cy="120777"/>
            </a:xfrm>
            <a:custGeom>
              <a:avLst/>
              <a:gdLst/>
              <a:ahLst/>
              <a:cxnLst/>
              <a:rect r="r" b="b" t="t" l="l"/>
              <a:pathLst>
                <a:path h="120777" w="120777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cubicBezTo>
                    <a:pt x="93853" y="0"/>
                    <a:pt x="120777" y="27051"/>
                    <a:pt x="120777" y="60452"/>
                  </a:cubicBezTo>
                  <a:cubicBezTo>
                    <a:pt x="120777" y="93853"/>
                    <a:pt x="93726" y="120777"/>
                    <a:pt x="60452" y="120777"/>
                  </a:cubicBezTo>
                  <a:cubicBezTo>
                    <a:pt x="27178" y="120777"/>
                    <a:pt x="0" y="93726"/>
                    <a:pt x="0" y="60452"/>
                  </a:cubicBezTo>
                  <a:close/>
                </a:path>
              </a:pathLst>
            </a:custGeom>
            <a:solidFill>
              <a:srgbClr val="A81D23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166699" y="7598369"/>
            <a:ext cx="6872288" cy="32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Laporan dan metrik dihasilkan otomatis dengan siklus harian.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1059" y="8920515"/>
            <a:ext cx="16599722" cy="53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651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Pencatatan kasus sudah berjalan hari ini. Perubahan terbesar ada pada siapa yang menjawab lebih dulu dan seberapa cepat kasus sampai ke petugas yang tepat.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10 / 16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557470"/>
            <a:ext cx="16599722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A81D23"/>
                </a:solidFill>
                <a:latin typeface="Arial Bold"/>
                <a:ea typeface="Arial Bold"/>
                <a:cs typeface="Arial Bold"/>
                <a:sym typeface="Arial Bold"/>
              </a:rPr>
              <a:t>IDENTIFIKASI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778669"/>
            <a:ext cx="16599722" cy="6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903" b="true">
                <a:solidFill>
                  <a:srgbClr val="1F2A37"/>
                </a:solidFill>
                <a:latin typeface="Arial Bold"/>
                <a:ea typeface="Arial Bold"/>
                <a:cs typeface="Arial Bold"/>
                <a:sym typeface="Arial Bold"/>
              </a:rPr>
              <a:t>Apakah Proses As-Is Sama dengan To-Be?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1059" y="1657121"/>
            <a:ext cx="16599722" cy="1839382"/>
            <a:chOff x="0" y="0"/>
            <a:chExt cx="22132963" cy="2452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32925" cy="2452497"/>
            </a:xfrm>
            <a:custGeom>
              <a:avLst/>
              <a:gdLst/>
              <a:ahLst/>
              <a:cxnLst/>
              <a:rect r="r" b="b" t="t" l="l"/>
              <a:pathLst>
                <a:path h="2452497" w="22132925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949918" y="0"/>
                  </a:lnTo>
                  <a:cubicBezTo>
                    <a:pt x="22051009" y="0"/>
                    <a:pt x="22132925" y="81915"/>
                    <a:pt x="22132925" y="183007"/>
                  </a:cubicBezTo>
                  <a:lnTo>
                    <a:pt x="22132925" y="2269490"/>
                  </a:lnTo>
                  <a:cubicBezTo>
                    <a:pt x="22132925" y="2370582"/>
                    <a:pt x="22051009" y="2452497"/>
                    <a:pt x="21949918" y="2452497"/>
                  </a:cubicBezTo>
                  <a:lnTo>
                    <a:pt x="183007" y="2452497"/>
                  </a:lnTo>
                  <a:cubicBezTo>
                    <a:pt x="81915" y="2452497"/>
                    <a:pt x="0" y="2370582"/>
                    <a:pt x="0" y="2269490"/>
                  </a:cubicBezTo>
                  <a:close/>
                </a:path>
              </a:pathLst>
            </a:custGeom>
            <a:solidFill>
              <a:srgbClr val="7A141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17765" y="1885150"/>
            <a:ext cx="4804353" cy="48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 b="true">
                <a:solidFill>
                  <a:srgbClr val="E8A81C"/>
                </a:solidFill>
                <a:latin typeface="Arial Bold"/>
                <a:ea typeface="Arial Bold"/>
                <a:cs typeface="Arial Bold"/>
                <a:sym typeface="Arial Bold"/>
              </a:rPr>
              <a:t>JAWABAN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765" y="2296954"/>
            <a:ext cx="5902490" cy="81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Tidak sama.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22245" y="1959112"/>
            <a:ext cx="9461830" cy="1235402"/>
            <a:chOff x="0" y="0"/>
            <a:chExt cx="12615774" cy="1647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15774" cy="1647207"/>
            </a:xfrm>
            <a:custGeom>
              <a:avLst/>
              <a:gdLst/>
              <a:ahLst/>
              <a:cxnLst/>
              <a:rect r="r" b="b" t="t" l="l"/>
              <a:pathLst>
                <a:path h="1647207" w="12615774">
                  <a:moveTo>
                    <a:pt x="0" y="0"/>
                  </a:moveTo>
                  <a:lnTo>
                    <a:pt x="12615774" y="0"/>
                  </a:lnTo>
                  <a:lnTo>
                    <a:pt x="12615774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33" r="0" b="-992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615774" cy="1732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1"/>
                </a:lnSpc>
              </a:pPr>
              <a:r>
                <a:rPr lang="en-US" sz="1711">
                  <a:solidFill>
                    <a:srgbClr val="F7D9DB"/>
                  </a:solidFill>
                  <a:latin typeface="Arial"/>
                  <a:ea typeface="Arial"/>
                  <a:cs typeface="Arial"/>
                  <a:sym typeface="Arial"/>
                </a:rPr>
                <a:t>Perbedaannya bukan sekadar aktivitas manual yang dipercepat. Sebagian aktivitas dihapus, aktor</a:t>
              </a:r>
            </a:p>
            <a:p>
              <a:pPr algn="l">
                <a:lnSpc>
                  <a:spcPts val="2751"/>
                </a:lnSpc>
              </a:pPr>
              <a:r>
                <a:rPr lang="en-US" sz="1711">
                  <a:solidFill>
                    <a:srgbClr val="F7D9DB"/>
                  </a:solidFill>
                  <a:latin typeface="Arial"/>
                  <a:ea typeface="Arial"/>
                  <a:cs typeface="Arial"/>
                  <a:sym typeface="Arial"/>
                </a:rPr>
                <a:t>pelaksananya berpindah, pemicu prosesnya berubah, dan muncul langkah kontrol baru. Secara</a:t>
              </a:r>
            </a:p>
            <a:p>
              <a:pPr algn="l">
                <a:lnSpc>
                  <a:spcPts val="2751"/>
                </a:lnSpc>
              </a:pPr>
              <a:r>
                <a:rPr lang="en-US" sz="1711">
                  <a:solidFill>
                    <a:srgbClr val="F7D9DB"/>
                  </a:solidFill>
                  <a:latin typeface="Arial"/>
                  <a:ea typeface="Arial"/>
                  <a:cs typeface="Arial"/>
                  <a:sym typeface="Arial"/>
                </a:rPr>
                <a:t>BPMN ini adalah redesain proses, bukan otomasi satu-ke-satu.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1059" y="3908308"/>
            <a:ext cx="16599722" cy="769544"/>
            <a:chOff x="0" y="0"/>
            <a:chExt cx="22132963" cy="1026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32925" cy="1026033"/>
            </a:xfrm>
            <a:custGeom>
              <a:avLst/>
              <a:gdLst/>
              <a:ahLst/>
              <a:cxnLst/>
              <a:rect r="r" b="b" t="t" l="l"/>
              <a:pathLst>
                <a:path h="1026033" w="22132925">
                  <a:moveTo>
                    <a:pt x="0" y="0"/>
                  </a:moveTo>
                  <a:lnTo>
                    <a:pt x="22132925" y="0"/>
                  </a:lnTo>
                  <a:lnTo>
                    <a:pt x="22132925" y="1026033"/>
                  </a:lnTo>
                  <a:lnTo>
                    <a:pt x="0" y="1026033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7757" y="3908308"/>
            <a:ext cx="3217545" cy="769544"/>
            <a:chOff x="0" y="0"/>
            <a:chExt cx="4290060" cy="10260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90059" cy="1026062"/>
            </a:xfrm>
            <a:custGeom>
              <a:avLst/>
              <a:gdLst/>
              <a:ahLst/>
              <a:cxnLst/>
              <a:rect r="r" b="b" t="t" l="l"/>
              <a:pathLst>
                <a:path h="1026062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26062"/>
                  </a:lnTo>
                  <a:lnTo>
                    <a:pt x="0" y="1026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68" r="0" b="-3146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290060" cy="1083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2"/>
                </a:lnSpc>
              </a:pPr>
              <a:r>
                <a:rPr lang="en-US" sz="160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Jenis perubahan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48688" y="3908308"/>
            <a:ext cx="12075395" cy="769544"/>
            <a:chOff x="0" y="0"/>
            <a:chExt cx="16100527" cy="10260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00532" cy="1026062"/>
            </a:xfrm>
            <a:custGeom>
              <a:avLst/>
              <a:gdLst/>
              <a:ahLst/>
              <a:cxnLst/>
              <a:rect r="r" b="b" t="t" l="l"/>
              <a:pathLst>
                <a:path h="1026062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26062"/>
                  </a:lnTo>
                  <a:lnTo>
                    <a:pt x="0" y="1026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51" r="0" b="-2557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6100527" cy="1083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2"/>
                </a:lnSpc>
              </a:pPr>
              <a:r>
                <a:rPr lang="en-US" sz="160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Bukti pada model: dari As-Is menjadi To-Be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3180">
            <a:off x="843429" y="4673089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77757" y="4677851"/>
            <a:ext cx="3217545" cy="762629"/>
            <a:chOff x="0" y="0"/>
            <a:chExt cx="4290060" cy="1016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Eliminasi aktivitas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48688" y="4677851"/>
            <a:ext cx="12075395" cy="762629"/>
            <a:chOff x="0" y="0"/>
            <a:chExt cx="16100527" cy="1016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Antrean panggilan, penelusuran manual knowledge base, dan penyusunan rekap per periode tidak lagi muncul pada To-Be.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1059" y="5440480"/>
            <a:ext cx="16599722" cy="762629"/>
            <a:chOff x="0" y="0"/>
            <a:chExt cx="22132963" cy="10168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32925" cy="1016889"/>
            </a:xfrm>
            <a:custGeom>
              <a:avLst/>
              <a:gdLst/>
              <a:ahLst/>
              <a:cxnLst/>
              <a:rect r="r" b="b" t="t" l="l"/>
              <a:pathLst>
                <a:path h="1016889" w="22132925">
                  <a:moveTo>
                    <a:pt x="0" y="0"/>
                  </a:moveTo>
                  <a:lnTo>
                    <a:pt x="22132925" y="0"/>
                  </a:lnTo>
                  <a:lnTo>
                    <a:pt x="22132925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F5F7F8"/>
            </a:solidFill>
          </p:spPr>
        </p:sp>
      </p:grpSp>
      <p:sp>
        <p:nvSpPr>
          <p:cNvPr name="AutoShape 28" id="28"/>
          <p:cNvSpPr/>
          <p:nvPr/>
        </p:nvSpPr>
        <p:spPr>
          <a:xfrm rot="3180">
            <a:off x="843429" y="5435717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177757" y="5440480"/>
            <a:ext cx="3217545" cy="762629"/>
            <a:chOff x="0" y="0"/>
            <a:chExt cx="4290060" cy="1016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Otomasi aktivitas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48688" y="5440480"/>
            <a:ext cx="12075395" cy="762629"/>
            <a:chOff x="0" y="0"/>
            <a:chExt cx="16100527" cy="1016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STT, vector search, penyusunan jawaban, TTS, pembuatan tiket, serta rekap dan laporan berpindah dari lane manusia ke lane sistem.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3180">
            <a:off x="843429" y="6198337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77757" y="6203099"/>
            <a:ext cx="3217545" cy="762629"/>
            <a:chOff x="0" y="0"/>
            <a:chExt cx="4290060" cy="1016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Realokasi aktor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48688" y="6203099"/>
            <a:ext cx="12075395" cy="762629"/>
            <a:chOff x="0" y="0"/>
            <a:chExt cx="16100527" cy="10168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Pertanyaan umum: dari lane Petugas Layanan ke lane AI Engine. Petugas dialihkan ke kasus yang memerlukan verifikasi data.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059" y="6965728"/>
            <a:ext cx="16599722" cy="762629"/>
            <a:chOff x="0" y="0"/>
            <a:chExt cx="22132963" cy="10168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32925" cy="1016889"/>
            </a:xfrm>
            <a:custGeom>
              <a:avLst/>
              <a:gdLst/>
              <a:ahLst/>
              <a:cxnLst/>
              <a:rect r="r" b="b" t="t" l="l"/>
              <a:pathLst>
                <a:path h="1016889" w="22132925">
                  <a:moveTo>
                    <a:pt x="0" y="0"/>
                  </a:moveTo>
                  <a:lnTo>
                    <a:pt x="22132925" y="0"/>
                  </a:lnTo>
                  <a:lnTo>
                    <a:pt x="22132925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F5F7F8"/>
            </a:solidFill>
          </p:spPr>
        </p:sp>
      </p:grpSp>
      <p:sp>
        <p:nvSpPr>
          <p:cNvPr name="AutoShape 44" id="44"/>
          <p:cNvSpPr/>
          <p:nvPr/>
        </p:nvSpPr>
        <p:spPr>
          <a:xfrm rot="3180">
            <a:off x="843429" y="6960965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177757" y="6965728"/>
            <a:ext cx="3217545" cy="762629"/>
            <a:chOff x="0" y="0"/>
            <a:chExt cx="4290060" cy="10168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Penambahan langkah kontrol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048688" y="6965728"/>
            <a:ext cx="12075395" cy="762629"/>
            <a:chOff x="0" y="0"/>
            <a:chExt cx="16100527" cy="10168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Guardrail data personal, gateway ambang relevansi sumber, dan sitasi sumber pada jawaban - ketiganya tidak ada pada As-Is.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3180">
            <a:off x="843429" y="7723594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177757" y="7728356"/>
            <a:ext cx="3217545" cy="762629"/>
            <a:chOff x="0" y="0"/>
            <a:chExt cx="4290060" cy="10168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Perubahan pemicu proses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48688" y="7728356"/>
            <a:ext cx="12075395" cy="762629"/>
            <a:chOff x="0" y="0"/>
            <a:chExt cx="16100527" cy="101683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Rekap layanan berubah dari penyusunan manual per periode menjadi timer event terjadwal harian.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1059" y="8490985"/>
            <a:ext cx="16599722" cy="762629"/>
            <a:chOff x="0" y="0"/>
            <a:chExt cx="22132963" cy="10168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32925" cy="1016889"/>
            </a:xfrm>
            <a:custGeom>
              <a:avLst/>
              <a:gdLst/>
              <a:ahLst/>
              <a:cxnLst/>
              <a:rect r="r" b="b" t="t" l="l"/>
              <a:pathLst>
                <a:path h="1016889" w="22132925">
                  <a:moveTo>
                    <a:pt x="0" y="0"/>
                  </a:moveTo>
                  <a:lnTo>
                    <a:pt x="22132925" y="0"/>
                  </a:lnTo>
                  <a:lnTo>
                    <a:pt x="22132925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F5F7F8"/>
            </a:solidFill>
          </p:spPr>
        </p:sp>
      </p:grpSp>
      <p:sp>
        <p:nvSpPr>
          <p:cNvPr name="AutoShape 60" id="60"/>
          <p:cNvSpPr/>
          <p:nvPr/>
        </p:nvSpPr>
        <p:spPr>
          <a:xfrm rot="3180">
            <a:off x="843429" y="8486223"/>
            <a:ext cx="16614981" cy="0"/>
          </a:xfrm>
          <a:prstGeom prst="line">
            <a:avLst/>
          </a:prstGeom>
          <a:ln cap="rnd" w="9525">
            <a:solidFill>
              <a:srgbClr val="DFE5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177757" y="8490985"/>
            <a:ext cx="3217545" cy="762629"/>
            <a:chOff x="0" y="0"/>
            <a:chExt cx="4290060" cy="101683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90059" cy="1016834"/>
            </a:xfrm>
            <a:custGeom>
              <a:avLst/>
              <a:gdLst/>
              <a:ahLst/>
              <a:cxnLst/>
              <a:rect r="r" b="b" t="t" l="l"/>
              <a:pathLst>
                <a:path h="1016834" w="4290059">
                  <a:moveTo>
                    <a:pt x="0" y="0"/>
                  </a:moveTo>
                  <a:lnTo>
                    <a:pt x="4290059" y="0"/>
                  </a:lnTo>
                  <a:lnTo>
                    <a:pt x="4290059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7" r="0" b="-322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290060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 b="true">
                  <a:solidFill>
                    <a:srgbClr val="1F2A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Perubahan jejak data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48688" y="8490985"/>
            <a:ext cx="12075395" cy="762629"/>
            <a:chOff x="0" y="0"/>
            <a:chExt cx="16100527" cy="10168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100532" cy="1016834"/>
            </a:xfrm>
            <a:custGeom>
              <a:avLst/>
              <a:gdLst/>
              <a:ahLst/>
              <a:cxnLst/>
              <a:rect r="r" b="b" t="t" l="l"/>
              <a:pathLst>
                <a:path h="1016834" w="16100532">
                  <a:moveTo>
                    <a:pt x="0" y="0"/>
                  </a:moveTo>
                  <a:lnTo>
                    <a:pt x="16100532" y="0"/>
                  </a:lnTo>
                  <a:lnTo>
                    <a:pt x="16100532" y="1016834"/>
                  </a:lnTo>
                  <a:lnTo>
                    <a:pt x="0" y="1016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25" r="0" b="-2585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6100527" cy="1064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6"/>
                </a:lnSpc>
              </a:pPr>
              <a:r>
                <a:rPr lang="en-US" sz="1561">
                  <a:solidFill>
                    <a:srgbClr val="1F2A37"/>
                  </a:solidFill>
                  <a:latin typeface="Arial"/>
                  <a:ea typeface="Arial"/>
                  <a:cs typeface="Arial"/>
                  <a:sym typeface="Arial"/>
                </a:rPr>
                <a:t>Register yang sudah ada dilengkapi transkrip percakapan suara, ringkasan otomatis, dan metrik layanan.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3540">
            <a:off x="842477" y="9248842"/>
            <a:ext cx="16616896" cy="0"/>
          </a:xfrm>
          <a:prstGeom prst="line">
            <a:avLst/>
          </a:prstGeom>
          <a:ln cap="rnd" w="9525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93A2AF"/>
                  </a:solidFill>
                  <a:latin typeface="Arial"/>
                  <a:ea typeface="Arial"/>
                  <a:cs typeface="Arial"/>
                  <a:sym typeface="Arial"/>
                </a:rPr>
                <a:t>11 / 16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978799"/>
            <a:ext cx="16599722" cy="33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8A81C"/>
                </a:solidFill>
                <a:latin typeface="Arial Bold"/>
                <a:ea typeface="Arial Bold"/>
                <a:cs typeface="Arial Bold"/>
                <a:sym typeface="Arial Bold"/>
              </a:rPr>
              <a:t>KESIMPULAN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059" y="1359779"/>
            <a:ext cx="15373931" cy="18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405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Penerapan AI Voice Assistant mengubah bentuk prosesnya,</a:t>
            </a:r>
          </a:p>
          <a:p>
            <a:pPr algn="l">
              <a:lnSpc>
                <a:spcPts val="5642"/>
              </a:lnSpc>
            </a:pPr>
            <a:r>
              <a:rPr lang="en-US" sz="405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bukan hanya kecepatannya.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1059" y="3651304"/>
            <a:ext cx="549069" cy="549069"/>
            <a:chOff x="0" y="0"/>
            <a:chExt cx="732092" cy="732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E8A8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1059" y="3651304"/>
            <a:ext cx="549069" cy="549069"/>
            <a:chOff x="0" y="0"/>
            <a:chExt cx="732092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4E0C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9755" y="3626939"/>
            <a:ext cx="7133092" cy="47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189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Proses As-Is dan To-Be tidak sama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755" y="4096722"/>
            <a:ext cx="7133092" cy="133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Terdapat eliminasi aktivitas, realokasi aktor, perubahan pemicu, dan</a:t>
            </a:r>
          </a:p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penambahan langkah kontrol. Ini redesain proses, bukan otomasi satu-ke-satu.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66640" y="3651304"/>
            <a:ext cx="549069" cy="549069"/>
            <a:chOff x="0" y="0"/>
            <a:chExt cx="732092" cy="732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E8A81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66640" y="3651304"/>
            <a:ext cx="549069" cy="549069"/>
            <a:chOff x="0" y="0"/>
            <a:chExt cx="732092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 b="true">
                  <a:solidFill>
                    <a:srgbClr val="4E0C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35336" y="3626939"/>
            <a:ext cx="7133092" cy="47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189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Efisiensi terjadi dan dapat ditelusuri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35336" y="4096722"/>
            <a:ext cx="7133092" cy="61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Sembilan aktivitas petugas untuk satu pertanyaan umum menjadi nol, dua titik</a:t>
            </a:r>
          </a:p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tunggu dan empat handoff hilang, dan ketersediaan naik sekitar 4,2 kali.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76436" y="6046826"/>
            <a:ext cx="549069" cy="549069"/>
            <a:chOff x="0" y="0"/>
            <a:chExt cx="732092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E8A81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76436" y="6046826"/>
            <a:ext cx="549069" cy="549069"/>
            <a:chOff x="0" y="0"/>
            <a:chExt cx="732092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092" cy="732092"/>
            </a:xfrm>
            <a:custGeom>
              <a:avLst/>
              <a:gdLst/>
              <a:ahLst/>
              <a:cxnLst/>
              <a:rect r="r" b="b" t="t" l="l"/>
              <a:pathLst>
                <a:path h="732092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32092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3"/>
                </a:lnSpc>
              </a:pPr>
              <a:r>
                <a:rPr lang="en-US" sz="1726">
                  <a:solidFill>
                    <a:srgbClr val="4E0C1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45132" y="6022461"/>
            <a:ext cx="7133092" cy="47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189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Langkah berikutnya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45132" y="6492244"/>
            <a:ext cx="7133092" cy="133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Validasi angka As-Is di unit layanan, lalu integrasi jalur suara end-to-end</a:t>
            </a:r>
          </a:p>
          <a:p>
            <a:pPr algn="l">
              <a:lnSpc>
                <a:spcPts val="2449"/>
              </a:lnSpc>
            </a:pPr>
            <a:r>
              <a:rPr lang="en-US" sz="1546">
                <a:solidFill>
                  <a:srgbClr val="EFC3C6"/>
                </a:solidFill>
                <a:latin typeface="Arial"/>
                <a:ea typeface="Arial"/>
                <a:cs typeface="Arial"/>
                <a:sym typeface="Arial"/>
              </a:rPr>
              <a:t>mengikuti model To-Be yang sudah ditetapkan.</a:t>
            </a:r>
          </a:p>
        </p:txBody>
      </p:sp>
      <p:sp>
        <p:nvSpPr>
          <p:cNvPr name="AutoShape 25" id="25"/>
          <p:cNvSpPr/>
          <p:nvPr/>
        </p:nvSpPr>
        <p:spPr>
          <a:xfrm rot="3540">
            <a:off x="842477" y="8450904"/>
            <a:ext cx="16616896" cy="0"/>
          </a:xfrm>
          <a:prstGeom prst="line">
            <a:avLst/>
          </a:prstGeom>
          <a:ln cap="rnd" w="9525">
            <a:solidFill>
              <a:srgbClr val="9E40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5940840" y="549069"/>
            <a:ext cx="1509941" cy="356892"/>
            <a:chOff x="0" y="0"/>
            <a:chExt cx="2013255" cy="475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3253" cy="475860"/>
            </a:xfrm>
            <a:custGeom>
              <a:avLst/>
              <a:gdLst/>
              <a:ahLst/>
              <a:cxnLst/>
              <a:rect r="r" b="b" t="t" l="l"/>
              <a:pathLst>
                <a:path h="475860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7" r="0" b="-324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13255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97"/>
                </a:lnSpc>
              </a:pPr>
              <a:r>
                <a:rPr lang="en-US" sz="1291">
                  <a:solidFill>
                    <a:srgbClr val="B98287"/>
                  </a:solidFill>
                  <a:latin typeface="Arial"/>
                  <a:ea typeface="Arial"/>
                  <a:cs typeface="Arial"/>
                  <a:sym typeface="Arial"/>
                </a:rPr>
                <a:t>16 / 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DAHTTbMoBFo</dc:identifier>
  <dcterms:modified xsi:type="dcterms:W3CDTF">2011-08-01T06:04:30Z</dcterms:modified>
  <cp:revision>1</cp:revision>
  <dc:title>Kelompok2_I4_BPMN_AsIs_ToBe.pptx</dc:title>
</cp:coreProperties>
</file>