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6"/>
  </p:notes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DM Sans Bold" charset="1" panose="00000000000000000000"/>
      <p:regular r:id="rId14"/>
    </p:embeddedFont>
    <p:embeddedFont>
      <p:font typeface="DM Sans" charset="1" panose="00000000000000000000"/>
      <p:regular r:id="rId15"/>
    </p:embeddedFont>
    <p:embeddedFont>
      <p:font typeface="DM Sans Italics" charset="1" panose="00000000000000000000"/>
      <p:regular r:id="rId21"/>
    </p:embeddedFont>
    <p:embeddedFont>
      <p:font typeface="DM Sans Bold Italics"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notesMasters/notesMaster1.xml" Type="http://schemas.openxmlformats.org/officeDocument/2006/relationships/notesMaster"/><Relationship Id="rId17" Target="theme/theme2.xml" Type="http://schemas.openxmlformats.org/officeDocument/2006/relationships/theme"/><Relationship Id="rId18" Target="notesSlides/notesSlide1.xml" Type="http://schemas.openxmlformats.org/officeDocument/2006/relationships/notesSlide"/><Relationship Id="rId19" Target="notesSlides/notesSlide2.xml" Type="http://schemas.openxmlformats.org/officeDocument/2006/relationships/notesSlide"/><Relationship Id="rId2" Target="presProps.xml" Type="http://schemas.openxmlformats.org/officeDocument/2006/relationships/presProps"/><Relationship Id="rId20" Target="notesSlides/notesSlide3.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4.xml" Type="http://schemas.openxmlformats.org/officeDocument/2006/relationships/notesSlide"/><Relationship Id="rId24" Target="notesSlides/notesSlide5.xml" Type="http://schemas.openxmlformats.org/officeDocument/2006/relationships/notesSlide"/><Relationship Id="rId25" Target="notesSlides/notesSlide6.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 Id="rId4"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6.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7.png" Type="http://schemas.openxmlformats.org/officeDocument/2006/relationships/image"/><Relationship Id="rId7"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6.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8.png" Type="http://schemas.openxmlformats.org/officeDocument/2006/relationships/image"/><Relationship Id="rId7"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6.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6.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6.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1.png" Type="http://schemas.openxmlformats.org/officeDocument/2006/relationships/image"/><Relationship Id="rId7"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6.jpeg" Type="http://schemas.openxmlformats.org/officeDocument/2006/relationships/image"/><Relationship Id="rId4"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27341"/>
            <a:ext cx="18516331" cy="10415436"/>
          </a:xfrm>
          <a:custGeom>
            <a:avLst/>
            <a:gdLst/>
            <a:ahLst/>
            <a:cxnLst/>
            <a:rect r="r" b="b" t="t" l="l"/>
            <a:pathLst>
              <a:path h="10415436" w="18516331">
                <a:moveTo>
                  <a:pt x="0" y="0"/>
                </a:moveTo>
                <a:lnTo>
                  <a:pt x="18516331" y="0"/>
                </a:lnTo>
                <a:lnTo>
                  <a:pt x="18516331" y="10415436"/>
                </a:lnTo>
                <a:lnTo>
                  <a:pt x="0" y="10415436"/>
                </a:lnTo>
                <a:lnTo>
                  <a:pt x="0" y="0"/>
                </a:lnTo>
                <a:close/>
              </a:path>
            </a:pathLst>
          </a:custGeom>
          <a:blipFill>
            <a:blip r:embed="rId2"/>
            <a:stretch>
              <a:fillRect l="0" t="0" r="0" b="0"/>
            </a:stretch>
          </a:blipFill>
        </p:spPr>
      </p:sp>
      <p:grpSp>
        <p:nvGrpSpPr>
          <p:cNvPr name="Group 3" id="3"/>
          <p:cNvGrpSpPr/>
          <p:nvPr/>
        </p:nvGrpSpPr>
        <p:grpSpPr>
          <a:xfrm rot="0">
            <a:off x="-94810" y="-220168"/>
            <a:ext cx="18781648" cy="9242737"/>
            <a:chOff x="0" y="0"/>
            <a:chExt cx="856701" cy="421596"/>
          </a:xfrm>
        </p:grpSpPr>
        <p:sp>
          <p:nvSpPr>
            <p:cNvPr name="Freeform 4" id="4"/>
            <p:cNvSpPr/>
            <p:nvPr/>
          </p:nvSpPr>
          <p:spPr>
            <a:xfrm flipH="false" flipV="false" rot="0">
              <a:off x="0" y="0"/>
              <a:ext cx="856701" cy="421596"/>
            </a:xfrm>
            <a:custGeom>
              <a:avLst/>
              <a:gdLst/>
              <a:ahLst/>
              <a:cxnLst/>
              <a:rect r="r" b="b" t="t" l="l"/>
              <a:pathLst>
                <a:path h="421596" w="856701">
                  <a:moveTo>
                    <a:pt x="8051" y="0"/>
                  </a:moveTo>
                  <a:lnTo>
                    <a:pt x="848650" y="0"/>
                  </a:lnTo>
                  <a:cubicBezTo>
                    <a:pt x="850785" y="0"/>
                    <a:pt x="852833" y="848"/>
                    <a:pt x="854343" y="2358"/>
                  </a:cubicBezTo>
                  <a:cubicBezTo>
                    <a:pt x="855853" y="3868"/>
                    <a:pt x="856701" y="5916"/>
                    <a:pt x="856701" y="8051"/>
                  </a:cubicBezTo>
                  <a:lnTo>
                    <a:pt x="856701" y="413545"/>
                  </a:lnTo>
                  <a:cubicBezTo>
                    <a:pt x="856701" y="415680"/>
                    <a:pt x="855853" y="417728"/>
                    <a:pt x="854343" y="419238"/>
                  </a:cubicBezTo>
                  <a:cubicBezTo>
                    <a:pt x="852833" y="420748"/>
                    <a:pt x="850785" y="421596"/>
                    <a:pt x="848650" y="421596"/>
                  </a:cubicBezTo>
                  <a:lnTo>
                    <a:pt x="8051" y="421596"/>
                  </a:lnTo>
                  <a:cubicBezTo>
                    <a:pt x="3605" y="421596"/>
                    <a:pt x="0" y="417991"/>
                    <a:pt x="0" y="413545"/>
                  </a:cubicBezTo>
                  <a:lnTo>
                    <a:pt x="0" y="8051"/>
                  </a:lnTo>
                  <a:cubicBezTo>
                    <a:pt x="0" y="5916"/>
                    <a:pt x="848" y="3868"/>
                    <a:pt x="2358" y="2358"/>
                  </a:cubicBezTo>
                  <a:cubicBezTo>
                    <a:pt x="3868" y="848"/>
                    <a:pt x="5916" y="0"/>
                    <a:pt x="8051" y="0"/>
                  </a:cubicBezTo>
                  <a:close/>
                </a:path>
              </a:pathLst>
            </a:custGeom>
            <a:solidFill>
              <a:srgbClr val="B2211B">
                <a:alpha val="84706"/>
              </a:srgbClr>
            </a:solidFill>
          </p:spPr>
        </p:sp>
        <p:sp>
          <p:nvSpPr>
            <p:cNvPr name="TextBox 5" id="5"/>
            <p:cNvSpPr txBox="true"/>
            <p:nvPr/>
          </p:nvSpPr>
          <p:spPr>
            <a:xfrm>
              <a:off x="0" y="-9525"/>
              <a:ext cx="856701" cy="431121"/>
            </a:xfrm>
            <a:prstGeom prst="rect">
              <a:avLst/>
            </a:prstGeom>
          </p:spPr>
          <p:txBody>
            <a:bodyPr anchor="ctr" rtlCol="false" tIns="50800" lIns="50800" bIns="50800" rIns="50800"/>
            <a:lstStyle/>
            <a:p>
              <a:pPr algn="ctr">
                <a:lnSpc>
                  <a:spcPts val="1919"/>
                </a:lnSpc>
              </a:pPr>
            </a:p>
          </p:txBody>
        </p:sp>
      </p:grpSp>
      <p:grpSp>
        <p:nvGrpSpPr>
          <p:cNvPr name="Group 6" id="6"/>
          <p:cNvGrpSpPr/>
          <p:nvPr/>
        </p:nvGrpSpPr>
        <p:grpSpPr>
          <a:xfrm rot="0">
            <a:off x="0" y="8933002"/>
            <a:ext cx="18290543" cy="1355093"/>
            <a:chOff x="0" y="0"/>
            <a:chExt cx="24387391" cy="1806791"/>
          </a:xfrm>
        </p:grpSpPr>
        <p:sp>
          <p:nvSpPr>
            <p:cNvPr name="Freeform 7" id="7"/>
            <p:cNvSpPr/>
            <p:nvPr/>
          </p:nvSpPr>
          <p:spPr>
            <a:xfrm flipH="false" flipV="false" rot="0">
              <a:off x="0" y="0"/>
              <a:ext cx="24386412" cy="1805559"/>
            </a:xfrm>
            <a:custGeom>
              <a:avLst/>
              <a:gdLst/>
              <a:ahLst/>
              <a:cxnLst/>
              <a:rect r="r" b="b" t="t" l="l"/>
              <a:pathLst>
                <a:path h="1805559" w="24386412">
                  <a:moveTo>
                    <a:pt x="24386412" y="1805559"/>
                  </a:moveTo>
                  <a:lnTo>
                    <a:pt x="0" y="1805559"/>
                  </a:lnTo>
                  <a:lnTo>
                    <a:pt x="0" y="0"/>
                  </a:lnTo>
                  <a:lnTo>
                    <a:pt x="24386412" y="0"/>
                  </a:lnTo>
                  <a:lnTo>
                    <a:pt x="24386412" y="1805559"/>
                  </a:lnTo>
                  <a:close/>
                </a:path>
              </a:pathLst>
            </a:custGeom>
            <a:solidFill>
              <a:srgbClr val="FEFEFE"/>
            </a:solidFill>
          </p:spPr>
        </p:sp>
      </p:grpSp>
      <p:grpSp>
        <p:nvGrpSpPr>
          <p:cNvPr name="Group 8" id="8"/>
          <p:cNvGrpSpPr/>
          <p:nvPr/>
        </p:nvGrpSpPr>
        <p:grpSpPr>
          <a:xfrm rot="0">
            <a:off x="11175011" y="-414942"/>
            <a:ext cx="6634658" cy="2036826"/>
            <a:chOff x="0" y="0"/>
            <a:chExt cx="1365156" cy="419100"/>
          </a:xfrm>
        </p:grpSpPr>
        <p:sp>
          <p:nvSpPr>
            <p:cNvPr name="Freeform 9" id="9"/>
            <p:cNvSpPr/>
            <p:nvPr/>
          </p:nvSpPr>
          <p:spPr>
            <a:xfrm flipH="false" flipV="false" rot="0">
              <a:off x="0" y="0"/>
              <a:ext cx="1365156" cy="419100"/>
            </a:xfrm>
            <a:custGeom>
              <a:avLst/>
              <a:gdLst/>
              <a:ahLst/>
              <a:cxnLst/>
              <a:rect r="r" b="b" t="t" l="l"/>
              <a:pathLst>
                <a:path h="419100" w="1365156">
                  <a:moveTo>
                    <a:pt x="62903" y="0"/>
                  </a:moveTo>
                  <a:lnTo>
                    <a:pt x="1302253" y="0"/>
                  </a:lnTo>
                  <a:cubicBezTo>
                    <a:pt x="1318936" y="0"/>
                    <a:pt x="1334936" y="6627"/>
                    <a:pt x="1346732" y="18424"/>
                  </a:cubicBezTo>
                  <a:cubicBezTo>
                    <a:pt x="1358529" y="30220"/>
                    <a:pt x="1365156" y="46220"/>
                    <a:pt x="1365156" y="62903"/>
                  </a:cubicBezTo>
                  <a:lnTo>
                    <a:pt x="1365156" y="356197"/>
                  </a:lnTo>
                  <a:cubicBezTo>
                    <a:pt x="1365156" y="372880"/>
                    <a:pt x="1358529" y="388880"/>
                    <a:pt x="1346732" y="400676"/>
                  </a:cubicBezTo>
                  <a:cubicBezTo>
                    <a:pt x="1334936" y="412473"/>
                    <a:pt x="1318936" y="419100"/>
                    <a:pt x="1302253" y="419100"/>
                  </a:cubicBezTo>
                  <a:lnTo>
                    <a:pt x="62903" y="419100"/>
                  </a:lnTo>
                  <a:cubicBezTo>
                    <a:pt x="46220" y="419100"/>
                    <a:pt x="30220" y="412473"/>
                    <a:pt x="18424" y="400676"/>
                  </a:cubicBezTo>
                  <a:cubicBezTo>
                    <a:pt x="6627" y="388880"/>
                    <a:pt x="0" y="372880"/>
                    <a:pt x="0" y="356197"/>
                  </a:cubicBezTo>
                  <a:lnTo>
                    <a:pt x="0" y="62903"/>
                  </a:lnTo>
                  <a:cubicBezTo>
                    <a:pt x="0" y="46220"/>
                    <a:pt x="6627" y="30220"/>
                    <a:pt x="18424" y="18424"/>
                  </a:cubicBezTo>
                  <a:cubicBezTo>
                    <a:pt x="30220" y="6627"/>
                    <a:pt x="46220" y="0"/>
                    <a:pt x="62903" y="0"/>
                  </a:cubicBezTo>
                  <a:close/>
                </a:path>
              </a:pathLst>
            </a:custGeom>
            <a:solidFill>
              <a:srgbClr val="FFFFFF"/>
            </a:solidFill>
          </p:spPr>
        </p:sp>
        <p:sp>
          <p:nvSpPr>
            <p:cNvPr name="TextBox 10" id="10"/>
            <p:cNvSpPr txBox="true"/>
            <p:nvPr/>
          </p:nvSpPr>
          <p:spPr>
            <a:xfrm>
              <a:off x="0" y="-9525"/>
              <a:ext cx="1365156" cy="428625"/>
            </a:xfrm>
            <a:prstGeom prst="rect">
              <a:avLst/>
            </a:prstGeom>
          </p:spPr>
          <p:txBody>
            <a:bodyPr anchor="ctr" rtlCol="false" tIns="50800" lIns="50800" bIns="50800" rIns="50800"/>
            <a:lstStyle/>
            <a:p>
              <a:pPr algn="ctr">
                <a:lnSpc>
                  <a:spcPts val="1919"/>
                </a:lnSpc>
              </a:pPr>
            </a:p>
          </p:txBody>
        </p:sp>
      </p:grpSp>
      <p:grpSp>
        <p:nvGrpSpPr>
          <p:cNvPr name="Group 11" id="11"/>
          <p:cNvGrpSpPr/>
          <p:nvPr/>
        </p:nvGrpSpPr>
        <p:grpSpPr>
          <a:xfrm rot="0">
            <a:off x="573776" y="-296735"/>
            <a:ext cx="1849741" cy="2036826"/>
            <a:chOff x="0" y="0"/>
            <a:chExt cx="380605" cy="419100"/>
          </a:xfrm>
        </p:grpSpPr>
        <p:sp>
          <p:nvSpPr>
            <p:cNvPr name="Freeform 12" id="12"/>
            <p:cNvSpPr/>
            <p:nvPr/>
          </p:nvSpPr>
          <p:spPr>
            <a:xfrm flipH="false" flipV="false" rot="0">
              <a:off x="0" y="0"/>
              <a:ext cx="380605" cy="419100"/>
            </a:xfrm>
            <a:custGeom>
              <a:avLst/>
              <a:gdLst/>
              <a:ahLst/>
              <a:cxnLst/>
              <a:rect r="r" b="b" t="t" l="l"/>
              <a:pathLst>
                <a:path h="419100" w="380605">
                  <a:moveTo>
                    <a:pt x="160223" y="0"/>
                  </a:moveTo>
                  <a:lnTo>
                    <a:pt x="220382" y="0"/>
                  </a:lnTo>
                  <a:cubicBezTo>
                    <a:pt x="262876" y="0"/>
                    <a:pt x="303629" y="16881"/>
                    <a:pt x="333677" y="46928"/>
                  </a:cubicBezTo>
                  <a:cubicBezTo>
                    <a:pt x="363725" y="76976"/>
                    <a:pt x="380605" y="117729"/>
                    <a:pt x="380605" y="160223"/>
                  </a:cubicBezTo>
                  <a:lnTo>
                    <a:pt x="380605" y="258877"/>
                  </a:lnTo>
                  <a:cubicBezTo>
                    <a:pt x="380605" y="347366"/>
                    <a:pt x="308871" y="419100"/>
                    <a:pt x="220382" y="419100"/>
                  </a:cubicBezTo>
                  <a:lnTo>
                    <a:pt x="160223" y="419100"/>
                  </a:lnTo>
                  <a:cubicBezTo>
                    <a:pt x="117729" y="419100"/>
                    <a:pt x="76976" y="402219"/>
                    <a:pt x="46928" y="372172"/>
                  </a:cubicBezTo>
                  <a:cubicBezTo>
                    <a:pt x="16881" y="342124"/>
                    <a:pt x="0" y="301371"/>
                    <a:pt x="0" y="258877"/>
                  </a:cubicBezTo>
                  <a:lnTo>
                    <a:pt x="0" y="160223"/>
                  </a:lnTo>
                  <a:cubicBezTo>
                    <a:pt x="0" y="117729"/>
                    <a:pt x="16881" y="76976"/>
                    <a:pt x="46928" y="46928"/>
                  </a:cubicBezTo>
                  <a:cubicBezTo>
                    <a:pt x="76976" y="16881"/>
                    <a:pt x="117729" y="0"/>
                    <a:pt x="160223" y="0"/>
                  </a:cubicBezTo>
                  <a:close/>
                </a:path>
              </a:pathLst>
            </a:custGeom>
            <a:solidFill>
              <a:srgbClr val="FFFFFF"/>
            </a:solidFill>
          </p:spPr>
        </p:sp>
        <p:sp>
          <p:nvSpPr>
            <p:cNvPr name="TextBox 13" id="13"/>
            <p:cNvSpPr txBox="true"/>
            <p:nvPr/>
          </p:nvSpPr>
          <p:spPr>
            <a:xfrm>
              <a:off x="0" y="-9525"/>
              <a:ext cx="380605" cy="428625"/>
            </a:xfrm>
            <a:prstGeom prst="rect">
              <a:avLst/>
            </a:prstGeom>
          </p:spPr>
          <p:txBody>
            <a:bodyPr anchor="ctr" rtlCol="false" tIns="50800" lIns="50800" bIns="50800" rIns="50800"/>
            <a:lstStyle/>
            <a:p>
              <a:pPr algn="ctr">
                <a:lnSpc>
                  <a:spcPts val="1919"/>
                </a:lnSpc>
              </a:pPr>
            </a:p>
          </p:txBody>
        </p:sp>
      </p:grpSp>
      <p:sp>
        <p:nvSpPr>
          <p:cNvPr name="Freeform 14" id="14"/>
          <p:cNvSpPr/>
          <p:nvPr/>
        </p:nvSpPr>
        <p:spPr>
          <a:xfrm flipH="false" flipV="false" rot="0">
            <a:off x="728989" y="82568"/>
            <a:ext cx="1539316" cy="1539316"/>
          </a:xfrm>
          <a:custGeom>
            <a:avLst/>
            <a:gdLst/>
            <a:ahLst/>
            <a:cxnLst/>
            <a:rect r="r" b="b" t="t" l="l"/>
            <a:pathLst>
              <a:path h="1539316" w="1539316">
                <a:moveTo>
                  <a:pt x="0" y="0"/>
                </a:moveTo>
                <a:lnTo>
                  <a:pt x="1539316" y="0"/>
                </a:lnTo>
                <a:lnTo>
                  <a:pt x="1539316" y="1539316"/>
                </a:lnTo>
                <a:lnTo>
                  <a:pt x="0" y="1539316"/>
                </a:lnTo>
                <a:lnTo>
                  <a:pt x="0" y="0"/>
                </a:lnTo>
                <a:close/>
              </a:path>
            </a:pathLst>
          </a:custGeom>
          <a:blipFill>
            <a:blip r:embed="rId3"/>
            <a:stretch>
              <a:fillRect l="0" t="0" r="0" b="0"/>
            </a:stretch>
          </a:blipFill>
        </p:spPr>
      </p:sp>
      <p:sp>
        <p:nvSpPr>
          <p:cNvPr name="Freeform 15" id="15"/>
          <p:cNvSpPr/>
          <p:nvPr/>
        </p:nvSpPr>
        <p:spPr>
          <a:xfrm flipH="false" flipV="false" rot="0">
            <a:off x="10745656" y="-3025007"/>
            <a:ext cx="7493369" cy="7493369"/>
          </a:xfrm>
          <a:custGeom>
            <a:avLst/>
            <a:gdLst/>
            <a:ahLst/>
            <a:cxnLst/>
            <a:rect r="r" b="b" t="t" l="l"/>
            <a:pathLst>
              <a:path h="7493369" w="7493369">
                <a:moveTo>
                  <a:pt x="0" y="0"/>
                </a:moveTo>
                <a:lnTo>
                  <a:pt x="7493369" y="0"/>
                </a:lnTo>
                <a:lnTo>
                  <a:pt x="7493369" y="7493369"/>
                </a:lnTo>
                <a:lnTo>
                  <a:pt x="0" y="7493369"/>
                </a:lnTo>
                <a:lnTo>
                  <a:pt x="0" y="0"/>
                </a:lnTo>
                <a:close/>
              </a:path>
            </a:pathLst>
          </a:custGeom>
          <a:blipFill>
            <a:blip r:embed="rId4"/>
            <a:stretch>
              <a:fillRect l="0" t="0" r="0" b="0"/>
            </a:stretch>
          </a:blipFill>
        </p:spPr>
      </p:sp>
      <p:sp>
        <p:nvSpPr>
          <p:cNvPr name="TextBox 16" id="16"/>
          <p:cNvSpPr txBox="true"/>
          <p:nvPr/>
        </p:nvSpPr>
        <p:spPr>
          <a:xfrm rot="0">
            <a:off x="1438668" y="3268075"/>
            <a:ext cx="14496289" cy="1676400"/>
          </a:xfrm>
          <a:prstGeom prst="rect">
            <a:avLst/>
          </a:prstGeom>
        </p:spPr>
        <p:txBody>
          <a:bodyPr anchor="t" rtlCol="false" tIns="0" lIns="0" bIns="0" rIns="0">
            <a:spAutoFit/>
          </a:bodyPr>
          <a:lstStyle/>
          <a:p>
            <a:pPr algn="ctr">
              <a:lnSpc>
                <a:spcPts val="6602"/>
              </a:lnSpc>
            </a:pPr>
            <a:r>
              <a:rPr lang="en-US" b="true" sz="5501" spc="-176">
                <a:solidFill>
                  <a:srgbClr val="FFD3D1"/>
                </a:solidFill>
                <a:latin typeface="DM Sans Bold"/>
                <a:ea typeface="DM Sans Bold"/>
                <a:cs typeface="DM Sans Bold"/>
                <a:sym typeface="DM Sans Bold"/>
              </a:rPr>
              <a:t>AI Voice Assistant </a:t>
            </a:r>
            <a:r>
              <a:rPr lang="en-US" b="true" sz="5501" spc="-176">
                <a:solidFill>
                  <a:srgbClr val="FFFFFF"/>
                </a:solidFill>
                <a:latin typeface="DM Sans Bold"/>
                <a:ea typeface="DM Sans Bold"/>
                <a:cs typeface="DM Sans Bold"/>
                <a:sym typeface="DM Sans Bold"/>
              </a:rPr>
              <a:t>Untuk</a:t>
            </a:r>
            <a:r>
              <a:rPr lang="en-US" b="true" sz="5501" spc="-176">
                <a:solidFill>
                  <a:srgbClr val="FEFEFE"/>
                </a:solidFill>
                <a:latin typeface="DM Sans Bold"/>
                <a:ea typeface="DM Sans Bold"/>
                <a:cs typeface="DM Sans Bold"/>
                <a:sym typeface="DM Sans Bold"/>
              </a:rPr>
              <a:t> Layanan Informasi Coretax</a:t>
            </a:r>
          </a:p>
        </p:txBody>
      </p:sp>
      <p:sp>
        <p:nvSpPr>
          <p:cNvPr name="TextBox 17" id="17"/>
          <p:cNvSpPr txBox="true"/>
          <p:nvPr/>
        </p:nvSpPr>
        <p:spPr>
          <a:xfrm rot="0">
            <a:off x="275050" y="9182234"/>
            <a:ext cx="9327758" cy="857250"/>
          </a:xfrm>
          <a:prstGeom prst="rect">
            <a:avLst/>
          </a:prstGeom>
        </p:spPr>
        <p:txBody>
          <a:bodyPr anchor="t" rtlCol="false" tIns="0" lIns="0" bIns="0" rIns="0">
            <a:spAutoFit/>
          </a:bodyPr>
          <a:lstStyle/>
          <a:p>
            <a:pPr algn="just">
              <a:lnSpc>
                <a:spcPts val="2302"/>
              </a:lnSpc>
            </a:pPr>
            <a:r>
              <a:rPr lang="en-US" b="true" sz="1918" spc="1">
                <a:solidFill>
                  <a:srgbClr val="000000"/>
                </a:solidFill>
                <a:latin typeface="DM Sans Bold"/>
                <a:ea typeface="DM Sans Bold"/>
                <a:cs typeface="DM Sans Bold"/>
                <a:sym typeface="DM Sans Bold"/>
              </a:rPr>
              <a:t>Dosen Pengampu: Dr. Indra Kharisma Raharjana S.Kom., M.T</a:t>
            </a:r>
          </a:p>
          <a:p>
            <a:pPr algn="just">
              <a:lnSpc>
                <a:spcPts val="2302"/>
              </a:lnSpc>
            </a:pPr>
            <a:r>
              <a:rPr lang="en-US" sz="1918" spc="1">
                <a:solidFill>
                  <a:srgbClr val="000000"/>
                </a:solidFill>
                <a:latin typeface="DM Sans"/>
                <a:ea typeface="DM Sans"/>
                <a:cs typeface="DM Sans"/>
                <a:sym typeface="DM Sans"/>
              </a:rPr>
              <a:t>Departemen Matematika, Fakultas Sains Dan Teknologi</a:t>
            </a:r>
          </a:p>
          <a:p>
            <a:pPr algn="just">
              <a:lnSpc>
                <a:spcPts val="2302"/>
              </a:lnSpc>
            </a:pPr>
            <a:r>
              <a:rPr lang="en-US" b="true" sz="1918" spc="1">
                <a:solidFill>
                  <a:srgbClr val="000000"/>
                </a:solidFill>
                <a:latin typeface="DM Sans Bold"/>
                <a:ea typeface="DM Sans Bold"/>
                <a:cs typeface="DM Sans Bold"/>
                <a:sym typeface="DM Sans Bold"/>
              </a:rPr>
              <a:t>S1 Sitem Informasi</a:t>
            </a:r>
          </a:p>
        </p:txBody>
      </p:sp>
      <p:sp>
        <p:nvSpPr>
          <p:cNvPr name="TextBox 18" id="18"/>
          <p:cNvSpPr txBox="true"/>
          <p:nvPr/>
        </p:nvSpPr>
        <p:spPr>
          <a:xfrm rot="0">
            <a:off x="12829312" y="9362899"/>
            <a:ext cx="2387603" cy="485775"/>
          </a:xfrm>
          <a:prstGeom prst="rect">
            <a:avLst/>
          </a:prstGeom>
        </p:spPr>
        <p:txBody>
          <a:bodyPr anchor="t" rtlCol="false" tIns="0" lIns="0" bIns="0" rIns="0">
            <a:spAutoFit/>
          </a:bodyPr>
          <a:lstStyle/>
          <a:p>
            <a:pPr algn="ctr">
              <a:lnSpc>
                <a:spcPts val="1919"/>
              </a:lnSpc>
            </a:pPr>
            <a:r>
              <a:rPr lang="en-US" b="true" sz="1599" spc="-49">
                <a:solidFill>
                  <a:srgbClr val="000000"/>
                </a:solidFill>
                <a:latin typeface="DM Sans Bold"/>
                <a:ea typeface="DM Sans Bold"/>
                <a:cs typeface="DM Sans Bold"/>
                <a:sym typeface="DM Sans Bold"/>
              </a:rPr>
              <a:t>Kevin Brawijaya</a:t>
            </a:r>
          </a:p>
          <a:p>
            <a:pPr algn="ctr">
              <a:lnSpc>
                <a:spcPts val="1919"/>
              </a:lnSpc>
            </a:pPr>
            <a:r>
              <a:rPr lang="en-US" sz="1599" spc="-49">
                <a:solidFill>
                  <a:srgbClr val="000000"/>
                </a:solidFill>
                <a:latin typeface="DM Sans"/>
                <a:ea typeface="DM Sans"/>
                <a:cs typeface="DM Sans"/>
                <a:sym typeface="DM Sans"/>
              </a:rPr>
              <a:t>187241103</a:t>
            </a:r>
          </a:p>
        </p:txBody>
      </p:sp>
      <p:sp>
        <p:nvSpPr>
          <p:cNvPr name="TextBox 19" id="19"/>
          <p:cNvSpPr txBox="true"/>
          <p:nvPr/>
        </p:nvSpPr>
        <p:spPr>
          <a:xfrm rot="0">
            <a:off x="3472367" y="5784685"/>
            <a:ext cx="11343266" cy="499063"/>
          </a:xfrm>
          <a:prstGeom prst="rect">
            <a:avLst/>
          </a:prstGeom>
        </p:spPr>
        <p:txBody>
          <a:bodyPr anchor="t" rtlCol="false" tIns="0" lIns="0" bIns="0" rIns="0">
            <a:spAutoFit/>
          </a:bodyPr>
          <a:lstStyle/>
          <a:p>
            <a:pPr algn="ctr">
              <a:lnSpc>
                <a:spcPts val="3866"/>
              </a:lnSpc>
            </a:pPr>
            <a:r>
              <a:rPr lang="en-US" b="true" sz="3222" spc="-103">
                <a:solidFill>
                  <a:srgbClr val="FFFFFF"/>
                </a:solidFill>
                <a:latin typeface="DM Sans Bold"/>
                <a:ea typeface="DM Sans Bold"/>
                <a:cs typeface="DM Sans Bold"/>
                <a:sym typeface="DM Sans Bold"/>
              </a:rPr>
              <a:t>PROJECT IDEA - Pengembangan Perangkat Lunak</a:t>
            </a:r>
          </a:p>
        </p:txBody>
      </p:sp>
      <p:sp>
        <p:nvSpPr>
          <p:cNvPr name="TextBox 20" id="20"/>
          <p:cNvSpPr txBox="true"/>
          <p:nvPr/>
        </p:nvSpPr>
        <p:spPr>
          <a:xfrm rot="0">
            <a:off x="15564895" y="9362899"/>
            <a:ext cx="2387603" cy="485775"/>
          </a:xfrm>
          <a:prstGeom prst="rect">
            <a:avLst/>
          </a:prstGeom>
        </p:spPr>
        <p:txBody>
          <a:bodyPr anchor="t" rtlCol="false" tIns="0" lIns="0" bIns="0" rIns="0">
            <a:spAutoFit/>
          </a:bodyPr>
          <a:lstStyle/>
          <a:p>
            <a:pPr algn="ctr">
              <a:lnSpc>
                <a:spcPts val="1919"/>
              </a:lnSpc>
            </a:pPr>
            <a:r>
              <a:rPr lang="en-US" b="true" sz="1599" spc="-49">
                <a:solidFill>
                  <a:srgbClr val="000000"/>
                </a:solidFill>
                <a:latin typeface="DM Sans Bold"/>
                <a:ea typeface="DM Sans Bold"/>
                <a:cs typeface="DM Sans Bold"/>
                <a:sym typeface="DM Sans Bold"/>
              </a:rPr>
              <a:t>Thoriq Rafi Al Bani</a:t>
            </a:r>
          </a:p>
          <a:p>
            <a:pPr algn="ctr">
              <a:lnSpc>
                <a:spcPts val="1919"/>
              </a:lnSpc>
            </a:pPr>
            <a:r>
              <a:rPr lang="en-US" sz="1599" spc="-49">
                <a:solidFill>
                  <a:srgbClr val="000000"/>
                </a:solidFill>
                <a:latin typeface="DM Sans"/>
                <a:ea typeface="DM Sans"/>
                <a:cs typeface="DM Sans"/>
                <a:sym typeface="DM Sans"/>
              </a:rPr>
              <a:t>187241092</a:t>
            </a:r>
          </a:p>
        </p:txBody>
      </p:sp>
      <p:sp>
        <p:nvSpPr>
          <p:cNvPr name="TextBox 21" id="21"/>
          <p:cNvSpPr txBox="true"/>
          <p:nvPr/>
        </p:nvSpPr>
        <p:spPr>
          <a:xfrm rot="0">
            <a:off x="720626" y="5070852"/>
            <a:ext cx="16846749" cy="466725"/>
          </a:xfrm>
          <a:prstGeom prst="rect">
            <a:avLst/>
          </a:prstGeom>
        </p:spPr>
        <p:txBody>
          <a:bodyPr anchor="t" rtlCol="false" tIns="0" lIns="0" bIns="0" rIns="0">
            <a:spAutoFit/>
          </a:bodyPr>
          <a:lstStyle/>
          <a:p>
            <a:pPr algn="ctr">
              <a:lnSpc>
                <a:spcPts val="3600"/>
              </a:lnSpc>
            </a:pPr>
            <a:r>
              <a:rPr lang="en-US" b="true" sz="3000" spc="-96">
                <a:solidFill>
                  <a:srgbClr val="FFFFFF"/>
                </a:solidFill>
                <a:latin typeface="DM Sans Bold"/>
                <a:ea typeface="DM Sans Bold"/>
                <a:cs typeface="DM Sans Bold"/>
                <a:sym typeface="DM Sans Bold"/>
              </a:rPr>
              <a:t>Perancangan</a:t>
            </a:r>
            <a:r>
              <a:rPr lang="en-US" b="true" sz="3000" spc="-96">
                <a:solidFill>
                  <a:srgbClr val="FFFFFF"/>
                </a:solidFill>
                <a:latin typeface="DM Sans Bold"/>
                <a:ea typeface="DM Sans Bold"/>
                <a:cs typeface="DM Sans Bold"/>
                <a:sym typeface="DM Sans Bold"/>
              </a:rPr>
              <a:t> Layana</a:t>
            </a:r>
            <a:r>
              <a:rPr lang="en-US" b="true" sz="3000" spc="-96">
                <a:solidFill>
                  <a:srgbClr val="FFFFFF"/>
                </a:solidFill>
                <a:latin typeface="DM Sans Bold"/>
                <a:ea typeface="DM Sans Bold"/>
                <a:cs typeface="DM Sans Bold"/>
                <a:sym typeface="DM Sans Bold"/>
              </a:rPr>
              <a:t>n Informasi Berbasis Artificial Intelligence pada Platform Coretax DJP</a:t>
            </a:r>
          </a:p>
        </p:txBody>
      </p:sp>
      <p:sp>
        <p:nvSpPr>
          <p:cNvPr name="TextBox 22" id="22"/>
          <p:cNvSpPr txBox="true"/>
          <p:nvPr/>
        </p:nvSpPr>
        <p:spPr>
          <a:xfrm rot="0">
            <a:off x="10158185" y="9362899"/>
            <a:ext cx="2387603" cy="485775"/>
          </a:xfrm>
          <a:prstGeom prst="rect">
            <a:avLst/>
          </a:prstGeom>
        </p:spPr>
        <p:txBody>
          <a:bodyPr anchor="t" rtlCol="false" tIns="0" lIns="0" bIns="0" rIns="0">
            <a:spAutoFit/>
          </a:bodyPr>
          <a:lstStyle/>
          <a:p>
            <a:pPr algn="ctr">
              <a:lnSpc>
                <a:spcPts val="1919"/>
              </a:lnSpc>
            </a:pPr>
            <a:r>
              <a:rPr lang="en-US" b="true" sz="1599" spc="-49">
                <a:solidFill>
                  <a:srgbClr val="000000"/>
                </a:solidFill>
                <a:latin typeface="DM Sans Bold"/>
                <a:ea typeface="DM Sans Bold"/>
                <a:cs typeface="DM Sans Bold"/>
                <a:sym typeface="DM Sans Bold"/>
              </a:rPr>
              <a:t>Adrian Faishal Hilmy</a:t>
            </a:r>
          </a:p>
          <a:p>
            <a:pPr algn="ctr">
              <a:lnSpc>
                <a:spcPts val="1919"/>
              </a:lnSpc>
            </a:pPr>
            <a:r>
              <a:rPr lang="en-US" sz="1599" spc="-49">
                <a:solidFill>
                  <a:srgbClr val="000000"/>
                </a:solidFill>
                <a:latin typeface="DM Sans"/>
                <a:ea typeface="DM Sans"/>
                <a:cs typeface="DM Sans"/>
                <a:sym typeface="DM Sans"/>
              </a:rPr>
              <a:t>187241089</a:t>
            </a:r>
          </a:p>
        </p:txBody>
      </p:sp>
      <p:sp>
        <p:nvSpPr>
          <p:cNvPr name="TextBox 23" id="23"/>
          <p:cNvSpPr txBox="true"/>
          <p:nvPr/>
        </p:nvSpPr>
        <p:spPr>
          <a:xfrm rot="0">
            <a:off x="7493011" y="9362899"/>
            <a:ext cx="2387603" cy="485775"/>
          </a:xfrm>
          <a:prstGeom prst="rect">
            <a:avLst/>
          </a:prstGeom>
        </p:spPr>
        <p:txBody>
          <a:bodyPr anchor="t" rtlCol="false" tIns="0" lIns="0" bIns="0" rIns="0">
            <a:spAutoFit/>
          </a:bodyPr>
          <a:lstStyle/>
          <a:p>
            <a:pPr algn="ctr">
              <a:lnSpc>
                <a:spcPts val="1919"/>
              </a:lnSpc>
            </a:pPr>
            <a:r>
              <a:rPr lang="en-US" b="true" sz="1599" spc="-49">
                <a:solidFill>
                  <a:srgbClr val="000000"/>
                </a:solidFill>
                <a:latin typeface="DM Sans Bold"/>
                <a:ea typeface="DM Sans Bold"/>
                <a:cs typeface="DM Sans Bold"/>
                <a:sym typeface="DM Sans Bold"/>
              </a:rPr>
              <a:t>Muhammad Hariz</a:t>
            </a:r>
          </a:p>
          <a:p>
            <a:pPr algn="ctr">
              <a:lnSpc>
                <a:spcPts val="1919"/>
              </a:lnSpc>
            </a:pPr>
            <a:r>
              <a:rPr lang="en-US" sz="1599" spc="-49">
                <a:solidFill>
                  <a:srgbClr val="000000"/>
                </a:solidFill>
                <a:latin typeface="DM Sans"/>
                <a:ea typeface="DM Sans"/>
                <a:cs typeface="DM Sans"/>
                <a:sym typeface="DM Sans"/>
              </a:rPr>
              <a:t>18724011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98238" y="1673189"/>
            <a:ext cx="16957479" cy="1846169"/>
            <a:chOff x="0" y="0"/>
            <a:chExt cx="3489193" cy="379870"/>
          </a:xfrm>
        </p:grpSpPr>
        <p:sp>
          <p:nvSpPr>
            <p:cNvPr name="Freeform 3" id="3"/>
            <p:cNvSpPr/>
            <p:nvPr/>
          </p:nvSpPr>
          <p:spPr>
            <a:xfrm flipH="false" flipV="false" rot="0">
              <a:off x="0" y="0"/>
              <a:ext cx="3489193" cy="379870"/>
            </a:xfrm>
            <a:custGeom>
              <a:avLst/>
              <a:gdLst/>
              <a:ahLst/>
              <a:cxnLst/>
              <a:rect r="r" b="b" t="t" l="l"/>
              <a:pathLst>
                <a:path h="379870" w="3489193">
                  <a:moveTo>
                    <a:pt x="8917" y="0"/>
                  </a:moveTo>
                  <a:lnTo>
                    <a:pt x="3480276" y="0"/>
                  </a:lnTo>
                  <a:cubicBezTo>
                    <a:pt x="3485201" y="0"/>
                    <a:pt x="3489193" y="3992"/>
                    <a:pt x="3489193" y="8917"/>
                  </a:cubicBezTo>
                  <a:lnTo>
                    <a:pt x="3489193" y="370953"/>
                  </a:lnTo>
                  <a:cubicBezTo>
                    <a:pt x="3489193" y="373318"/>
                    <a:pt x="3488254" y="375586"/>
                    <a:pt x="3486581" y="377258"/>
                  </a:cubicBezTo>
                  <a:cubicBezTo>
                    <a:pt x="3484909" y="378931"/>
                    <a:pt x="3482641" y="379870"/>
                    <a:pt x="3480276" y="379870"/>
                  </a:cubicBezTo>
                  <a:lnTo>
                    <a:pt x="8917" y="379870"/>
                  </a:lnTo>
                  <a:cubicBezTo>
                    <a:pt x="3992" y="379870"/>
                    <a:pt x="0" y="375878"/>
                    <a:pt x="0" y="370953"/>
                  </a:cubicBezTo>
                  <a:lnTo>
                    <a:pt x="0" y="8917"/>
                  </a:lnTo>
                  <a:cubicBezTo>
                    <a:pt x="0" y="3992"/>
                    <a:pt x="3992" y="0"/>
                    <a:pt x="8917" y="0"/>
                  </a:cubicBezTo>
                  <a:close/>
                </a:path>
              </a:pathLst>
            </a:custGeom>
            <a:ln w="28575" cap="rnd">
              <a:solidFill>
                <a:srgbClr val="9A2F2B"/>
              </a:solidFill>
              <a:prstDash val="solid"/>
              <a:round/>
            </a:ln>
          </p:spPr>
        </p:sp>
        <p:sp>
          <p:nvSpPr>
            <p:cNvPr name="TextBox 4" id="4"/>
            <p:cNvSpPr txBox="true"/>
            <p:nvPr/>
          </p:nvSpPr>
          <p:spPr>
            <a:xfrm>
              <a:off x="0" y="-9525"/>
              <a:ext cx="3489193" cy="389395"/>
            </a:xfrm>
            <a:prstGeom prst="rect">
              <a:avLst/>
            </a:prstGeom>
          </p:spPr>
          <p:txBody>
            <a:bodyPr anchor="ctr" rtlCol="false" tIns="50800" lIns="50800" bIns="50800" rIns="50800"/>
            <a:lstStyle/>
            <a:p>
              <a:pPr algn="ctr">
                <a:lnSpc>
                  <a:spcPts val="1919"/>
                </a:lnSpc>
              </a:pPr>
            </a:p>
          </p:txBody>
        </p:sp>
      </p:grpSp>
      <p:grpSp>
        <p:nvGrpSpPr>
          <p:cNvPr name="Group 5" id="5"/>
          <p:cNvGrpSpPr/>
          <p:nvPr/>
        </p:nvGrpSpPr>
        <p:grpSpPr>
          <a:xfrm rot="0">
            <a:off x="498238" y="3995264"/>
            <a:ext cx="13524142" cy="1846169"/>
            <a:chOff x="0" y="0"/>
            <a:chExt cx="2782745" cy="379870"/>
          </a:xfrm>
        </p:grpSpPr>
        <p:sp>
          <p:nvSpPr>
            <p:cNvPr name="Freeform 6" id="6"/>
            <p:cNvSpPr/>
            <p:nvPr/>
          </p:nvSpPr>
          <p:spPr>
            <a:xfrm flipH="false" flipV="false" rot="0">
              <a:off x="0" y="0"/>
              <a:ext cx="2782745" cy="379870"/>
            </a:xfrm>
            <a:custGeom>
              <a:avLst/>
              <a:gdLst/>
              <a:ahLst/>
              <a:cxnLst/>
              <a:rect r="r" b="b" t="t" l="l"/>
              <a:pathLst>
                <a:path h="379870" w="2782745">
                  <a:moveTo>
                    <a:pt x="11181" y="0"/>
                  </a:moveTo>
                  <a:lnTo>
                    <a:pt x="2771565" y="0"/>
                  </a:lnTo>
                  <a:cubicBezTo>
                    <a:pt x="2774530" y="0"/>
                    <a:pt x="2777374" y="1178"/>
                    <a:pt x="2779470" y="3275"/>
                  </a:cubicBezTo>
                  <a:cubicBezTo>
                    <a:pt x="2781567" y="5372"/>
                    <a:pt x="2782745" y="8215"/>
                    <a:pt x="2782745" y="11181"/>
                  </a:cubicBezTo>
                  <a:lnTo>
                    <a:pt x="2782745" y="368689"/>
                  </a:lnTo>
                  <a:cubicBezTo>
                    <a:pt x="2782745" y="371655"/>
                    <a:pt x="2781567" y="374499"/>
                    <a:pt x="2779470" y="376595"/>
                  </a:cubicBezTo>
                  <a:cubicBezTo>
                    <a:pt x="2777374" y="378692"/>
                    <a:pt x="2774530" y="379870"/>
                    <a:pt x="2771565" y="379870"/>
                  </a:cubicBezTo>
                  <a:lnTo>
                    <a:pt x="11181" y="379870"/>
                  </a:lnTo>
                  <a:cubicBezTo>
                    <a:pt x="8215" y="379870"/>
                    <a:pt x="5372" y="378692"/>
                    <a:pt x="3275" y="376595"/>
                  </a:cubicBezTo>
                  <a:cubicBezTo>
                    <a:pt x="1178" y="374499"/>
                    <a:pt x="0" y="371655"/>
                    <a:pt x="0" y="368689"/>
                  </a:cubicBezTo>
                  <a:lnTo>
                    <a:pt x="0" y="11181"/>
                  </a:lnTo>
                  <a:cubicBezTo>
                    <a:pt x="0" y="8215"/>
                    <a:pt x="1178" y="5372"/>
                    <a:pt x="3275" y="3275"/>
                  </a:cubicBezTo>
                  <a:cubicBezTo>
                    <a:pt x="5372" y="1178"/>
                    <a:pt x="8215" y="0"/>
                    <a:pt x="11181" y="0"/>
                  </a:cubicBezTo>
                  <a:close/>
                </a:path>
              </a:pathLst>
            </a:custGeom>
            <a:ln w="28575" cap="rnd">
              <a:solidFill>
                <a:srgbClr val="9A2F2B"/>
              </a:solidFill>
              <a:prstDash val="solid"/>
              <a:round/>
            </a:ln>
          </p:spPr>
        </p:sp>
        <p:sp>
          <p:nvSpPr>
            <p:cNvPr name="TextBox 7" id="7"/>
            <p:cNvSpPr txBox="true"/>
            <p:nvPr/>
          </p:nvSpPr>
          <p:spPr>
            <a:xfrm>
              <a:off x="0" y="-9525"/>
              <a:ext cx="2782745" cy="389395"/>
            </a:xfrm>
            <a:prstGeom prst="rect">
              <a:avLst/>
            </a:prstGeom>
          </p:spPr>
          <p:txBody>
            <a:bodyPr anchor="ctr" rtlCol="false" tIns="50800" lIns="50800" bIns="50800" rIns="50800"/>
            <a:lstStyle/>
            <a:p>
              <a:pPr algn="ctr">
                <a:lnSpc>
                  <a:spcPts val="1919"/>
                </a:lnSpc>
              </a:pPr>
            </a:p>
          </p:txBody>
        </p:sp>
      </p:grpSp>
      <p:sp>
        <p:nvSpPr>
          <p:cNvPr name="TextBox 8" id="8"/>
          <p:cNvSpPr txBox="true"/>
          <p:nvPr/>
        </p:nvSpPr>
        <p:spPr>
          <a:xfrm rot="0">
            <a:off x="598543" y="1567652"/>
            <a:ext cx="7148320" cy="304800"/>
          </a:xfrm>
          <a:prstGeom prst="rect">
            <a:avLst/>
          </a:prstGeom>
        </p:spPr>
        <p:txBody>
          <a:bodyPr anchor="t" rtlCol="false" tIns="0" lIns="0" bIns="0" rIns="0">
            <a:spAutoFit/>
          </a:bodyPr>
          <a:lstStyle/>
          <a:p>
            <a:pPr algn="l">
              <a:lnSpc>
                <a:spcPts val="2426"/>
              </a:lnSpc>
              <a:spcBef>
                <a:spcPct val="0"/>
              </a:spcBef>
            </a:pPr>
            <a:r>
              <a:rPr lang="en-US" b="true" sz="2022" spc="-63">
                <a:solidFill>
                  <a:srgbClr val="FFFFFF"/>
                </a:solidFill>
                <a:latin typeface="DM Sans Bold"/>
                <a:ea typeface="DM Sans Bold"/>
                <a:cs typeface="DM Sans Bold"/>
                <a:sym typeface="DM Sans Bold"/>
              </a:rPr>
              <a:t>Latar Belakang</a:t>
            </a:r>
          </a:p>
        </p:txBody>
      </p:sp>
      <p:sp>
        <p:nvSpPr>
          <p:cNvPr name="Freeform 9" id="9"/>
          <p:cNvSpPr/>
          <p:nvPr/>
        </p:nvSpPr>
        <p:spPr>
          <a:xfrm flipH="false" flipV="false" rot="0">
            <a:off x="255030" y="-59597"/>
            <a:ext cx="773670" cy="1627249"/>
          </a:xfrm>
          <a:custGeom>
            <a:avLst/>
            <a:gdLst/>
            <a:ahLst/>
            <a:cxnLst/>
            <a:rect r="r" b="b" t="t" l="l"/>
            <a:pathLst>
              <a:path h="1627249" w="773670">
                <a:moveTo>
                  <a:pt x="0" y="0"/>
                </a:moveTo>
                <a:lnTo>
                  <a:pt x="773670" y="0"/>
                </a:lnTo>
                <a:lnTo>
                  <a:pt x="773670" y="1627249"/>
                </a:lnTo>
                <a:lnTo>
                  <a:pt x="0" y="1627249"/>
                </a:lnTo>
                <a:lnTo>
                  <a:pt x="0" y="0"/>
                </a:lnTo>
                <a:close/>
              </a:path>
            </a:pathLst>
          </a:custGeom>
          <a:blipFill>
            <a:blip r:embed="rId2">
              <a:extLst>
                <a:ext uri="{96DAC541-7B7A-43D3-8B79-37D633B846F1}">
                  <asvg:svgBlip xmlns:asvg="http://schemas.microsoft.com/office/drawing/2016/SVG/main" r:embed="rId3"/>
                </a:ext>
              </a:extLst>
            </a:blip>
            <a:stretch>
              <a:fillRect l="0" t="0" r="-1757981" b="0"/>
            </a:stretch>
          </a:blipFill>
        </p:spPr>
      </p:sp>
      <p:sp>
        <p:nvSpPr>
          <p:cNvPr name="TextBox 10" id="10"/>
          <p:cNvSpPr txBox="true"/>
          <p:nvPr/>
        </p:nvSpPr>
        <p:spPr>
          <a:xfrm rot="0">
            <a:off x="634375" y="1946627"/>
            <a:ext cx="16685206" cy="1657350"/>
          </a:xfrm>
          <a:prstGeom prst="rect">
            <a:avLst/>
          </a:prstGeom>
        </p:spPr>
        <p:txBody>
          <a:bodyPr anchor="t" rtlCol="false" tIns="0" lIns="0" bIns="0" rIns="0">
            <a:spAutoFit/>
          </a:bodyPr>
          <a:lstStyle/>
          <a:p>
            <a:pPr algn="just">
              <a:lnSpc>
                <a:spcPts val="2204"/>
              </a:lnSpc>
              <a:spcBef>
                <a:spcPct val="0"/>
              </a:spcBef>
            </a:pPr>
            <a:r>
              <a:rPr lang="en-US" sz="1837" spc="-56">
                <a:solidFill>
                  <a:srgbClr val="000000"/>
                </a:solidFill>
                <a:latin typeface="DM Sans"/>
                <a:ea typeface="DM Sans"/>
                <a:cs typeface="DM Sans"/>
                <a:sym typeface="DM Sans"/>
              </a:rPr>
              <a:t>Coretax DJP sebagai platform administrasi perpajakan digital menyediakan berbagai layanan yang berkaitan dengan administrasi perpajakan. Dalam penggunaannya, masyarakat dapat menghad</a:t>
            </a:r>
            <a:r>
              <a:rPr lang="en-US" sz="1837" spc="-56">
                <a:solidFill>
                  <a:srgbClr val="000000"/>
                </a:solidFill>
                <a:latin typeface="DM Sans"/>
                <a:ea typeface="DM Sans"/>
                <a:cs typeface="DM Sans"/>
                <a:sym typeface="DM Sans"/>
              </a:rPr>
              <a:t>api berbagai pertanyaan terkait prosedur, pelaporan, pembayaran, administrasi akun, serta penggunaan fitur yang tersedia pada sistem. Kondisi tersebut dapat menimbulkan kebutuhan akan layanan informasi yang mampu memberikan penjelasan secara cepat dan mudah diakses, terutama ketika pengguna mengalami kesulitan dalam menemukan informasi yang sesuai. Oleh karena itu, diperlukan alternatif layanan berbasis AI yang dapat membantu menjawab pertanyaan umum pengguna berdasarkan sumber informasi resmi dan mengarahkan permasalahan tertentu kepada petugas.</a:t>
            </a:r>
          </a:p>
          <a:p>
            <a:pPr algn="just">
              <a:lnSpc>
                <a:spcPts val="2204"/>
              </a:lnSpc>
              <a:spcBef>
                <a:spcPct val="0"/>
              </a:spcBef>
            </a:pPr>
          </a:p>
        </p:txBody>
      </p:sp>
      <p:sp>
        <p:nvSpPr>
          <p:cNvPr name="TextBox 11" id="11"/>
          <p:cNvSpPr txBox="true"/>
          <p:nvPr/>
        </p:nvSpPr>
        <p:spPr>
          <a:xfrm rot="0">
            <a:off x="864747" y="4356452"/>
            <a:ext cx="12807876" cy="1266825"/>
          </a:xfrm>
          <a:prstGeom prst="rect">
            <a:avLst/>
          </a:prstGeom>
        </p:spPr>
        <p:txBody>
          <a:bodyPr anchor="t" rtlCol="false" tIns="0" lIns="0" bIns="0" rIns="0">
            <a:spAutoFit/>
          </a:bodyPr>
          <a:lstStyle/>
          <a:p>
            <a:pPr algn="just">
              <a:lnSpc>
                <a:spcPts val="2519"/>
              </a:lnSpc>
              <a:spcBef>
                <a:spcPct val="0"/>
              </a:spcBef>
            </a:pPr>
            <a:r>
              <a:rPr lang="en-US" sz="2099" spc="-65">
                <a:solidFill>
                  <a:srgbClr val="000000"/>
                </a:solidFill>
                <a:latin typeface="DM Sans"/>
                <a:ea typeface="DM Sans"/>
                <a:cs typeface="DM Sans"/>
                <a:sym typeface="DM Sans"/>
              </a:rPr>
              <a:t>Diperlukan sistem</a:t>
            </a:r>
            <a:r>
              <a:rPr lang="en-US" sz="2099" spc="-65">
                <a:solidFill>
                  <a:srgbClr val="000000"/>
                </a:solidFill>
                <a:latin typeface="DM Sans"/>
                <a:ea typeface="DM Sans"/>
                <a:cs typeface="DM Sans"/>
                <a:sym typeface="DM Sans"/>
              </a:rPr>
              <a:t> pendukung layanan yang dapat membantu pengguna memperoleh informasi terkait Coretax secara cepat dan konsisten tanpa harus selalu bergantung pada interaksi langsung dengan petugas. Sistem dapat menangani pertanyaan umum berdasarkan knowledge base resmi, sementara permasalahan yang membutuhkan pemeriksaan atau penanganan khusus dapat diteruskan kepada petugas DJP.</a:t>
            </a:r>
          </a:p>
        </p:txBody>
      </p:sp>
      <p:sp>
        <p:nvSpPr>
          <p:cNvPr name="TextBox 12" id="12"/>
          <p:cNvSpPr txBox="true"/>
          <p:nvPr/>
        </p:nvSpPr>
        <p:spPr>
          <a:xfrm rot="0">
            <a:off x="598543" y="3889727"/>
            <a:ext cx="7148320" cy="304800"/>
          </a:xfrm>
          <a:prstGeom prst="rect">
            <a:avLst/>
          </a:prstGeom>
        </p:spPr>
        <p:txBody>
          <a:bodyPr anchor="t" rtlCol="false" tIns="0" lIns="0" bIns="0" rIns="0">
            <a:spAutoFit/>
          </a:bodyPr>
          <a:lstStyle/>
          <a:p>
            <a:pPr algn="l">
              <a:lnSpc>
                <a:spcPts val="2426"/>
              </a:lnSpc>
              <a:spcBef>
                <a:spcPct val="0"/>
              </a:spcBef>
            </a:pPr>
            <a:r>
              <a:rPr lang="en-US" b="true" sz="2022" spc="-62">
                <a:solidFill>
                  <a:srgbClr val="FFFFFF"/>
                </a:solidFill>
                <a:latin typeface="DM Sans Bold"/>
                <a:ea typeface="DM Sans Bold"/>
                <a:cs typeface="DM Sans Bold"/>
                <a:sym typeface="DM Sans Bold"/>
              </a:rPr>
              <a:t>Kebutuhan Transformasi Layanan</a:t>
            </a:r>
          </a:p>
        </p:txBody>
      </p:sp>
      <p:sp>
        <p:nvSpPr>
          <p:cNvPr name="TextBox 13" id="13"/>
          <p:cNvSpPr txBox="true"/>
          <p:nvPr/>
        </p:nvSpPr>
        <p:spPr>
          <a:xfrm rot="0">
            <a:off x="765168" y="6128102"/>
            <a:ext cx="8378435" cy="304800"/>
          </a:xfrm>
          <a:prstGeom prst="rect">
            <a:avLst/>
          </a:prstGeom>
        </p:spPr>
        <p:txBody>
          <a:bodyPr anchor="t" rtlCol="false" tIns="0" lIns="0" bIns="0" rIns="0">
            <a:spAutoFit/>
          </a:bodyPr>
          <a:lstStyle/>
          <a:p>
            <a:pPr algn="l">
              <a:lnSpc>
                <a:spcPts val="2426"/>
              </a:lnSpc>
              <a:spcBef>
                <a:spcPct val="0"/>
              </a:spcBef>
            </a:pPr>
            <a:r>
              <a:rPr lang="en-US" b="true" sz="2022" spc="-63">
                <a:solidFill>
                  <a:srgbClr val="FFFFFF"/>
                </a:solidFill>
                <a:latin typeface="DM Sans Bold"/>
                <a:ea typeface="DM Sans Bold"/>
                <a:cs typeface="DM Sans Bold"/>
                <a:sym typeface="DM Sans Bold"/>
              </a:rPr>
              <a:t>Tujuan Pengembangan</a:t>
            </a:r>
          </a:p>
        </p:txBody>
      </p:sp>
      <p:sp>
        <p:nvSpPr>
          <p:cNvPr name="TextBox 14" id="14"/>
          <p:cNvSpPr txBox="true"/>
          <p:nvPr/>
        </p:nvSpPr>
        <p:spPr>
          <a:xfrm rot="0">
            <a:off x="641865" y="6566252"/>
            <a:ext cx="13678163" cy="1266825"/>
          </a:xfrm>
          <a:prstGeom prst="rect">
            <a:avLst/>
          </a:prstGeom>
        </p:spPr>
        <p:txBody>
          <a:bodyPr anchor="t" rtlCol="false" tIns="0" lIns="0" bIns="0" rIns="0">
            <a:spAutoFit/>
          </a:bodyPr>
          <a:lstStyle/>
          <a:p>
            <a:pPr algn="just">
              <a:lnSpc>
                <a:spcPts val="2519"/>
              </a:lnSpc>
              <a:spcBef>
                <a:spcPct val="0"/>
              </a:spcBef>
            </a:pPr>
            <a:r>
              <a:rPr lang="en-US" sz="2099" spc="-65">
                <a:solidFill>
                  <a:srgbClr val="000000"/>
                </a:solidFill>
                <a:latin typeface="DM Sans"/>
                <a:ea typeface="DM Sans"/>
                <a:cs typeface="DM Sans"/>
                <a:sym typeface="DM Sans"/>
              </a:rPr>
              <a:t>M</a:t>
            </a:r>
            <a:r>
              <a:rPr lang="en-US" sz="2099" spc="-65">
                <a:solidFill>
                  <a:srgbClr val="000000"/>
                </a:solidFill>
                <a:latin typeface="DM Sans"/>
                <a:ea typeface="DM Sans"/>
                <a:cs typeface="DM Sans"/>
                <a:sym typeface="DM Sans"/>
              </a:rPr>
              <a:t>engusulkan sistem AI Voice Assistant</a:t>
            </a:r>
            <a:r>
              <a:rPr lang="en-US" sz="2099" spc="-65">
                <a:solidFill>
                  <a:srgbClr val="000000"/>
                </a:solidFill>
                <a:latin typeface="DM Sans"/>
                <a:ea typeface="DM Sans"/>
                <a:cs typeface="DM Sans"/>
                <a:sym typeface="DM Sans"/>
              </a:rPr>
              <a:t> yang dapat membantu pengguna memperoleh informasi terkait layanan Coretax DJP melalui interaksi suara. Sistem memanfaatkan Speech-to-Text, LLM, dan Retrieval-Augmented Generation (RAG) untuk memahami pertanyaan dan menghasilkan jawaban berdasarkan knowledge base resmi. Untuk permasalahan yang tidak dapat ditangani secara otomatis, sistem menyediakan mekanisme eskalasi kepada petugas.</a:t>
            </a:r>
          </a:p>
        </p:txBody>
      </p:sp>
      <p:sp>
        <p:nvSpPr>
          <p:cNvPr name="TextBox 15" id="15"/>
          <p:cNvSpPr txBox="true"/>
          <p:nvPr/>
        </p:nvSpPr>
        <p:spPr>
          <a:xfrm rot="0">
            <a:off x="4726101" y="8147402"/>
            <a:ext cx="7845309" cy="285405"/>
          </a:xfrm>
          <a:prstGeom prst="rect">
            <a:avLst/>
          </a:prstGeom>
        </p:spPr>
        <p:txBody>
          <a:bodyPr anchor="t" rtlCol="false" tIns="0" lIns="0" bIns="0" rIns="0">
            <a:spAutoFit/>
          </a:bodyPr>
          <a:lstStyle/>
          <a:p>
            <a:pPr algn="ctr">
              <a:lnSpc>
                <a:spcPts val="2272"/>
              </a:lnSpc>
              <a:spcBef>
                <a:spcPct val="0"/>
              </a:spcBef>
            </a:pPr>
            <a:r>
              <a:rPr lang="en-US" b="true" sz="1893" spc="-58">
                <a:solidFill>
                  <a:srgbClr val="FFFFFF"/>
                </a:solidFill>
                <a:latin typeface="DM Sans Bold"/>
                <a:ea typeface="DM Sans Bold"/>
                <a:cs typeface="DM Sans Bold"/>
                <a:sym typeface="DM Sans Bold"/>
              </a:rPr>
              <a:t>Expected contribution</a:t>
            </a:r>
          </a:p>
        </p:txBody>
      </p:sp>
      <p:sp>
        <p:nvSpPr>
          <p:cNvPr name="TextBox 16" id="16"/>
          <p:cNvSpPr txBox="true"/>
          <p:nvPr/>
        </p:nvSpPr>
        <p:spPr>
          <a:xfrm rot="0">
            <a:off x="1130743" y="8452202"/>
            <a:ext cx="3017682" cy="1721351"/>
          </a:xfrm>
          <a:prstGeom prst="rect">
            <a:avLst/>
          </a:prstGeom>
        </p:spPr>
        <p:txBody>
          <a:bodyPr anchor="t" rtlCol="false" tIns="0" lIns="0" bIns="0" rIns="0">
            <a:spAutoFit/>
          </a:bodyPr>
          <a:lstStyle/>
          <a:p>
            <a:pPr algn="ctr">
              <a:lnSpc>
                <a:spcPts val="2734"/>
              </a:lnSpc>
              <a:spcBef>
                <a:spcPct val="0"/>
              </a:spcBef>
            </a:pPr>
            <a:r>
              <a:rPr lang="en-US" b="true" sz="2278" spc="-70">
                <a:solidFill>
                  <a:srgbClr val="000000"/>
                </a:solidFill>
                <a:latin typeface="DM Sans Bold"/>
                <a:ea typeface="DM Sans Bold"/>
                <a:cs typeface="DM Sans Bold"/>
                <a:sym typeface="DM Sans Bold"/>
              </a:rPr>
              <a:t>T</a:t>
            </a:r>
            <a:r>
              <a:rPr lang="en-US" b="true" sz="2278" spc="-70">
                <a:solidFill>
                  <a:srgbClr val="000000"/>
                </a:solidFill>
                <a:latin typeface="DM Sans Bold"/>
                <a:ea typeface="DM Sans Bold"/>
                <a:cs typeface="DM Sans Bold"/>
                <a:sym typeface="DM Sans Bold"/>
              </a:rPr>
              <a:t>ekn</a:t>
            </a:r>
            <a:r>
              <a:rPr lang="en-US" b="true" sz="2278" spc="-70">
                <a:solidFill>
                  <a:srgbClr val="000000"/>
                </a:solidFill>
                <a:latin typeface="DM Sans Bold"/>
                <a:ea typeface="DM Sans Bold"/>
                <a:cs typeface="DM Sans Bold"/>
                <a:sym typeface="DM Sans Bold"/>
              </a:rPr>
              <a:t>is</a:t>
            </a:r>
          </a:p>
          <a:p>
            <a:pPr algn="ctr">
              <a:lnSpc>
                <a:spcPts val="2213"/>
              </a:lnSpc>
              <a:spcBef>
                <a:spcPct val="0"/>
              </a:spcBef>
            </a:pPr>
            <a:r>
              <a:rPr lang="en-US" sz="1844" spc="-57">
                <a:solidFill>
                  <a:srgbClr val="000000"/>
                </a:solidFill>
                <a:latin typeface="DM Sans"/>
                <a:ea typeface="DM Sans"/>
                <a:cs typeface="DM Sans"/>
                <a:sym typeface="DM Sans"/>
              </a:rPr>
              <a:t>I</a:t>
            </a:r>
            <a:r>
              <a:rPr lang="en-US" sz="1844" spc="-57">
                <a:solidFill>
                  <a:srgbClr val="000000"/>
                </a:solidFill>
                <a:latin typeface="DM Sans"/>
                <a:ea typeface="DM Sans"/>
                <a:cs typeface="DM Sans"/>
                <a:sym typeface="DM Sans"/>
              </a:rPr>
              <a:t>ntegrasi Speech-to-Text, LLM, RAG, dan Text-to-Speech</a:t>
            </a:r>
            <a:r>
              <a:rPr lang="en-US" sz="1844" spc="-57">
                <a:solidFill>
                  <a:srgbClr val="000000"/>
                </a:solidFill>
                <a:latin typeface="DM Sans"/>
                <a:ea typeface="DM Sans"/>
                <a:cs typeface="DM Sans"/>
                <a:sym typeface="DM Sans"/>
              </a:rPr>
              <a:t> untuk menyediakan layanan informasi perpajakan melalui interaksi suara.</a:t>
            </a:r>
          </a:p>
        </p:txBody>
      </p:sp>
      <p:sp>
        <p:nvSpPr>
          <p:cNvPr name="TextBox 17" id="17"/>
          <p:cNvSpPr txBox="true"/>
          <p:nvPr/>
        </p:nvSpPr>
        <p:spPr>
          <a:xfrm rot="0">
            <a:off x="4172703" y="8509007"/>
            <a:ext cx="3919191" cy="1721351"/>
          </a:xfrm>
          <a:prstGeom prst="rect">
            <a:avLst/>
          </a:prstGeom>
        </p:spPr>
        <p:txBody>
          <a:bodyPr anchor="t" rtlCol="false" tIns="0" lIns="0" bIns="0" rIns="0">
            <a:spAutoFit/>
          </a:bodyPr>
          <a:lstStyle/>
          <a:p>
            <a:pPr algn="ctr">
              <a:lnSpc>
                <a:spcPts val="2734"/>
              </a:lnSpc>
              <a:spcBef>
                <a:spcPct val="0"/>
              </a:spcBef>
            </a:pPr>
            <a:r>
              <a:rPr lang="en-US" b="true" sz="2278" spc="-70">
                <a:solidFill>
                  <a:srgbClr val="000000"/>
                </a:solidFill>
                <a:latin typeface="DM Sans Bold"/>
                <a:ea typeface="DM Sans Bold"/>
                <a:cs typeface="DM Sans Bold"/>
                <a:sym typeface="DM Sans Bold"/>
              </a:rPr>
              <a:t>Op</a:t>
            </a:r>
            <a:r>
              <a:rPr lang="en-US" b="true" sz="2278" spc="-70">
                <a:solidFill>
                  <a:srgbClr val="000000"/>
                </a:solidFill>
                <a:latin typeface="DM Sans Bold"/>
                <a:ea typeface="DM Sans Bold"/>
                <a:cs typeface="DM Sans Bold"/>
                <a:sym typeface="DM Sans Bold"/>
              </a:rPr>
              <a:t>erasional </a:t>
            </a:r>
          </a:p>
          <a:p>
            <a:pPr algn="ctr">
              <a:lnSpc>
                <a:spcPts val="2213"/>
              </a:lnSpc>
              <a:spcBef>
                <a:spcPct val="0"/>
              </a:spcBef>
            </a:pPr>
            <a:r>
              <a:rPr lang="en-US" sz="1844" spc="-57">
                <a:solidFill>
                  <a:srgbClr val="000000"/>
                </a:solidFill>
                <a:latin typeface="DM Sans"/>
                <a:ea typeface="DM Sans"/>
                <a:cs typeface="DM Sans"/>
                <a:sym typeface="DM Sans"/>
              </a:rPr>
              <a:t>Membantu menangani pertanyaan umum secara ot</a:t>
            </a:r>
            <a:r>
              <a:rPr lang="en-US" sz="1844" spc="-57">
                <a:solidFill>
                  <a:srgbClr val="000000"/>
                </a:solidFill>
                <a:latin typeface="DM Sans"/>
                <a:ea typeface="DM Sans"/>
                <a:cs typeface="DM Sans"/>
                <a:sym typeface="DM Sans"/>
              </a:rPr>
              <a:t>omatis sehingga petugas dapat lebih fokus pada permasalahan yang membutuhkan penanganan khusus.</a:t>
            </a:r>
          </a:p>
        </p:txBody>
      </p:sp>
      <p:sp>
        <p:nvSpPr>
          <p:cNvPr name="TextBox 18" id="18"/>
          <p:cNvSpPr txBox="true"/>
          <p:nvPr/>
        </p:nvSpPr>
        <p:spPr>
          <a:xfrm rot="0">
            <a:off x="9809715" y="8509007"/>
            <a:ext cx="3862908" cy="1444865"/>
          </a:xfrm>
          <a:prstGeom prst="rect">
            <a:avLst/>
          </a:prstGeom>
        </p:spPr>
        <p:txBody>
          <a:bodyPr anchor="t" rtlCol="false" tIns="0" lIns="0" bIns="0" rIns="0">
            <a:spAutoFit/>
          </a:bodyPr>
          <a:lstStyle/>
          <a:p>
            <a:pPr algn="ctr">
              <a:lnSpc>
                <a:spcPts val="2734"/>
              </a:lnSpc>
              <a:spcBef>
                <a:spcPct val="0"/>
              </a:spcBef>
            </a:pPr>
            <a:r>
              <a:rPr lang="en-US" b="true" sz="2278" spc="-70">
                <a:solidFill>
                  <a:srgbClr val="000000"/>
                </a:solidFill>
                <a:latin typeface="DM Sans Bold"/>
                <a:ea typeface="DM Sans Bold"/>
                <a:cs typeface="DM Sans Bold"/>
                <a:sym typeface="DM Sans Bold"/>
              </a:rPr>
              <a:t>Pengguna</a:t>
            </a:r>
          </a:p>
          <a:p>
            <a:pPr algn="ctr">
              <a:lnSpc>
                <a:spcPts val="2213"/>
              </a:lnSpc>
              <a:spcBef>
                <a:spcPct val="0"/>
              </a:spcBef>
            </a:pPr>
            <a:r>
              <a:rPr lang="en-US" sz="1844" spc="-57">
                <a:solidFill>
                  <a:srgbClr val="000000"/>
                </a:solidFill>
                <a:latin typeface="DM Sans"/>
                <a:ea typeface="DM Sans"/>
                <a:cs typeface="DM Sans"/>
                <a:sym typeface="DM Sans"/>
              </a:rPr>
              <a:t>Memudah</a:t>
            </a:r>
            <a:r>
              <a:rPr lang="en-US" sz="1844" spc="-57">
                <a:solidFill>
                  <a:srgbClr val="000000"/>
                </a:solidFill>
                <a:latin typeface="DM Sans"/>
                <a:ea typeface="DM Sans"/>
                <a:cs typeface="DM Sans"/>
                <a:sym typeface="DM Sans"/>
              </a:rPr>
              <a:t>kan wajib pajak memperoleh informasi terkait Coretax melalui interaksi yang</a:t>
            </a:r>
            <a:r>
              <a:rPr lang="en-US" sz="1844" spc="-57">
                <a:solidFill>
                  <a:srgbClr val="000000"/>
                </a:solidFill>
                <a:latin typeface="DM Sans"/>
                <a:ea typeface="DM Sans"/>
                <a:cs typeface="DM Sans"/>
                <a:sym typeface="DM Sans"/>
              </a:rPr>
              <a:t> lebih sederhana dan mudah diakses.</a:t>
            </a:r>
          </a:p>
        </p:txBody>
      </p:sp>
      <p:sp>
        <p:nvSpPr>
          <p:cNvPr name="TextBox 19" id="19"/>
          <p:cNvSpPr txBox="true"/>
          <p:nvPr/>
        </p:nvSpPr>
        <p:spPr>
          <a:xfrm rot="0">
            <a:off x="14098081" y="8509007"/>
            <a:ext cx="3694281" cy="1444865"/>
          </a:xfrm>
          <a:prstGeom prst="rect">
            <a:avLst/>
          </a:prstGeom>
        </p:spPr>
        <p:txBody>
          <a:bodyPr anchor="t" rtlCol="false" tIns="0" lIns="0" bIns="0" rIns="0">
            <a:spAutoFit/>
          </a:bodyPr>
          <a:lstStyle/>
          <a:p>
            <a:pPr algn="ctr">
              <a:lnSpc>
                <a:spcPts val="2734"/>
              </a:lnSpc>
              <a:spcBef>
                <a:spcPct val="0"/>
              </a:spcBef>
            </a:pPr>
            <a:r>
              <a:rPr lang="en-US" b="true" sz="2278" spc="-70">
                <a:solidFill>
                  <a:srgbClr val="000000"/>
                </a:solidFill>
                <a:latin typeface="DM Sans Bold"/>
                <a:ea typeface="DM Sans Bold"/>
                <a:cs typeface="DM Sans Bold"/>
                <a:sym typeface="DM Sans Bold"/>
              </a:rPr>
              <a:t>Institusi </a:t>
            </a:r>
          </a:p>
          <a:p>
            <a:pPr algn="ctr">
              <a:lnSpc>
                <a:spcPts val="2213"/>
              </a:lnSpc>
              <a:spcBef>
                <a:spcPct val="0"/>
              </a:spcBef>
            </a:pPr>
            <a:r>
              <a:rPr lang="en-US" sz="1844" spc="-57">
                <a:solidFill>
                  <a:srgbClr val="000000"/>
                </a:solidFill>
                <a:latin typeface="DM Sans"/>
                <a:ea typeface="DM Sans"/>
                <a:cs typeface="DM Sans"/>
                <a:sym typeface="DM Sans"/>
              </a:rPr>
              <a:t>Menduku</a:t>
            </a:r>
            <a:r>
              <a:rPr lang="en-US" sz="1844" spc="-57">
                <a:solidFill>
                  <a:srgbClr val="000000"/>
                </a:solidFill>
                <a:latin typeface="DM Sans"/>
                <a:ea typeface="DM Sans"/>
                <a:cs typeface="DM Sans"/>
                <a:sym typeface="DM Sans"/>
              </a:rPr>
              <a:t>ng digitalisasi layanan informasi DJP melalui pemanfaatan Artificial Intelligence sebagai</a:t>
            </a:r>
            <a:r>
              <a:rPr lang="en-US" sz="1844" spc="-57">
                <a:solidFill>
                  <a:srgbClr val="000000"/>
                </a:solidFill>
                <a:latin typeface="DM Sans"/>
                <a:ea typeface="DM Sans"/>
                <a:cs typeface="DM Sans"/>
                <a:sym typeface="DM Sans"/>
              </a:rPr>
              <a:t> sistem pendukung pelayanan.</a:t>
            </a:r>
          </a:p>
        </p:txBody>
      </p:sp>
      <p:sp>
        <p:nvSpPr>
          <p:cNvPr name="TextBox 20" id="20"/>
          <p:cNvSpPr txBox="true"/>
          <p:nvPr/>
        </p:nvSpPr>
        <p:spPr>
          <a:xfrm rot="0">
            <a:off x="1130743" y="635635"/>
            <a:ext cx="14730632" cy="694440"/>
          </a:xfrm>
          <a:prstGeom prst="rect">
            <a:avLst/>
          </a:prstGeom>
        </p:spPr>
        <p:txBody>
          <a:bodyPr anchor="t" rtlCol="false" tIns="0" lIns="0" bIns="0" rIns="0">
            <a:spAutoFit/>
          </a:bodyPr>
          <a:lstStyle/>
          <a:p>
            <a:pPr algn="l">
              <a:lnSpc>
                <a:spcPts val="2717"/>
              </a:lnSpc>
            </a:pPr>
            <a:r>
              <a:rPr lang="en-US" b="true" sz="2383">
                <a:solidFill>
                  <a:srgbClr val="0A4137"/>
                </a:solidFill>
                <a:latin typeface="DM Sans Bold"/>
                <a:ea typeface="DM Sans Bold"/>
                <a:cs typeface="DM Sans Bold"/>
                <a:sym typeface="DM Sans Bold"/>
              </a:rPr>
              <a:t>Perancangan sistem layanan informasi</a:t>
            </a:r>
            <a:r>
              <a:rPr lang="en-US" b="true" sz="2383">
                <a:solidFill>
                  <a:srgbClr val="0A4137"/>
                </a:solidFill>
                <a:latin typeface="DM Sans Bold"/>
                <a:ea typeface="DM Sans Bold"/>
                <a:cs typeface="DM Sans Bold"/>
                <a:sym typeface="DM Sans Bold"/>
              </a:rPr>
              <a:t> perpajakan berbasis Artificial Intelligence untuk membantu pengguna memperoleh informasi secara cepat, konsisten, dan mudah diakses.</a:t>
            </a:r>
          </a:p>
        </p:txBody>
      </p:sp>
      <p:sp>
        <p:nvSpPr>
          <p:cNvPr name="TextBox 21" id="21"/>
          <p:cNvSpPr txBox="true"/>
          <p:nvPr/>
        </p:nvSpPr>
        <p:spPr>
          <a:xfrm rot="0">
            <a:off x="1130743" y="177085"/>
            <a:ext cx="10812214" cy="1363425"/>
          </a:xfrm>
          <a:prstGeom prst="rect">
            <a:avLst/>
          </a:prstGeom>
        </p:spPr>
        <p:txBody>
          <a:bodyPr anchor="t" rtlCol="false" tIns="0" lIns="0" bIns="0" rIns="0">
            <a:spAutoFit/>
          </a:bodyPr>
          <a:lstStyle/>
          <a:p>
            <a:pPr algn="l">
              <a:lnSpc>
                <a:spcPts val="3600"/>
              </a:lnSpc>
            </a:pPr>
            <a:r>
              <a:rPr lang="en-US" b="true" sz="2571">
                <a:solidFill>
                  <a:srgbClr val="9A2F2B"/>
                </a:solidFill>
                <a:latin typeface="DM Sans Bold"/>
                <a:ea typeface="DM Sans Bold"/>
                <a:cs typeface="DM Sans Bold"/>
                <a:sym typeface="DM Sans Bold"/>
              </a:rPr>
              <a:t>AI Voice Assistant untuk Mendukung</a:t>
            </a:r>
            <a:r>
              <a:rPr lang="en-US" b="true" sz="2571">
                <a:solidFill>
                  <a:srgbClr val="9A2F2B"/>
                </a:solidFill>
                <a:latin typeface="DM Sans Bold"/>
                <a:ea typeface="DM Sans Bold"/>
                <a:cs typeface="DM Sans Bold"/>
                <a:sym typeface="DM Sans Bold"/>
              </a:rPr>
              <a:t> Laya</a:t>
            </a:r>
            <a:r>
              <a:rPr lang="en-US" b="true" sz="2571">
                <a:solidFill>
                  <a:srgbClr val="9A2F2B"/>
                </a:solidFill>
                <a:latin typeface="DM Sans Bold"/>
                <a:ea typeface="DM Sans Bold"/>
                <a:cs typeface="DM Sans Bold"/>
                <a:sym typeface="DM Sans Bold"/>
              </a:rPr>
              <a:t>nan Informasi Coretax DJP</a:t>
            </a:r>
          </a:p>
          <a:p>
            <a:pPr algn="l">
              <a:lnSpc>
                <a:spcPts val="3600"/>
              </a:lnSpc>
            </a:pPr>
          </a:p>
          <a:p>
            <a:pPr algn="l">
              <a:lnSpc>
                <a:spcPts val="3600"/>
              </a:lnSpc>
            </a:pPr>
          </a:p>
        </p:txBody>
      </p:sp>
      <p:sp>
        <p:nvSpPr>
          <p:cNvPr name="Freeform 22" id="22"/>
          <p:cNvSpPr/>
          <p:nvPr/>
        </p:nvSpPr>
        <p:spPr>
          <a:xfrm flipH="false" flipV="false" rot="0">
            <a:off x="16253047" y="28336"/>
            <a:ext cx="1539316" cy="1539316"/>
          </a:xfrm>
          <a:custGeom>
            <a:avLst/>
            <a:gdLst/>
            <a:ahLst/>
            <a:cxnLst/>
            <a:rect r="r" b="b" t="t" l="l"/>
            <a:pathLst>
              <a:path h="1539316" w="1539316">
                <a:moveTo>
                  <a:pt x="0" y="0"/>
                </a:moveTo>
                <a:lnTo>
                  <a:pt x="1539315" y="0"/>
                </a:lnTo>
                <a:lnTo>
                  <a:pt x="1539315" y="1539316"/>
                </a:lnTo>
                <a:lnTo>
                  <a:pt x="0" y="1539316"/>
                </a:lnTo>
                <a:lnTo>
                  <a:pt x="0" y="0"/>
                </a:lnTo>
                <a:close/>
              </a:path>
            </a:pathLst>
          </a:custGeom>
          <a:blipFill>
            <a:blip r:embed="rId4"/>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1591056"/>
            <a:ext cx="16911828" cy="30175"/>
            <a:chOff x="0" y="0"/>
            <a:chExt cx="22549104" cy="40234"/>
          </a:xfrm>
        </p:grpSpPr>
        <p:sp>
          <p:nvSpPr>
            <p:cNvPr name="Freeform 3" id="3"/>
            <p:cNvSpPr/>
            <p:nvPr/>
          </p:nvSpPr>
          <p:spPr>
            <a:xfrm flipH="false" flipV="false" rot="0">
              <a:off x="0" y="0"/>
              <a:ext cx="22549104" cy="40259"/>
            </a:xfrm>
            <a:custGeom>
              <a:avLst/>
              <a:gdLst/>
              <a:ahLst/>
              <a:cxnLst/>
              <a:rect r="r" b="b" t="t" l="l"/>
              <a:pathLst>
                <a:path h="40259" w="22549104">
                  <a:moveTo>
                    <a:pt x="0" y="0"/>
                  </a:moveTo>
                  <a:lnTo>
                    <a:pt x="22549104" y="0"/>
                  </a:lnTo>
                  <a:lnTo>
                    <a:pt x="22549104" y="40259"/>
                  </a:lnTo>
                  <a:lnTo>
                    <a:pt x="0" y="40259"/>
                  </a:lnTo>
                  <a:close/>
                </a:path>
              </a:pathLst>
            </a:custGeom>
            <a:solidFill>
              <a:srgbClr val="1A1A1A"/>
            </a:solidFill>
          </p:spPr>
        </p:sp>
      </p:grpSp>
      <p:grpSp>
        <p:nvGrpSpPr>
          <p:cNvPr name="Group 4" id="4"/>
          <p:cNvGrpSpPr/>
          <p:nvPr/>
        </p:nvGrpSpPr>
        <p:grpSpPr>
          <a:xfrm rot="0">
            <a:off x="685800" y="1920240"/>
            <a:ext cx="2125980" cy="5966460"/>
            <a:chOff x="0" y="0"/>
            <a:chExt cx="2834640" cy="7955280"/>
          </a:xfrm>
        </p:grpSpPr>
        <p:sp>
          <p:nvSpPr>
            <p:cNvPr name="Freeform 5" id="5"/>
            <p:cNvSpPr/>
            <p:nvPr/>
          </p:nvSpPr>
          <p:spPr>
            <a:xfrm flipH="false" flipV="false" rot="0">
              <a:off x="0" y="0"/>
              <a:ext cx="2834640" cy="7955280"/>
            </a:xfrm>
            <a:custGeom>
              <a:avLst/>
              <a:gdLst/>
              <a:ahLst/>
              <a:cxnLst/>
              <a:rect r="r" b="b" t="t" l="l"/>
              <a:pathLst>
                <a:path h="7955280" w="2834640">
                  <a:moveTo>
                    <a:pt x="0" y="128016"/>
                  </a:moveTo>
                  <a:cubicBezTo>
                    <a:pt x="0" y="57277"/>
                    <a:pt x="57277" y="0"/>
                    <a:pt x="128016" y="0"/>
                  </a:cubicBezTo>
                  <a:lnTo>
                    <a:pt x="2706624" y="0"/>
                  </a:lnTo>
                  <a:cubicBezTo>
                    <a:pt x="2777363" y="0"/>
                    <a:pt x="2834640" y="57277"/>
                    <a:pt x="2834640" y="128016"/>
                  </a:cubicBezTo>
                  <a:lnTo>
                    <a:pt x="2834640" y="7827264"/>
                  </a:lnTo>
                  <a:cubicBezTo>
                    <a:pt x="2834640" y="7898003"/>
                    <a:pt x="2777363" y="7955280"/>
                    <a:pt x="2706624" y="7955280"/>
                  </a:cubicBezTo>
                  <a:lnTo>
                    <a:pt x="128016" y="7955280"/>
                  </a:lnTo>
                  <a:cubicBezTo>
                    <a:pt x="57277" y="7955280"/>
                    <a:pt x="0" y="7898003"/>
                    <a:pt x="0" y="7827264"/>
                  </a:cubicBezTo>
                  <a:close/>
                </a:path>
              </a:pathLst>
            </a:custGeom>
            <a:solidFill>
              <a:srgbClr val="B2211B"/>
            </a:solidFill>
          </p:spPr>
        </p:sp>
      </p:grpSp>
      <p:grpSp>
        <p:nvGrpSpPr>
          <p:cNvPr name="Group 6" id="6"/>
          <p:cNvGrpSpPr/>
          <p:nvPr/>
        </p:nvGrpSpPr>
        <p:grpSpPr>
          <a:xfrm rot="0">
            <a:off x="795528" y="1920240"/>
            <a:ext cx="1906524" cy="5966460"/>
            <a:chOff x="0" y="0"/>
            <a:chExt cx="2542032" cy="7955280"/>
          </a:xfrm>
        </p:grpSpPr>
        <p:sp>
          <p:nvSpPr>
            <p:cNvPr name="Freeform 7" id="7"/>
            <p:cNvSpPr/>
            <p:nvPr/>
          </p:nvSpPr>
          <p:spPr>
            <a:xfrm flipH="false" flipV="false" rot="0">
              <a:off x="0" y="0"/>
              <a:ext cx="2542032" cy="7955280"/>
            </a:xfrm>
            <a:custGeom>
              <a:avLst/>
              <a:gdLst/>
              <a:ahLst/>
              <a:cxnLst/>
              <a:rect r="r" b="b" t="t" l="l"/>
              <a:pathLst>
                <a:path h="7955280" w="2542032">
                  <a:moveTo>
                    <a:pt x="0" y="0"/>
                  </a:moveTo>
                  <a:lnTo>
                    <a:pt x="2542032" y="0"/>
                  </a:lnTo>
                  <a:lnTo>
                    <a:pt x="2542032" y="7955280"/>
                  </a:lnTo>
                  <a:lnTo>
                    <a:pt x="0" y="7955280"/>
                  </a:lnTo>
                  <a:close/>
                </a:path>
              </a:pathLst>
            </a:custGeom>
            <a:blipFill>
              <a:blip r:embed="rId3">
                <a:alphaModFix amt="0"/>
              </a:blip>
              <a:stretch>
                <a:fillRect l="-351525" t="0" r="-351525" b="0"/>
              </a:stretch>
            </a:blipFill>
          </p:spPr>
        </p:sp>
        <p:sp>
          <p:nvSpPr>
            <p:cNvPr name="TextBox 8" id="8"/>
            <p:cNvSpPr txBox="true"/>
            <p:nvPr/>
          </p:nvSpPr>
          <p:spPr>
            <a:xfrm>
              <a:off x="0" y="0"/>
              <a:ext cx="2542032" cy="7955280"/>
            </a:xfrm>
            <a:prstGeom prst="rect">
              <a:avLst/>
            </a:prstGeom>
          </p:spPr>
          <p:txBody>
            <a:bodyPr anchor="ctr" rtlCol="false" tIns="0" lIns="0" bIns="0" rIns="0"/>
            <a:lstStyle/>
            <a:p>
              <a:pPr algn="ctr">
                <a:lnSpc>
                  <a:spcPts val="2160"/>
                </a:lnSpc>
              </a:pPr>
              <a:r>
                <a:rPr lang="en-US" sz="1800" b="true">
                  <a:solidFill>
                    <a:srgbClr val="FFFFFF"/>
                  </a:solidFill>
                  <a:latin typeface="DM Sans Bold"/>
                  <a:ea typeface="DM Sans Bold"/>
                  <a:cs typeface="DM Sans Bold"/>
                  <a:sym typeface="DM Sans Bold"/>
                </a:rPr>
                <a:t>Akar</a:t>
              </a:r>
            </a:p>
            <a:p>
              <a:pPr algn="ctr">
                <a:lnSpc>
                  <a:spcPts val="2160"/>
                </a:lnSpc>
              </a:pPr>
              <a:r>
                <a:rPr lang="en-US" sz="1800" b="true">
                  <a:solidFill>
                    <a:srgbClr val="FFFFFF"/>
                  </a:solidFill>
                  <a:latin typeface="DM Sans Bold"/>
                  <a:ea typeface="DM Sans Bold"/>
                  <a:cs typeface="DM Sans Bold"/>
                  <a:sym typeface="DM Sans Bold"/>
                </a:rPr>
                <a:t>Masalah</a:t>
              </a:r>
            </a:p>
            <a:p>
              <a:pPr algn="ctr">
                <a:lnSpc>
                  <a:spcPts val="2160"/>
                </a:lnSpc>
              </a:pPr>
              <a:r>
                <a:rPr lang="en-US" sz="1800" b="true">
                  <a:solidFill>
                    <a:srgbClr val="FFFFFF"/>
                  </a:solidFill>
                  <a:latin typeface="DM Sans Bold"/>
                  <a:ea typeface="DM Sans Bold"/>
                  <a:cs typeface="DM Sans Bold"/>
                  <a:sym typeface="DM Sans Bold"/>
                </a:rPr>
                <a:t>—</a:t>
              </a:r>
            </a:p>
            <a:p>
              <a:pPr algn="ctr">
                <a:lnSpc>
                  <a:spcPts val="2160"/>
                </a:lnSpc>
              </a:pPr>
              <a:r>
                <a:rPr lang="en-US" sz="1800" b="true">
                  <a:solidFill>
                    <a:srgbClr val="FFFFFF"/>
                  </a:solidFill>
                  <a:latin typeface="DM Sans Bold"/>
                  <a:ea typeface="DM Sans Bold"/>
                  <a:cs typeface="DM Sans Bold"/>
                  <a:sym typeface="DM Sans Bold"/>
                </a:rPr>
                <a:t>Analisis</a:t>
              </a:r>
            </a:p>
            <a:p>
              <a:pPr algn="ctr">
                <a:lnSpc>
                  <a:spcPts val="2160"/>
                </a:lnSpc>
              </a:pPr>
              <a:r>
                <a:rPr lang="en-US" sz="1800" b="true">
                  <a:solidFill>
                    <a:srgbClr val="FFFFFF"/>
                  </a:solidFill>
                  <a:latin typeface="DM Sans Bold"/>
                  <a:ea typeface="DM Sans Bold"/>
                  <a:cs typeface="DM Sans Bold"/>
                  <a:sym typeface="DM Sans Bold"/>
                </a:rPr>
                <a:t>Sebab-</a:t>
              </a:r>
            </a:p>
            <a:p>
              <a:pPr algn="ctr">
                <a:lnSpc>
                  <a:spcPts val="2160"/>
                </a:lnSpc>
              </a:pPr>
              <a:r>
                <a:rPr lang="en-US" sz="1800" b="true">
                  <a:solidFill>
                    <a:srgbClr val="FFFFFF"/>
                  </a:solidFill>
                  <a:latin typeface="DM Sans Bold"/>
                  <a:ea typeface="DM Sans Bold"/>
                  <a:cs typeface="DM Sans Bold"/>
                  <a:sym typeface="DM Sans Bold"/>
                </a:rPr>
                <a:t>Akibat</a:t>
              </a:r>
            </a:p>
          </p:txBody>
        </p:sp>
      </p:grpSp>
      <p:grpSp>
        <p:nvGrpSpPr>
          <p:cNvPr name="Group 9" id="9"/>
          <p:cNvGrpSpPr/>
          <p:nvPr/>
        </p:nvGrpSpPr>
        <p:grpSpPr>
          <a:xfrm rot="0">
            <a:off x="910199" y="8514313"/>
            <a:ext cx="13174876" cy="904059"/>
            <a:chOff x="0" y="0"/>
            <a:chExt cx="17566502" cy="1205412"/>
          </a:xfrm>
        </p:grpSpPr>
        <p:sp>
          <p:nvSpPr>
            <p:cNvPr name="Freeform 10" id="10"/>
            <p:cNvSpPr/>
            <p:nvPr/>
          </p:nvSpPr>
          <p:spPr>
            <a:xfrm flipH="false" flipV="false" rot="0">
              <a:off x="0" y="0"/>
              <a:ext cx="17566501" cy="1205412"/>
            </a:xfrm>
            <a:custGeom>
              <a:avLst/>
              <a:gdLst/>
              <a:ahLst/>
              <a:cxnLst/>
              <a:rect r="r" b="b" t="t" l="l"/>
              <a:pathLst>
                <a:path h="1205412" w="17566501">
                  <a:moveTo>
                    <a:pt x="0" y="0"/>
                  </a:moveTo>
                  <a:lnTo>
                    <a:pt x="17566501" y="0"/>
                  </a:lnTo>
                  <a:lnTo>
                    <a:pt x="17566501" y="1205412"/>
                  </a:lnTo>
                  <a:lnTo>
                    <a:pt x="0" y="1205412"/>
                  </a:lnTo>
                  <a:close/>
                </a:path>
              </a:pathLst>
            </a:custGeom>
            <a:blipFill>
              <a:blip r:embed="rId3">
                <a:alphaModFix amt="0"/>
              </a:blip>
              <a:stretch>
                <a:fillRect l="0" t="-234932" r="-4107" b="-256305"/>
              </a:stretch>
            </a:blipFill>
          </p:spPr>
        </p:sp>
        <p:sp>
          <p:nvSpPr>
            <p:cNvPr name="TextBox 11" id="11"/>
            <p:cNvSpPr txBox="true"/>
            <p:nvPr/>
          </p:nvSpPr>
          <p:spPr>
            <a:xfrm>
              <a:off x="0" y="9525"/>
              <a:ext cx="17566502" cy="1195887"/>
            </a:xfrm>
            <a:prstGeom prst="rect">
              <a:avLst/>
            </a:prstGeom>
          </p:spPr>
          <p:txBody>
            <a:bodyPr anchor="ctr" rtlCol="false" tIns="0" lIns="0" bIns="0" rIns="0"/>
            <a:lstStyle/>
            <a:p>
              <a:pPr algn="just">
                <a:lnSpc>
                  <a:spcPts val="2070"/>
                </a:lnSpc>
              </a:pPr>
              <a:r>
                <a:rPr lang="en-US" sz="1725">
                  <a:solidFill>
                    <a:srgbClr val="1A1A1A"/>
                  </a:solidFill>
                  <a:latin typeface="DM Sans"/>
                  <a:ea typeface="DM Sans"/>
                  <a:cs typeface="DM Sans"/>
                  <a:sym typeface="DM Sans"/>
                </a:rPr>
                <a:t>Bagaimana Memberikan informasi dan paduan Coretax secara cepat, konsisten, dan mudah diakses, tanpa seluruh pertanyaan harus ditangani secara manual oleh petugas</a:t>
              </a:r>
            </a:p>
          </p:txBody>
        </p:sp>
      </p:grpSp>
      <p:grpSp>
        <p:nvGrpSpPr>
          <p:cNvPr name="Group 12" id="12"/>
          <p:cNvGrpSpPr/>
          <p:nvPr/>
        </p:nvGrpSpPr>
        <p:grpSpPr>
          <a:xfrm rot="0">
            <a:off x="685800" y="9601200"/>
            <a:ext cx="3909060" cy="507492"/>
            <a:chOff x="0" y="0"/>
            <a:chExt cx="5212080" cy="676656"/>
          </a:xfrm>
        </p:grpSpPr>
        <p:sp>
          <p:nvSpPr>
            <p:cNvPr name="Freeform 13" id="13"/>
            <p:cNvSpPr/>
            <p:nvPr/>
          </p:nvSpPr>
          <p:spPr>
            <a:xfrm flipH="false" flipV="false" rot="0">
              <a:off x="0" y="0"/>
              <a:ext cx="5212080" cy="676656"/>
            </a:xfrm>
            <a:custGeom>
              <a:avLst/>
              <a:gdLst/>
              <a:ahLst/>
              <a:cxnLst/>
              <a:rect r="r" b="b" t="t" l="l"/>
              <a:pathLst>
                <a:path h="676656" w="5212080">
                  <a:moveTo>
                    <a:pt x="0" y="91440"/>
                  </a:moveTo>
                  <a:cubicBezTo>
                    <a:pt x="0" y="40894"/>
                    <a:pt x="40894" y="0"/>
                    <a:pt x="91440" y="0"/>
                  </a:cubicBezTo>
                  <a:lnTo>
                    <a:pt x="5120640" y="0"/>
                  </a:lnTo>
                  <a:cubicBezTo>
                    <a:pt x="5171186" y="0"/>
                    <a:pt x="5212080" y="40894"/>
                    <a:pt x="5212080" y="91440"/>
                  </a:cubicBezTo>
                  <a:lnTo>
                    <a:pt x="5212080" y="585216"/>
                  </a:lnTo>
                  <a:cubicBezTo>
                    <a:pt x="5212080" y="635762"/>
                    <a:pt x="5171186" y="676656"/>
                    <a:pt x="5120640" y="676656"/>
                  </a:cubicBezTo>
                  <a:lnTo>
                    <a:pt x="91440" y="676656"/>
                  </a:lnTo>
                  <a:cubicBezTo>
                    <a:pt x="40894" y="676656"/>
                    <a:pt x="0" y="635762"/>
                    <a:pt x="0" y="585216"/>
                  </a:cubicBezTo>
                  <a:close/>
                </a:path>
              </a:pathLst>
            </a:custGeom>
            <a:solidFill>
              <a:srgbClr val="B2211B"/>
            </a:solidFill>
          </p:spPr>
        </p:sp>
      </p:grpSp>
      <p:grpSp>
        <p:nvGrpSpPr>
          <p:cNvPr name="Group 14" id="14"/>
          <p:cNvGrpSpPr/>
          <p:nvPr/>
        </p:nvGrpSpPr>
        <p:grpSpPr>
          <a:xfrm rot="0">
            <a:off x="685800" y="9601200"/>
            <a:ext cx="3909060" cy="507492"/>
            <a:chOff x="0" y="0"/>
            <a:chExt cx="5212080" cy="676656"/>
          </a:xfrm>
        </p:grpSpPr>
        <p:sp>
          <p:nvSpPr>
            <p:cNvPr name="Freeform 15" id="15"/>
            <p:cNvSpPr/>
            <p:nvPr/>
          </p:nvSpPr>
          <p:spPr>
            <a:xfrm flipH="false" flipV="false" rot="0">
              <a:off x="0" y="0"/>
              <a:ext cx="5212080" cy="676656"/>
            </a:xfrm>
            <a:custGeom>
              <a:avLst/>
              <a:gdLst/>
              <a:ahLst/>
              <a:cxnLst/>
              <a:rect r="r" b="b" t="t" l="l"/>
              <a:pathLst>
                <a:path h="676656" w="5212080">
                  <a:moveTo>
                    <a:pt x="0" y="0"/>
                  </a:moveTo>
                  <a:lnTo>
                    <a:pt x="5212080" y="0"/>
                  </a:lnTo>
                  <a:lnTo>
                    <a:pt x="5212080" y="676656"/>
                  </a:lnTo>
                  <a:lnTo>
                    <a:pt x="0" y="676656"/>
                  </a:lnTo>
                  <a:close/>
                </a:path>
              </a:pathLst>
            </a:custGeom>
            <a:blipFill>
              <a:blip r:embed="rId3">
                <a:alphaModFix amt="0"/>
              </a:blip>
              <a:stretch>
                <a:fillRect l="0" t="-100087" r="0" b="-100087"/>
              </a:stretch>
            </a:blipFill>
          </p:spPr>
        </p:sp>
        <p:sp>
          <p:nvSpPr>
            <p:cNvPr name="TextBox 16" id="16"/>
            <p:cNvSpPr txBox="true"/>
            <p:nvPr/>
          </p:nvSpPr>
          <p:spPr>
            <a:xfrm>
              <a:off x="0" y="0"/>
              <a:ext cx="5212080" cy="676656"/>
            </a:xfrm>
            <a:prstGeom prst="rect">
              <a:avLst/>
            </a:prstGeom>
          </p:spPr>
          <p:txBody>
            <a:bodyPr anchor="ctr" rtlCol="false" tIns="0" lIns="0" bIns="0" rIns="0"/>
            <a:lstStyle/>
            <a:p>
              <a:pPr algn="ctr">
                <a:lnSpc>
                  <a:spcPts val="1889"/>
                </a:lnSpc>
              </a:pPr>
              <a:r>
                <a:rPr lang="en-US" sz="1575" b="true">
                  <a:solidFill>
                    <a:srgbClr val="FFFFFF"/>
                  </a:solidFill>
                  <a:latin typeface="DM Sans Bold"/>
                  <a:ea typeface="DM Sans Bold"/>
                  <a:cs typeface="DM Sans Bold"/>
                  <a:sym typeface="DM Sans Bold"/>
                </a:rPr>
                <a:t>Masalah</a:t>
              </a:r>
            </a:p>
          </p:txBody>
        </p:sp>
      </p:grpSp>
      <p:grpSp>
        <p:nvGrpSpPr>
          <p:cNvPr name="Group 17" id="17"/>
          <p:cNvGrpSpPr/>
          <p:nvPr/>
        </p:nvGrpSpPr>
        <p:grpSpPr>
          <a:xfrm rot="0">
            <a:off x="4937760" y="9669780"/>
            <a:ext cx="3909060" cy="438912"/>
            <a:chOff x="0" y="0"/>
            <a:chExt cx="5212080" cy="585216"/>
          </a:xfrm>
        </p:grpSpPr>
        <p:sp>
          <p:nvSpPr>
            <p:cNvPr name="Freeform 18" id="18"/>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19" id="19"/>
          <p:cNvGrpSpPr/>
          <p:nvPr/>
        </p:nvGrpSpPr>
        <p:grpSpPr>
          <a:xfrm rot="0">
            <a:off x="4937760" y="9669780"/>
            <a:ext cx="3909060" cy="438912"/>
            <a:chOff x="0" y="0"/>
            <a:chExt cx="5212080" cy="585216"/>
          </a:xfrm>
        </p:grpSpPr>
        <p:sp>
          <p:nvSpPr>
            <p:cNvPr name="Freeform 20" id="20"/>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21" id="21"/>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Solusi</a:t>
              </a:r>
            </a:p>
          </p:txBody>
        </p:sp>
      </p:grpSp>
      <p:grpSp>
        <p:nvGrpSpPr>
          <p:cNvPr name="Group 22" id="22"/>
          <p:cNvGrpSpPr/>
          <p:nvPr/>
        </p:nvGrpSpPr>
        <p:grpSpPr>
          <a:xfrm rot="0">
            <a:off x="9189720" y="9669780"/>
            <a:ext cx="3909060" cy="438912"/>
            <a:chOff x="0" y="0"/>
            <a:chExt cx="5212080" cy="585216"/>
          </a:xfrm>
        </p:grpSpPr>
        <p:sp>
          <p:nvSpPr>
            <p:cNvPr name="Freeform 23" id="23"/>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24" id="24"/>
          <p:cNvGrpSpPr/>
          <p:nvPr/>
        </p:nvGrpSpPr>
        <p:grpSpPr>
          <a:xfrm rot="0">
            <a:off x="9189720" y="9669780"/>
            <a:ext cx="3909060" cy="438912"/>
            <a:chOff x="0" y="0"/>
            <a:chExt cx="5212080" cy="585216"/>
          </a:xfrm>
        </p:grpSpPr>
        <p:sp>
          <p:nvSpPr>
            <p:cNvPr name="Freeform 25" id="25"/>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26" id="26"/>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Arsitektur</a:t>
              </a:r>
            </a:p>
          </p:txBody>
        </p:sp>
      </p:grpSp>
      <p:grpSp>
        <p:nvGrpSpPr>
          <p:cNvPr name="Group 27" id="27"/>
          <p:cNvGrpSpPr/>
          <p:nvPr/>
        </p:nvGrpSpPr>
        <p:grpSpPr>
          <a:xfrm rot="0">
            <a:off x="13441680" y="9669780"/>
            <a:ext cx="3909060" cy="438912"/>
            <a:chOff x="0" y="0"/>
            <a:chExt cx="5212080" cy="585216"/>
          </a:xfrm>
        </p:grpSpPr>
        <p:sp>
          <p:nvSpPr>
            <p:cNvPr name="Freeform 28" id="28"/>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29" id="29"/>
          <p:cNvGrpSpPr/>
          <p:nvPr/>
        </p:nvGrpSpPr>
        <p:grpSpPr>
          <a:xfrm rot="0">
            <a:off x="13441680" y="9669780"/>
            <a:ext cx="3909060" cy="438912"/>
            <a:chOff x="0" y="0"/>
            <a:chExt cx="5212080" cy="585216"/>
          </a:xfrm>
        </p:grpSpPr>
        <p:sp>
          <p:nvSpPr>
            <p:cNvPr name="Freeform 30" id="30"/>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31" id="31"/>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Biaya &amp; Skalabilitas</a:t>
              </a:r>
            </a:p>
          </p:txBody>
        </p:sp>
      </p:grpSp>
      <p:grpSp>
        <p:nvGrpSpPr>
          <p:cNvPr name="Group 32" id="32"/>
          <p:cNvGrpSpPr/>
          <p:nvPr/>
        </p:nvGrpSpPr>
        <p:grpSpPr>
          <a:xfrm rot="0">
            <a:off x="17213580" y="9532620"/>
            <a:ext cx="822960" cy="617220"/>
            <a:chOff x="0" y="0"/>
            <a:chExt cx="1097280" cy="822960"/>
          </a:xfrm>
        </p:grpSpPr>
        <p:sp>
          <p:nvSpPr>
            <p:cNvPr name="Freeform 33" id="33"/>
            <p:cNvSpPr/>
            <p:nvPr/>
          </p:nvSpPr>
          <p:spPr>
            <a:xfrm flipH="false" flipV="false" rot="0">
              <a:off x="0" y="0"/>
              <a:ext cx="1097280" cy="822960"/>
            </a:xfrm>
            <a:custGeom>
              <a:avLst/>
              <a:gdLst/>
              <a:ahLst/>
              <a:cxnLst/>
              <a:rect r="r" b="b" t="t" l="l"/>
              <a:pathLst>
                <a:path h="822960" w="1097280">
                  <a:moveTo>
                    <a:pt x="0" y="0"/>
                  </a:moveTo>
                  <a:lnTo>
                    <a:pt x="1097280" y="0"/>
                  </a:lnTo>
                  <a:lnTo>
                    <a:pt x="1097280" y="822960"/>
                  </a:lnTo>
                  <a:lnTo>
                    <a:pt x="0" y="822960"/>
                  </a:lnTo>
                  <a:close/>
                </a:path>
              </a:pathLst>
            </a:custGeom>
            <a:blipFill>
              <a:blip r:embed="rId3">
                <a:alphaModFix amt="0"/>
              </a:blip>
              <a:stretch>
                <a:fillRect l="-46227" t="0" r="-46227" b="0"/>
              </a:stretch>
            </a:blipFill>
          </p:spPr>
        </p:sp>
        <p:sp>
          <p:nvSpPr>
            <p:cNvPr name="TextBox 34" id="34"/>
            <p:cNvSpPr txBox="true"/>
            <p:nvPr/>
          </p:nvSpPr>
          <p:spPr>
            <a:xfrm>
              <a:off x="0" y="-9525"/>
              <a:ext cx="1097280" cy="832485"/>
            </a:xfrm>
            <a:prstGeom prst="rect">
              <a:avLst/>
            </a:prstGeom>
          </p:spPr>
          <p:txBody>
            <a:bodyPr anchor="ctr" rtlCol="false" tIns="0" lIns="0" bIns="0" rIns="0"/>
            <a:lstStyle/>
            <a:p>
              <a:pPr algn="r">
                <a:lnSpc>
                  <a:spcPts val="3600"/>
                </a:lnSpc>
              </a:pPr>
              <a:r>
                <a:rPr lang="en-US" sz="3000" b="true">
                  <a:solidFill>
                    <a:srgbClr val="1A1A1A"/>
                  </a:solidFill>
                  <a:latin typeface="DM Sans Bold"/>
                  <a:ea typeface="DM Sans Bold"/>
                  <a:cs typeface="DM Sans Bold"/>
                  <a:sym typeface="DM Sans Bold"/>
                </a:rPr>
                <a:t>1</a:t>
              </a:r>
            </a:p>
          </p:txBody>
        </p:sp>
      </p:grpSp>
      <p:sp>
        <p:nvSpPr>
          <p:cNvPr name="Freeform 35" id="35"/>
          <p:cNvSpPr/>
          <p:nvPr/>
        </p:nvSpPr>
        <p:spPr>
          <a:xfrm flipH="false" flipV="false" rot="0">
            <a:off x="0" y="-21105"/>
            <a:ext cx="773670" cy="1627249"/>
          </a:xfrm>
          <a:custGeom>
            <a:avLst/>
            <a:gdLst/>
            <a:ahLst/>
            <a:cxnLst/>
            <a:rect r="r" b="b" t="t" l="l"/>
            <a:pathLst>
              <a:path h="1627249" w="773670">
                <a:moveTo>
                  <a:pt x="0" y="0"/>
                </a:moveTo>
                <a:lnTo>
                  <a:pt x="773670" y="0"/>
                </a:lnTo>
                <a:lnTo>
                  <a:pt x="773670" y="1627249"/>
                </a:lnTo>
                <a:lnTo>
                  <a:pt x="0" y="1627249"/>
                </a:lnTo>
                <a:lnTo>
                  <a:pt x="0" y="0"/>
                </a:lnTo>
                <a:close/>
              </a:path>
            </a:pathLst>
          </a:custGeom>
          <a:blipFill>
            <a:blip r:embed="rId4">
              <a:extLst>
                <a:ext uri="{96DAC541-7B7A-43D3-8B79-37D633B846F1}">
                  <asvg:svgBlip xmlns:asvg="http://schemas.microsoft.com/office/drawing/2016/SVG/main" r:embed="rId5"/>
                </a:ext>
              </a:extLst>
            </a:blip>
            <a:stretch>
              <a:fillRect l="0" t="0" r="-1757981" b="0"/>
            </a:stretch>
          </a:blipFill>
        </p:spPr>
      </p:sp>
      <p:grpSp>
        <p:nvGrpSpPr>
          <p:cNvPr name="Group 36" id="36"/>
          <p:cNvGrpSpPr/>
          <p:nvPr/>
        </p:nvGrpSpPr>
        <p:grpSpPr>
          <a:xfrm rot="0">
            <a:off x="685800" y="8210275"/>
            <a:ext cx="13524142" cy="1322345"/>
            <a:chOff x="0" y="0"/>
            <a:chExt cx="2782745" cy="272088"/>
          </a:xfrm>
        </p:grpSpPr>
        <p:sp>
          <p:nvSpPr>
            <p:cNvPr name="Freeform 37" id="37"/>
            <p:cNvSpPr/>
            <p:nvPr/>
          </p:nvSpPr>
          <p:spPr>
            <a:xfrm flipH="false" flipV="false" rot="0">
              <a:off x="0" y="0"/>
              <a:ext cx="2782745" cy="272088"/>
            </a:xfrm>
            <a:custGeom>
              <a:avLst/>
              <a:gdLst/>
              <a:ahLst/>
              <a:cxnLst/>
              <a:rect r="r" b="b" t="t" l="l"/>
              <a:pathLst>
                <a:path h="272088" w="2782745">
                  <a:moveTo>
                    <a:pt x="11181" y="0"/>
                  </a:moveTo>
                  <a:lnTo>
                    <a:pt x="2771565" y="0"/>
                  </a:lnTo>
                  <a:cubicBezTo>
                    <a:pt x="2774530" y="0"/>
                    <a:pt x="2777374" y="1178"/>
                    <a:pt x="2779470" y="3275"/>
                  </a:cubicBezTo>
                  <a:cubicBezTo>
                    <a:pt x="2781567" y="5372"/>
                    <a:pt x="2782745" y="8215"/>
                    <a:pt x="2782745" y="11181"/>
                  </a:cubicBezTo>
                  <a:lnTo>
                    <a:pt x="2782745" y="260907"/>
                  </a:lnTo>
                  <a:cubicBezTo>
                    <a:pt x="2782745" y="267082"/>
                    <a:pt x="2777740" y="272088"/>
                    <a:pt x="2771565" y="272088"/>
                  </a:cubicBezTo>
                  <a:lnTo>
                    <a:pt x="11181" y="272088"/>
                  </a:lnTo>
                  <a:cubicBezTo>
                    <a:pt x="8215" y="272088"/>
                    <a:pt x="5372" y="270910"/>
                    <a:pt x="3275" y="268813"/>
                  </a:cubicBezTo>
                  <a:cubicBezTo>
                    <a:pt x="1178" y="266716"/>
                    <a:pt x="0" y="263872"/>
                    <a:pt x="0" y="260907"/>
                  </a:cubicBezTo>
                  <a:lnTo>
                    <a:pt x="0" y="11181"/>
                  </a:lnTo>
                  <a:cubicBezTo>
                    <a:pt x="0" y="8215"/>
                    <a:pt x="1178" y="5372"/>
                    <a:pt x="3275" y="3275"/>
                  </a:cubicBezTo>
                  <a:cubicBezTo>
                    <a:pt x="5372" y="1178"/>
                    <a:pt x="8215" y="0"/>
                    <a:pt x="11181" y="0"/>
                  </a:cubicBezTo>
                  <a:close/>
                </a:path>
              </a:pathLst>
            </a:custGeom>
            <a:ln w="28575" cap="rnd">
              <a:solidFill>
                <a:srgbClr val="9A2F2B"/>
              </a:solidFill>
              <a:prstDash val="solid"/>
              <a:round/>
            </a:ln>
          </p:spPr>
        </p:sp>
        <p:sp>
          <p:nvSpPr>
            <p:cNvPr name="TextBox 38" id="38"/>
            <p:cNvSpPr txBox="true"/>
            <p:nvPr/>
          </p:nvSpPr>
          <p:spPr>
            <a:xfrm>
              <a:off x="0" y="-9525"/>
              <a:ext cx="2782745" cy="281613"/>
            </a:xfrm>
            <a:prstGeom prst="rect">
              <a:avLst/>
            </a:prstGeom>
          </p:spPr>
          <p:txBody>
            <a:bodyPr anchor="ctr" rtlCol="false" tIns="50800" lIns="50800" bIns="50800" rIns="50800"/>
            <a:lstStyle/>
            <a:p>
              <a:pPr algn="ctr">
                <a:lnSpc>
                  <a:spcPts val="1919"/>
                </a:lnSpc>
              </a:pPr>
            </a:p>
          </p:txBody>
        </p:sp>
      </p:grpSp>
      <p:sp>
        <p:nvSpPr>
          <p:cNvPr name="Freeform 39" id="39"/>
          <p:cNvSpPr/>
          <p:nvPr/>
        </p:nvSpPr>
        <p:spPr>
          <a:xfrm flipH="false" flipV="false" rot="0">
            <a:off x="3422857" y="1682714"/>
            <a:ext cx="13084230" cy="6203986"/>
          </a:xfrm>
          <a:custGeom>
            <a:avLst/>
            <a:gdLst/>
            <a:ahLst/>
            <a:cxnLst/>
            <a:rect r="r" b="b" t="t" l="l"/>
            <a:pathLst>
              <a:path h="6203986" w="13084230">
                <a:moveTo>
                  <a:pt x="0" y="0"/>
                </a:moveTo>
                <a:lnTo>
                  <a:pt x="13084230" y="0"/>
                </a:lnTo>
                <a:lnTo>
                  <a:pt x="13084230" y="6203986"/>
                </a:lnTo>
                <a:lnTo>
                  <a:pt x="0" y="6203986"/>
                </a:lnTo>
                <a:lnTo>
                  <a:pt x="0" y="0"/>
                </a:lnTo>
                <a:close/>
              </a:path>
            </a:pathLst>
          </a:custGeom>
          <a:blipFill>
            <a:blip r:embed="rId6"/>
            <a:stretch>
              <a:fillRect l="0" t="0" r="0" b="-18631"/>
            </a:stretch>
          </a:blipFill>
        </p:spPr>
      </p:sp>
      <p:sp>
        <p:nvSpPr>
          <p:cNvPr name="TextBox 40" id="40"/>
          <p:cNvSpPr txBox="true"/>
          <p:nvPr/>
        </p:nvSpPr>
        <p:spPr>
          <a:xfrm rot="0">
            <a:off x="786104" y="8104738"/>
            <a:ext cx="7148320" cy="304800"/>
          </a:xfrm>
          <a:prstGeom prst="rect">
            <a:avLst/>
          </a:prstGeom>
        </p:spPr>
        <p:txBody>
          <a:bodyPr anchor="t" rtlCol="false" tIns="0" lIns="0" bIns="0" rIns="0">
            <a:spAutoFit/>
          </a:bodyPr>
          <a:lstStyle/>
          <a:p>
            <a:pPr algn="l">
              <a:lnSpc>
                <a:spcPts val="2426"/>
              </a:lnSpc>
              <a:spcBef>
                <a:spcPct val="0"/>
              </a:spcBef>
            </a:pPr>
            <a:r>
              <a:rPr lang="en-US" b="true" sz="2022" spc="-62">
                <a:solidFill>
                  <a:srgbClr val="FFFFFF"/>
                </a:solidFill>
                <a:latin typeface="DM Sans Bold"/>
                <a:ea typeface="DM Sans Bold"/>
                <a:cs typeface="DM Sans Bold"/>
                <a:sym typeface="DM Sans Bold"/>
              </a:rPr>
              <a:t>Kebutuhan Transformasi Layanan</a:t>
            </a:r>
          </a:p>
        </p:txBody>
      </p:sp>
      <p:sp>
        <p:nvSpPr>
          <p:cNvPr name="TextBox 41" id="41"/>
          <p:cNvSpPr txBox="true"/>
          <p:nvPr/>
        </p:nvSpPr>
        <p:spPr>
          <a:xfrm rot="0">
            <a:off x="1130743" y="887091"/>
            <a:ext cx="14730632" cy="694440"/>
          </a:xfrm>
          <a:prstGeom prst="rect">
            <a:avLst/>
          </a:prstGeom>
        </p:spPr>
        <p:txBody>
          <a:bodyPr anchor="t" rtlCol="false" tIns="0" lIns="0" bIns="0" rIns="0">
            <a:spAutoFit/>
          </a:bodyPr>
          <a:lstStyle/>
          <a:p>
            <a:pPr algn="l">
              <a:lnSpc>
                <a:spcPts val="2717"/>
              </a:lnSpc>
            </a:pPr>
            <a:r>
              <a:rPr lang="en-US" b="true" sz="2383">
                <a:solidFill>
                  <a:srgbClr val="0A4137"/>
                </a:solidFill>
                <a:latin typeface="DM Sans Bold"/>
                <a:ea typeface="DM Sans Bold"/>
                <a:cs typeface="DM Sans Bold"/>
                <a:sym typeface="DM Sans Bold"/>
              </a:rPr>
              <a:t>Kendala aktivasi, akses akun, dan penggunaan</a:t>
            </a:r>
            <a:r>
              <a:rPr lang="en-US" b="true" sz="2383">
                <a:solidFill>
                  <a:srgbClr val="0A4137"/>
                </a:solidFill>
                <a:latin typeface="DM Sans Bold"/>
                <a:ea typeface="DM Sans Bold"/>
                <a:cs typeface="DM Sans Bold"/>
                <a:sym typeface="DM Sans Bold"/>
              </a:rPr>
              <a:t> layanan menjadi kebutuhan utama pendampingan pengguna Coretax</a:t>
            </a:r>
          </a:p>
        </p:txBody>
      </p:sp>
      <p:sp>
        <p:nvSpPr>
          <p:cNvPr name="TextBox 42" id="42"/>
          <p:cNvSpPr txBox="true"/>
          <p:nvPr/>
        </p:nvSpPr>
        <p:spPr>
          <a:xfrm rot="0">
            <a:off x="1130743" y="-15572"/>
            <a:ext cx="11968037" cy="906225"/>
          </a:xfrm>
          <a:prstGeom prst="rect">
            <a:avLst/>
          </a:prstGeom>
        </p:spPr>
        <p:txBody>
          <a:bodyPr anchor="t" rtlCol="false" tIns="0" lIns="0" bIns="0" rIns="0">
            <a:spAutoFit/>
          </a:bodyPr>
          <a:lstStyle/>
          <a:p>
            <a:pPr algn="l">
              <a:lnSpc>
                <a:spcPts val="3600"/>
              </a:lnSpc>
            </a:pPr>
            <a:r>
              <a:rPr lang="en-US" b="true" sz="2571">
                <a:solidFill>
                  <a:srgbClr val="9A2F2B"/>
                </a:solidFill>
                <a:latin typeface="DM Sans Bold"/>
                <a:ea typeface="DM Sans Bold"/>
                <a:cs typeface="DM Sans Bold"/>
                <a:sym typeface="DM Sans Bold"/>
              </a:rPr>
              <a:t>Kendala Akses dan Pemahaman Coretax Meningkatkan Kebutuhan</a:t>
            </a:r>
            <a:r>
              <a:rPr lang="en-US" b="true" sz="2571">
                <a:solidFill>
                  <a:srgbClr val="9A2F2B"/>
                </a:solidFill>
                <a:latin typeface="DM Sans Bold"/>
                <a:ea typeface="DM Sans Bold"/>
                <a:cs typeface="DM Sans Bold"/>
                <a:sym typeface="DM Sans Bold"/>
              </a:rPr>
              <a:t> Laya</a:t>
            </a:r>
            <a:r>
              <a:rPr lang="en-US" b="true" sz="2571">
                <a:solidFill>
                  <a:srgbClr val="9A2F2B"/>
                </a:solidFill>
                <a:latin typeface="DM Sans Bold"/>
                <a:ea typeface="DM Sans Bold"/>
                <a:cs typeface="DM Sans Bold"/>
                <a:sym typeface="DM Sans Bold"/>
              </a:rPr>
              <a:t>nan Informasi Wajib Pajak</a:t>
            </a:r>
          </a:p>
        </p:txBody>
      </p:sp>
      <p:sp>
        <p:nvSpPr>
          <p:cNvPr name="Freeform 43" id="43"/>
          <p:cNvSpPr/>
          <p:nvPr/>
        </p:nvSpPr>
        <p:spPr>
          <a:xfrm flipH="false" flipV="false" rot="0">
            <a:off x="16253047" y="28336"/>
            <a:ext cx="1539316" cy="1539316"/>
          </a:xfrm>
          <a:custGeom>
            <a:avLst/>
            <a:gdLst/>
            <a:ahLst/>
            <a:cxnLst/>
            <a:rect r="r" b="b" t="t" l="l"/>
            <a:pathLst>
              <a:path h="1539316" w="1539316">
                <a:moveTo>
                  <a:pt x="0" y="0"/>
                </a:moveTo>
                <a:lnTo>
                  <a:pt x="1539315" y="0"/>
                </a:lnTo>
                <a:lnTo>
                  <a:pt x="1539315" y="1539316"/>
                </a:lnTo>
                <a:lnTo>
                  <a:pt x="0" y="1539316"/>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5800" y="1591056"/>
            <a:ext cx="16911828" cy="30175"/>
            <a:chOff x="0" y="0"/>
            <a:chExt cx="22549104" cy="40234"/>
          </a:xfrm>
        </p:grpSpPr>
        <p:sp>
          <p:nvSpPr>
            <p:cNvPr name="Freeform 3" id="3"/>
            <p:cNvSpPr/>
            <p:nvPr/>
          </p:nvSpPr>
          <p:spPr>
            <a:xfrm flipH="false" flipV="false" rot="0">
              <a:off x="0" y="0"/>
              <a:ext cx="22549104" cy="40259"/>
            </a:xfrm>
            <a:custGeom>
              <a:avLst/>
              <a:gdLst/>
              <a:ahLst/>
              <a:cxnLst/>
              <a:rect r="r" b="b" t="t" l="l"/>
              <a:pathLst>
                <a:path h="40259" w="22549104">
                  <a:moveTo>
                    <a:pt x="0" y="0"/>
                  </a:moveTo>
                  <a:lnTo>
                    <a:pt x="22549104" y="0"/>
                  </a:lnTo>
                  <a:lnTo>
                    <a:pt x="22549104" y="40259"/>
                  </a:lnTo>
                  <a:lnTo>
                    <a:pt x="0" y="40259"/>
                  </a:lnTo>
                  <a:close/>
                </a:path>
              </a:pathLst>
            </a:custGeom>
            <a:solidFill>
              <a:srgbClr val="1A1A1A"/>
            </a:solidFill>
          </p:spPr>
        </p:sp>
      </p:grpSp>
      <p:grpSp>
        <p:nvGrpSpPr>
          <p:cNvPr name="Group 4" id="4"/>
          <p:cNvGrpSpPr/>
          <p:nvPr/>
        </p:nvGrpSpPr>
        <p:grpSpPr>
          <a:xfrm rot="0">
            <a:off x="17213580" y="9532620"/>
            <a:ext cx="822960" cy="617220"/>
            <a:chOff x="0" y="0"/>
            <a:chExt cx="1097280" cy="822960"/>
          </a:xfrm>
        </p:grpSpPr>
        <p:sp>
          <p:nvSpPr>
            <p:cNvPr name="Freeform 5" id="5"/>
            <p:cNvSpPr/>
            <p:nvPr/>
          </p:nvSpPr>
          <p:spPr>
            <a:xfrm flipH="false" flipV="false" rot="0">
              <a:off x="0" y="0"/>
              <a:ext cx="1097280" cy="822960"/>
            </a:xfrm>
            <a:custGeom>
              <a:avLst/>
              <a:gdLst/>
              <a:ahLst/>
              <a:cxnLst/>
              <a:rect r="r" b="b" t="t" l="l"/>
              <a:pathLst>
                <a:path h="822960" w="1097280">
                  <a:moveTo>
                    <a:pt x="0" y="0"/>
                  </a:moveTo>
                  <a:lnTo>
                    <a:pt x="1097280" y="0"/>
                  </a:lnTo>
                  <a:lnTo>
                    <a:pt x="1097280" y="822960"/>
                  </a:lnTo>
                  <a:lnTo>
                    <a:pt x="0" y="822960"/>
                  </a:lnTo>
                  <a:close/>
                </a:path>
              </a:pathLst>
            </a:custGeom>
            <a:blipFill>
              <a:blip r:embed="rId3">
                <a:alphaModFix amt="0"/>
              </a:blip>
              <a:stretch>
                <a:fillRect l="-46227" t="0" r="-46227" b="0"/>
              </a:stretch>
            </a:blipFill>
          </p:spPr>
        </p:sp>
        <p:sp>
          <p:nvSpPr>
            <p:cNvPr name="TextBox 6" id="6"/>
            <p:cNvSpPr txBox="true"/>
            <p:nvPr/>
          </p:nvSpPr>
          <p:spPr>
            <a:xfrm>
              <a:off x="0" y="-9525"/>
              <a:ext cx="1097280" cy="832485"/>
            </a:xfrm>
            <a:prstGeom prst="rect">
              <a:avLst/>
            </a:prstGeom>
          </p:spPr>
          <p:txBody>
            <a:bodyPr anchor="ctr" rtlCol="false" tIns="0" lIns="0" bIns="0" rIns="0"/>
            <a:lstStyle/>
            <a:p>
              <a:pPr algn="r">
                <a:lnSpc>
                  <a:spcPts val="3600"/>
                </a:lnSpc>
              </a:pPr>
              <a:r>
                <a:rPr lang="en-US" sz="3000" b="true">
                  <a:solidFill>
                    <a:srgbClr val="1A1A1A"/>
                  </a:solidFill>
                  <a:latin typeface="DM Sans Bold"/>
                  <a:ea typeface="DM Sans Bold"/>
                  <a:cs typeface="DM Sans Bold"/>
                  <a:sym typeface="DM Sans Bold"/>
                </a:rPr>
                <a:t>8</a:t>
              </a:r>
            </a:p>
          </p:txBody>
        </p:sp>
      </p:grpSp>
      <p:sp>
        <p:nvSpPr>
          <p:cNvPr name="Freeform 7" id="7"/>
          <p:cNvSpPr/>
          <p:nvPr/>
        </p:nvSpPr>
        <p:spPr>
          <a:xfrm flipH="false" flipV="false" rot="0">
            <a:off x="0" y="-21105"/>
            <a:ext cx="773670" cy="1627249"/>
          </a:xfrm>
          <a:custGeom>
            <a:avLst/>
            <a:gdLst/>
            <a:ahLst/>
            <a:cxnLst/>
            <a:rect r="r" b="b" t="t" l="l"/>
            <a:pathLst>
              <a:path h="1627249" w="773670">
                <a:moveTo>
                  <a:pt x="0" y="0"/>
                </a:moveTo>
                <a:lnTo>
                  <a:pt x="773670" y="0"/>
                </a:lnTo>
                <a:lnTo>
                  <a:pt x="773670" y="1627249"/>
                </a:lnTo>
                <a:lnTo>
                  <a:pt x="0" y="1627249"/>
                </a:lnTo>
                <a:lnTo>
                  <a:pt x="0" y="0"/>
                </a:lnTo>
                <a:close/>
              </a:path>
            </a:pathLst>
          </a:custGeom>
          <a:blipFill>
            <a:blip r:embed="rId4">
              <a:extLst>
                <a:ext uri="{96DAC541-7B7A-43D3-8B79-37D633B846F1}">
                  <asvg:svgBlip xmlns:asvg="http://schemas.microsoft.com/office/drawing/2016/SVG/main" r:embed="rId5"/>
                </a:ext>
              </a:extLst>
            </a:blip>
            <a:stretch>
              <a:fillRect l="0" t="0" r="-1757981" b="0"/>
            </a:stretch>
          </a:blipFill>
        </p:spPr>
      </p:sp>
      <p:grpSp>
        <p:nvGrpSpPr>
          <p:cNvPr name="Group 8" id="8"/>
          <p:cNvGrpSpPr/>
          <p:nvPr/>
        </p:nvGrpSpPr>
        <p:grpSpPr>
          <a:xfrm rot="0">
            <a:off x="685800" y="9601200"/>
            <a:ext cx="3909060" cy="507492"/>
            <a:chOff x="0" y="0"/>
            <a:chExt cx="5212080" cy="676656"/>
          </a:xfrm>
        </p:grpSpPr>
        <p:sp>
          <p:nvSpPr>
            <p:cNvPr name="Freeform 9" id="9"/>
            <p:cNvSpPr/>
            <p:nvPr/>
          </p:nvSpPr>
          <p:spPr>
            <a:xfrm flipH="false" flipV="false" rot="0">
              <a:off x="0" y="0"/>
              <a:ext cx="5212080" cy="676656"/>
            </a:xfrm>
            <a:custGeom>
              <a:avLst/>
              <a:gdLst/>
              <a:ahLst/>
              <a:cxnLst/>
              <a:rect r="r" b="b" t="t" l="l"/>
              <a:pathLst>
                <a:path h="676656" w="5212080">
                  <a:moveTo>
                    <a:pt x="0" y="91440"/>
                  </a:moveTo>
                  <a:cubicBezTo>
                    <a:pt x="0" y="40894"/>
                    <a:pt x="40894" y="0"/>
                    <a:pt x="91440" y="0"/>
                  </a:cubicBezTo>
                  <a:lnTo>
                    <a:pt x="5120640" y="0"/>
                  </a:lnTo>
                  <a:cubicBezTo>
                    <a:pt x="5171186" y="0"/>
                    <a:pt x="5212080" y="40894"/>
                    <a:pt x="5212080" y="91440"/>
                  </a:cubicBezTo>
                  <a:lnTo>
                    <a:pt x="5212080" y="585216"/>
                  </a:lnTo>
                  <a:cubicBezTo>
                    <a:pt x="5212080" y="635762"/>
                    <a:pt x="5171186" y="676656"/>
                    <a:pt x="5120640" y="676656"/>
                  </a:cubicBezTo>
                  <a:lnTo>
                    <a:pt x="91440" y="676656"/>
                  </a:lnTo>
                  <a:cubicBezTo>
                    <a:pt x="40894" y="676656"/>
                    <a:pt x="0" y="635762"/>
                    <a:pt x="0" y="585216"/>
                  </a:cubicBezTo>
                  <a:close/>
                </a:path>
              </a:pathLst>
            </a:custGeom>
            <a:solidFill>
              <a:srgbClr val="B2211B"/>
            </a:solidFill>
          </p:spPr>
        </p:sp>
      </p:grpSp>
      <p:grpSp>
        <p:nvGrpSpPr>
          <p:cNvPr name="Group 10" id="10"/>
          <p:cNvGrpSpPr/>
          <p:nvPr/>
        </p:nvGrpSpPr>
        <p:grpSpPr>
          <a:xfrm rot="0">
            <a:off x="685800" y="9601200"/>
            <a:ext cx="3909060" cy="507492"/>
            <a:chOff x="0" y="0"/>
            <a:chExt cx="5212080" cy="676656"/>
          </a:xfrm>
        </p:grpSpPr>
        <p:sp>
          <p:nvSpPr>
            <p:cNvPr name="Freeform 11" id="11"/>
            <p:cNvSpPr/>
            <p:nvPr/>
          </p:nvSpPr>
          <p:spPr>
            <a:xfrm flipH="false" flipV="false" rot="0">
              <a:off x="0" y="0"/>
              <a:ext cx="5212080" cy="676656"/>
            </a:xfrm>
            <a:custGeom>
              <a:avLst/>
              <a:gdLst/>
              <a:ahLst/>
              <a:cxnLst/>
              <a:rect r="r" b="b" t="t" l="l"/>
              <a:pathLst>
                <a:path h="676656" w="5212080">
                  <a:moveTo>
                    <a:pt x="0" y="0"/>
                  </a:moveTo>
                  <a:lnTo>
                    <a:pt x="5212080" y="0"/>
                  </a:lnTo>
                  <a:lnTo>
                    <a:pt x="5212080" y="676656"/>
                  </a:lnTo>
                  <a:lnTo>
                    <a:pt x="0" y="676656"/>
                  </a:lnTo>
                  <a:close/>
                </a:path>
              </a:pathLst>
            </a:custGeom>
            <a:blipFill>
              <a:blip r:embed="rId3">
                <a:alphaModFix amt="0"/>
              </a:blip>
              <a:stretch>
                <a:fillRect l="0" t="-100087" r="0" b="-100087"/>
              </a:stretch>
            </a:blipFill>
          </p:spPr>
        </p:sp>
        <p:sp>
          <p:nvSpPr>
            <p:cNvPr name="TextBox 12" id="12"/>
            <p:cNvSpPr txBox="true"/>
            <p:nvPr/>
          </p:nvSpPr>
          <p:spPr>
            <a:xfrm>
              <a:off x="0" y="0"/>
              <a:ext cx="5212080" cy="676656"/>
            </a:xfrm>
            <a:prstGeom prst="rect">
              <a:avLst/>
            </a:prstGeom>
          </p:spPr>
          <p:txBody>
            <a:bodyPr anchor="ctr" rtlCol="false" tIns="0" lIns="0" bIns="0" rIns="0"/>
            <a:lstStyle/>
            <a:p>
              <a:pPr algn="ctr">
                <a:lnSpc>
                  <a:spcPts val="1889"/>
                </a:lnSpc>
              </a:pPr>
              <a:r>
                <a:rPr lang="en-US" sz="1575" b="true">
                  <a:solidFill>
                    <a:srgbClr val="FFFFFF"/>
                  </a:solidFill>
                  <a:latin typeface="DM Sans Bold"/>
                  <a:ea typeface="DM Sans Bold"/>
                  <a:cs typeface="DM Sans Bold"/>
                  <a:sym typeface="DM Sans Bold"/>
                </a:rPr>
                <a:t>Masalah</a:t>
              </a:r>
            </a:p>
          </p:txBody>
        </p:sp>
      </p:grpSp>
      <p:grpSp>
        <p:nvGrpSpPr>
          <p:cNvPr name="Group 13" id="13"/>
          <p:cNvGrpSpPr/>
          <p:nvPr/>
        </p:nvGrpSpPr>
        <p:grpSpPr>
          <a:xfrm rot="0">
            <a:off x="4937760" y="9669780"/>
            <a:ext cx="3909060" cy="438912"/>
            <a:chOff x="0" y="0"/>
            <a:chExt cx="5212080" cy="585216"/>
          </a:xfrm>
        </p:grpSpPr>
        <p:sp>
          <p:nvSpPr>
            <p:cNvPr name="Freeform 14" id="14"/>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15" id="15"/>
          <p:cNvGrpSpPr/>
          <p:nvPr/>
        </p:nvGrpSpPr>
        <p:grpSpPr>
          <a:xfrm rot="0">
            <a:off x="4937760" y="9669780"/>
            <a:ext cx="3909060" cy="438912"/>
            <a:chOff x="0" y="0"/>
            <a:chExt cx="5212080" cy="585216"/>
          </a:xfrm>
        </p:grpSpPr>
        <p:sp>
          <p:nvSpPr>
            <p:cNvPr name="Freeform 16" id="16"/>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17" id="17"/>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Solusi</a:t>
              </a:r>
            </a:p>
          </p:txBody>
        </p:sp>
      </p:grpSp>
      <p:grpSp>
        <p:nvGrpSpPr>
          <p:cNvPr name="Group 18" id="18"/>
          <p:cNvGrpSpPr/>
          <p:nvPr/>
        </p:nvGrpSpPr>
        <p:grpSpPr>
          <a:xfrm rot="0">
            <a:off x="9189720" y="9669780"/>
            <a:ext cx="3909060" cy="438912"/>
            <a:chOff x="0" y="0"/>
            <a:chExt cx="5212080" cy="585216"/>
          </a:xfrm>
        </p:grpSpPr>
        <p:sp>
          <p:nvSpPr>
            <p:cNvPr name="Freeform 19" id="19"/>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20" id="20"/>
          <p:cNvGrpSpPr/>
          <p:nvPr/>
        </p:nvGrpSpPr>
        <p:grpSpPr>
          <a:xfrm rot="0">
            <a:off x="9189720" y="9669780"/>
            <a:ext cx="3909060" cy="438912"/>
            <a:chOff x="0" y="0"/>
            <a:chExt cx="5212080" cy="585216"/>
          </a:xfrm>
        </p:grpSpPr>
        <p:sp>
          <p:nvSpPr>
            <p:cNvPr name="Freeform 21" id="21"/>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22" id="22"/>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Arsitektur</a:t>
              </a:r>
            </a:p>
          </p:txBody>
        </p:sp>
      </p:grpSp>
      <p:grpSp>
        <p:nvGrpSpPr>
          <p:cNvPr name="Group 23" id="23"/>
          <p:cNvGrpSpPr/>
          <p:nvPr/>
        </p:nvGrpSpPr>
        <p:grpSpPr>
          <a:xfrm rot="0">
            <a:off x="13441680" y="9669780"/>
            <a:ext cx="3909060" cy="438912"/>
            <a:chOff x="0" y="0"/>
            <a:chExt cx="5212080" cy="585216"/>
          </a:xfrm>
        </p:grpSpPr>
        <p:sp>
          <p:nvSpPr>
            <p:cNvPr name="Freeform 24" id="24"/>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25" id="25"/>
          <p:cNvGrpSpPr/>
          <p:nvPr/>
        </p:nvGrpSpPr>
        <p:grpSpPr>
          <a:xfrm rot="0">
            <a:off x="13441680" y="9669780"/>
            <a:ext cx="3909060" cy="438912"/>
            <a:chOff x="0" y="0"/>
            <a:chExt cx="5212080" cy="585216"/>
          </a:xfrm>
        </p:grpSpPr>
        <p:sp>
          <p:nvSpPr>
            <p:cNvPr name="Freeform 26" id="26"/>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27" id="27"/>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Biaya &amp; Skalabilitas</a:t>
              </a:r>
            </a:p>
          </p:txBody>
        </p:sp>
      </p:grpSp>
      <p:sp>
        <p:nvSpPr>
          <p:cNvPr name="Freeform 28" id="28"/>
          <p:cNvSpPr/>
          <p:nvPr/>
        </p:nvSpPr>
        <p:spPr>
          <a:xfrm flipH="false" flipV="false" rot="0">
            <a:off x="773252" y="2111339"/>
            <a:ext cx="16577488" cy="6666664"/>
          </a:xfrm>
          <a:custGeom>
            <a:avLst/>
            <a:gdLst/>
            <a:ahLst/>
            <a:cxnLst/>
            <a:rect r="r" b="b" t="t" l="l"/>
            <a:pathLst>
              <a:path h="6666664" w="16577488">
                <a:moveTo>
                  <a:pt x="0" y="0"/>
                </a:moveTo>
                <a:lnTo>
                  <a:pt x="16577488" y="0"/>
                </a:lnTo>
                <a:lnTo>
                  <a:pt x="16577488" y="6666664"/>
                </a:lnTo>
                <a:lnTo>
                  <a:pt x="0" y="6666664"/>
                </a:lnTo>
                <a:lnTo>
                  <a:pt x="0" y="0"/>
                </a:lnTo>
                <a:close/>
              </a:path>
            </a:pathLst>
          </a:custGeom>
          <a:blipFill>
            <a:blip r:embed="rId6"/>
            <a:stretch>
              <a:fillRect l="0" t="-24468" r="0" b="-15248"/>
            </a:stretch>
          </a:blipFill>
        </p:spPr>
      </p:sp>
      <p:sp>
        <p:nvSpPr>
          <p:cNvPr name="TextBox 29" id="29"/>
          <p:cNvSpPr txBox="true"/>
          <p:nvPr/>
        </p:nvSpPr>
        <p:spPr>
          <a:xfrm rot="0">
            <a:off x="822960" y="588663"/>
            <a:ext cx="14127480" cy="564244"/>
          </a:xfrm>
          <a:prstGeom prst="rect">
            <a:avLst/>
          </a:prstGeom>
        </p:spPr>
        <p:txBody>
          <a:bodyPr anchor="t" rtlCol="false" tIns="0" lIns="0" bIns="0" rIns="0">
            <a:spAutoFit/>
          </a:bodyPr>
          <a:lstStyle/>
          <a:p>
            <a:pPr algn="l">
              <a:lnSpc>
                <a:spcPts val="4557"/>
              </a:lnSpc>
            </a:pPr>
            <a:r>
              <a:rPr lang="en-US" sz="3624" b="true">
                <a:solidFill>
                  <a:srgbClr val="000000"/>
                </a:solidFill>
                <a:latin typeface="DM Sans Bold"/>
                <a:ea typeface="DM Sans Bold"/>
                <a:cs typeface="DM Sans Bold"/>
                <a:sym typeface="DM Sans Bold"/>
              </a:rPr>
              <a:t>Target Pengguna</a:t>
            </a:r>
          </a:p>
        </p:txBody>
      </p:sp>
      <p:sp>
        <p:nvSpPr>
          <p:cNvPr name="Freeform 30" id="30"/>
          <p:cNvSpPr/>
          <p:nvPr/>
        </p:nvSpPr>
        <p:spPr>
          <a:xfrm flipH="false" flipV="false" rot="0">
            <a:off x="16253047" y="28336"/>
            <a:ext cx="1539316" cy="1539316"/>
          </a:xfrm>
          <a:custGeom>
            <a:avLst/>
            <a:gdLst/>
            <a:ahLst/>
            <a:cxnLst/>
            <a:rect r="r" b="b" t="t" l="l"/>
            <a:pathLst>
              <a:path h="1539316" w="1539316">
                <a:moveTo>
                  <a:pt x="0" y="0"/>
                </a:moveTo>
                <a:lnTo>
                  <a:pt x="1539315" y="0"/>
                </a:lnTo>
                <a:lnTo>
                  <a:pt x="1539315" y="1539316"/>
                </a:lnTo>
                <a:lnTo>
                  <a:pt x="0" y="1539316"/>
                </a:lnTo>
                <a:lnTo>
                  <a:pt x="0" y="0"/>
                </a:lnTo>
                <a:close/>
              </a:path>
            </a:pathLst>
          </a:custGeom>
          <a:blipFill>
            <a:blip r:embed="rId7"/>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822960" y="588663"/>
            <a:ext cx="14127480" cy="564243"/>
          </a:xfrm>
          <a:prstGeom prst="rect">
            <a:avLst/>
          </a:prstGeom>
        </p:spPr>
        <p:txBody>
          <a:bodyPr anchor="t" rtlCol="false" tIns="0" lIns="0" bIns="0" rIns="0">
            <a:spAutoFit/>
          </a:bodyPr>
          <a:lstStyle/>
          <a:p>
            <a:pPr algn="l">
              <a:lnSpc>
                <a:spcPts val="4557"/>
              </a:lnSpc>
            </a:pPr>
            <a:r>
              <a:rPr lang="en-US" sz="3624" b="true">
                <a:solidFill>
                  <a:srgbClr val="000000"/>
                </a:solidFill>
                <a:latin typeface="DM Sans Bold"/>
                <a:ea typeface="DM Sans Bold"/>
                <a:cs typeface="DM Sans Bold"/>
                <a:sym typeface="DM Sans Bold"/>
              </a:rPr>
              <a:t>C</a:t>
            </a:r>
            <a:r>
              <a:rPr lang="en-US" sz="3624" b="true">
                <a:solidFill>
                  <a:srgbClr val="000000"/>
                </a:solidFill>
                <a:latin typeface="DM Sans Bold"/>
                <a:ea typeface="DM Sans Bold"/>
                <a:cs typeface="DM Sans Bold"/>
                <a:sym typeface="DM Sans Bold"/>
              </a:rPr>
              <a:t>ara Kerja dan Batasan Sistem AI Voice Agent</a:t>
            </a:r>
          </a:p>
        </p:txBody>
      </p:sp>
      <p:grpSp>
        <p:nvGrpSpPr>
          <p:cNvPr name="Group 3" id="3"/>
          <p:cNvGrpSpPr/>
          <p:nvPr/>
        </p:nvGrpSpPr>
        <p:grpSpPr>
          <a:xfrm rot="0">
            <a:off x="685800" y="1591056"/>
            <a:ext cx="16911828" cy="30175"/>
            <a:chOff x="0" y="0"/>
            <a:chExt cx="22549104" cy="40234"/>
          </a:xfrm>
        </p:grpSpPr>
        <p:sp>
          <p:nvSpPr>
            <p:cNvPr name="Freeform 4" id="4"/>
            <p:cNvSpPr/>
            <p:nvPr/>
          </p:nvSpPr>
          <p:spPr>
            <a:xfrm flipH="false" flipV="false" rot="0">
              <a:off x="0" y="0"/>
              <a:ext cx="22549104" cy="40259"/>
            </a:xfrm>
            <a:custGeom>
              <a:avLst/>
              <a:gdLst/>
              <a:ahLst/>
              <a:cxnLst/>
              <a:rect r="r" b="b" t="t" l="l"/>
              <a:pathLst>
                <a:path h="40259" w="22549104">
                  <a:moveTo>
                    <a:pt x="0" y="0"/>
                  </a:moveTo>
                  <a:lnTo>
                    <a:pt x="22549104" y="0"/>
                  </a:lnTo>
                  <a:lnTo>
                    <a:pt x="22549104" y="40259"/>
                  </a:lnTo>
                  <a:lnTo>
                    <a:pt x="0" y="40259"/>
                  </a:lnTo>
                  <a:close/>
                </a:path>
              </a:pathLst>
            </a:custGeom>
            <a:solidFill>
              <a:srgbClr val="1A1A1A"/>
            </a:solidFill>
          </p:spPr>
        </p:sp>
      </p:grpSp>
      <p:grpSp>
        <p:nvGrpSpPr>
          <p:cNvPr name="Group 5" id="5"/>
          <p:cNvGrpSpPr/>
          <p:nvPr/>
        </p:nvGrpSpPr>
        <p:grpSpPr>
          <a:xfrm rot="0">
            <a:off x="12618720" y="2400300"/>
            <a:ext cx="4663440" cy="480060"/>
            <a:chOff x="0" y="0"/>
            <a:chExt cx="6217920" cy="640080"/>
          </a:xfrm>
        </p:grpSpPr>
        <p:sp>
          <p:nvSpPr>
            <p:cNvPr name="Freeform 6" id="6"/>
            <p:cNvSpPr/>
            <p:nvPr/>
          </p:nvSpPr>
          <p:spPr>
            <a:xfrm flipH="false" flipV="false" rot="0">
              <a:off x="0" y="0"/>
              <a:ext cx="6217920" cy="640080"/>
            </a:xfrm>
            <a:custGeom>
              <a:avLst/>
              <a:gdLst/>
              <a:ahLst/>
              <a:cxnLst/>
              <a:rect r="r" b="b" t="t" l="l"/>
              <a:pathLst>
                <a:path h="640080" w="6217920">
                  <a:moveTo>
                    <a:pt x="0" y="0"/>
                  </a:moveTo>
                  <a:lnTo>
                    <a:pt x="6217920" y="0"/>
                  </a:lnTo>
                  <a:lnTo>
                    <a:pt x="6217920" y="640080"/>
                  </a:lnTo>
                  <a:lnTo>
                    <a:pt x="0" y="640080"/>
                  </a:lnTo>
                  <a:close/>
                </a:path>
              </a:pathLst>
            </a:custGeom>
            <a:blipFill>
              <a:blip r:embed="rId3">
                <a:alphaModFix amt="0"/>
              </a:blip>
              <a:stretch>
                <a:fillRect l="0" t="-139283" r="0" b="-139283"/>
              </a:stretch>
            </a:blipFill>
          </p:spPr>
        </p:sp>
        <p:sp>
          <p:nvSpPr>
            <p:cNvPr name="TextBox 7" id="7"/>
            <p:cNvSpPr txBox="true"/>
            <p:nvPr/>
          </p:nvSpPr>
          <p:spPr>
            <a:xfrm>
              <a:off x="0" y="0"/>
              <a:ext cx="6217920" cy="640080"/>
            </a:xfrm>
            <a:prstGeom prst="rect">
              <a:avLst/>
            </a:prstGeom>
          </p:spPr>
          <p:txBody>
            <a:bodyPr anchor="ctr" rtlCol="false" tIns="0" lIns="0" bIns="0" rIns="0"/>
            <a:lstStyle/>
            <a:p>
              <a:pPr algn="l">
                <a:lnSpc>
                  <a:spcPts val="2160"/>
                </a:lnSpc>
              </a:pPr>
              <a:r>
                <a:rPr lang="en-US" b="true" sz="1800" spc="149">
                  <a:solidFill>
                    <a:srgbClr val="FFFFFF"/>
                  </a:solidFill>
                  <a:latin typeface="DM Sans Bold"/>
                  <a:ea typeface="DM Sans Bold"/>
                  <a:cs typeface="DM Sans Bold"/>
                  <a:sym typeface="DM Sans Bold"/>
                </a:rPr>
                <a:t>Tidak</a:t>
              </a:r>
              <a:r>
                <a:rPr lang="en-US" b="true" sz="1800" spc="149">
                  <a:solidFill>
                    <a:srgbClr val="FFFFFF"/>
                  </a:solidFill>
                  <a:latin typeface="DM Sans Bold"/>
                  <a:ea typeface="DM Sans Bold"/>
                  <a:cs typeface="DM Sans Bold"/>
                  <a:sym typeface="DM Sans Bold"/>
                </a:rPr>
                <a:t> termasuk pada versi awal:</a:t>
              </a:r>
            </a:p>
          </p:txBody>
        </p:sp>
      </p:grpSp>
      <p:sp>
        <p:nvSpPr>
          <p:cNvPr name="TextBox 8" id="8"/>
          <p:cNvSpPr txBox="true"/>
          <p:nvPr/>
        </p:nvSpPr>
        <p:spPr>
          <a:xfrm rot="0">
            <a:off x="12412980" y="3873191"/>
            <a:ext cx="5074920" cy="3531928"/>
          </a:xfrm>
          <a:prstGeom prst="rect">
            <a:avLst/>
          </a:prstGeom>
        </p:spPr>
        <p:txBody>
          <a:bodyPr anchor="t" rtlCol="false" tIns="0" lIns="0" bIns="0" rIns="0">
            <a:spAutoFit/>
          </a:bodyPr>
          <a:lstStyle/>
          <a:p>
            <a:pPr algn="just" marL="325539" indent="-162770" lvl="1">
              <a:lnSpc>
                <a:spcPts val="2398"/>
              </a:lnSpc>
              <a:buFont typeface="Arial"/>
              <a:buChar char="•"/>
            </a:pPr>
            <a:r>
              <a:rPr lang="en-US" sz="1798">
                <a:solidFill>
                  <a:srgbClr val="000000"/>
                </a:solidFill>
                <a:latin typeface="DM Sans"/>
                <a:ea typeface="DM Sans"/>
                <a:cs typeface="DM Sans"/>
                <a:sym typeface="DM Sans"/>
              </a:rPr>
              <a:t>Mengakses atau menampilkan data perpajakan pribadi tanpa proses autentikasi dan verifikasi.</a:t>
            </a:r>
          </a:p>
          <a:p>
            <a:pPr algn="just" marL="325539" indent="-162770" lvl="1">
              <a:lnSpc>
                <a:spcPts val="2397"/>
              </a:lnSpc>
              <a:buFont typeface="Arial"/>
              <a:buChar char="•"/>
            </a:pPr>
            <a:r>
              <a:rPr lang="en-US" sz="1798">
                <a:solidFill>
                  <a:srgbClr val="000000"/>
                </a:solidFill>
                <a:latin typeface="DM Sans"/>
                <a:ea typeface="DM Sans"/>
                <a:cs typeface="DM Sans"/>
                <a:sym typeface="DM Sans"/>
              </a:rPr>
              <a:t>Melakukan perubahan data, pelaporan, atau transaksi perpajakan atas nama pengguna.</a:t>
            </a:r>
          </a:p>
          <a:p>
            <a:pPr algn="just" marL="325539" indent="-162770" lvl="1">
              <a:lnSpc>
                <a:spcPts val="2397"/>
              </a:lnSpc>
              <a:buFont typeface="Arial"/>
              <a:buChar char="•"/>
            </a:pPr>
            <a:r>
              <a:rPr lang="en-US" sz="1798">
                <a:solidFill>
                  <a:srgbClr val="000000"/>
                </a:solidFill>
                <a:latin typeface="DM Sans"/>
                <a:ea typeface="DM Sans"/>
                <a:cs typeface="DM Sans"/>
                <a:sym typeface="DM Sans"/>
              </a:rPr>
              <a:t>Memberikan keputusan atau penetapa</a:t>
            </a:r>
            <a:r>
              <a:rPr lang="en-US" sz="1798">
                <a:solidFill>
                  <a:srgbClr val="000000"/>
                </a:solidFill>
                <a:latin typeface="DM Sans"/>
                <a:ea typeface="DM Sans"/>
                <a:cs typeface="DM Sans"/>
                <a:sym typeface="DM Sans"/>
              </a:rPr>
              <a:t>n terkait kewajiban perpajakan pengguna.</a:t>
            </a:r>
          </a:p>
          <a:p>
            <a:pPr algn="just" marL="325539" indent="-162770" lvl="1">
              <a:lnSpc>
                <a:spcPts val="2397"/>
              </a:lnSpc>
              <a:buFont typeface="Arial"/>
              <a:buChar char="•"/>
            </a:pPr>
            <a:r>
              <a:rPr lang="en-US" sz="1798">
                <a:solidFill>
                  <a:srgbClr val="000000"/>
                </a:solidFill>
                <a:latin typeface="DM Sans"/>
                <a:ea typeface="DM Sans"/>
                <a:cs typeface="DM Sans"/>
                <a:sym typeface="DM Sans"/>
              </a:rPr>
              <a:t>Menangani kasus yang membutuhkan verifikasi atau pemeriksaan khusus secara otomatis.</a:t>
            </a:r>
          </a:p>
          <a:p>
            <a:pPr algn="just" marL="325539" indent="-162770" lvl="1">
              <a:lnSpc>
                <a:spcPts val="2397"/>
              </a:lnSpc>
              <a:buFont typeface="Arial"/>
              <a:buChar char="•"/>
            </a:pPr>
            <a:r>
              <a:rPr lang="en-US" sz="1798">
                <a:solidFill>
                  <a:srgbClr val="000000"/>
                </a:solidFill>
                <a:latin typeface="DM Sans"/>
                <a:ea typeface="DM Sans"/>
                <a:cs typeface="DM Sans"/>
                <a:sym typeface="DM Sans"/>
              </a:rPr>
              <a:t>Integrasi de</a:t>
            </a:r>
            <a:r>
              <a:rPr lang="en-US" sz="1798">
                <a:solidFill>
                  <a:srgbClr val="000000"/>
                </a:solidFill>
                <a:latin typeface="DM Sans"/>
                <a:ea typeface="DM Sans"/>
                <a:cs typeface="DM Sans"/>
                <a:sym typeface="DM Sans"/>
              </a:rPr>
              <a:t>ngan layanan eksternal di luar ruang lingkup Coretax pada tahap awal.</a:t>
            </a:r>
          </a:p>
        </p:txBody>
      </p:sp>
      <p:grpSp>
        <p:nvGrpSpPr>
          <p:cNvPr name="Group 9" id="9"/>
          <p:cNvGrpSpPr/>
          <p:nvPr/>
        </p:nvGrpSpPr>
        <p:grpSpPr>
          <a:xfrm rot="0">
            <a:off x="12618720" y="7612380"/>
            <a:ext cx="4663440" cy="20574"/>
            <a:chOff x="0" y="0"/>
            <a:chExt cx="6217920" cy="27432"/>
          </a:xfrm>
        </p:grpSpPr>
        <p:sp>
          <p:nvSpPr>
            <p:cNvPr name="Freeform 10" id="10"/>
            <p:cNvSpPr/>
            <p:nvPr/>
          </p:nvSpPr>
          <p:spPr>
            <a:xfrm flipH="false" flipV="false" rot="0">
              <a:off x="0" y="0"/>
              <a:ext cx="6217920" cy="27432"/>
            </a:xfrm>
            <a:custGeom>
              <a:avLst/>
              <a:gdLst/>
              <a:ahLst/>
              <a:cxnLst/>
              <a:rect r="r" b="b" t="t" l="l"/>
              <a:pathLst>
                <a:path h="27432" w="6217920">
                  <a:moveTo>
                    <a:pt x="0" y="0"/>
                  </a:moveTo>
                  <a:lnTo>
                    <a:pt x="6217920" y="0"/>
                  </a:lnTo>
                  <a:lnTo>
                    <a:pt x="6217920" y="27432"/>
                  </a:lnTo>
                  <a:lnTo>
                    <a:pt x="0" y="27432"/>
                  </a:lnTo>
                  <a:close/>
                </a:path>
              </a:pathLst>
            </a:custGeom>
            <a:solidFill>
              <a:srgbClr val="33383F"/>
            </a:solidFill>
          </p:spPr>
        </p:sp>
      </p:grpSp>
      <p:grpSp>
        <p:nvGrpSpPr>
          <p:cNvPr name="Group 11" id="11"/>
          <p:cNvGrpSpPr/>
          <p:nvPr/>
        </p:nvGrpSpPr>
        <p:grpSpPr>
          <a:xfrm rot="0">
            <a:off x="12584430" y="7612380"/>
            <a:ext cx="4732020" cy="1234440"/>
            <a:chOff x="0" y="0"/>
            <a:chExt cx="6309360" cy="1645920"/>
          </a:xfrm>
        </p:grpSpPr>
        <p:sp>
          <p:nvSpPr>
            <p:cNvPr name="Freeform 12" id="12"/>
            <p:cNvSpPr/>
            <p:nvPr/>
          </p:nvSpPr>
          <p:spPr>
            <a:xfrm flipH="false" flipV="false" rot="0">
              <a:off x="0" y="0"/>
              <a:ext cx="6309360" cy="1645920"/>
            </a:xfrm>
            <a:custGeom>
              <a:avLst/>
              <a:gdLst/>
              <a:ahLst/>
              <a:cxnLst/>
              <a:rect r="r" b="b" t="t" l="l"/>
              <a:pathLst>
                <a:path h="1645920" w="6309360">
                  <a:moveTo>
                    <a:pt x="0" y="0"/>
                  </a:moveTo>
                  <a:lnTo>
                    <a:pt x="6309360" y="0"/>
                  </a:lnTo>
                  <a:lnTo>
                    <a:pt x="6309360" y="1645920"/>
                  </a:lnTo>
                  <a:lnTo>
                    <a:pt x="0" y="1645920"/>
                  </a:lnTo>
                  <a:close/>
                </a:path>
              </a:pathLst>
            </a:custGeom>
            <a:blipFill>
              <a:blip r:embed="rId3">
                <a:alphaModFix amt="0"/>
              </a:blip>
              <a:stretch>
                <a:fillRect l="0" t="-24692" r="0" b="-24692"/>
              </a:stretch>
            </a:blipFill>
          </p:spPr>
        </p:sp>
        <p:sp>
          <p:nvSpPr>
            <p:cNvPr name="TextBox 13" id="13"/>
            <p:cNvSpPr txBox="true"/>
            <p:nvPr/>
          </p:nvSpPr>
          <p:spPr>
            <a:xfrm>
              <a:off x="0" y="-19050"/>
              <a:ext cx="6309360" cy="1664970"/>
            </a:xfrm>
            <a:prstGeom prst="rect">
              <a:avLst/>
            </a:prstGeom>
          </p:spPr>
          <p:txBody>
            <a:bodyPr anchor="ctr" rtlCol="false" tIns="0" lIns="0" bIns="0" rIns="0"/>
            <a:lstStyle/>
            <a:p>
              <a:pPr algn="l">
                <a:lnSpc>
                  <a:spcPts val="1949"/>
                </a:lnSpc>
              </a:pPr>
              <a:r>
                <a:rPr lang="en-US" sz="1425" i="true">
                  <a:solidFill>
                    <a:srgbClr val="000000"/>
                  </a:solidFill>
                  <a:latin typeface="DM Sans Italics"/>
                  <a:ea typeface="DM Sans Italics"/>
                  <a:cs typeface="DM Sans Italics"/>
                  <a:sym typeface="DM Sans Italics"/>
                </a:rPr>
                <a:t>Batasan ini dibuat agar sistem tetap fokus pada kebutuhan utama dan dapat dikembangkan secara bertahap.</a:t>
              </a:r>
            </a:p>
          </p:txBody>
        </p:sp>
      </p:grpSp>
      <p:grpSp>
        <p:nvGrpSpPr>
          <p:cNvPr name="Group 14" id="14"/>
          <p:cNvGrpSpPr/>
          <p:nvPr/>
        </p:nvGrpSpPr>
        <p:grpSpPr>
          <a:xfrm rot="0">
            <a:off x="4937760" y="9601200"/>
            <a:ext cx="3909060" cy="507492"/>
            <a:chOff x="0" y="0"/>
            <a:chExt cx="5212080" cy="676656"/>
          </a:xfrm>
        </p:grpSpPr>
        <p:sp>
          <p:nvSpPr>
            <p:cNvPr name="Freeform 15" id="15"/>
            <p:cNvSpPr/>
            <p:nvPr/>
          </p:nvSpPr>
          <p:spPr>
            <a:xfrm flipH="false" flipV="false" rot="0">
              <a:off x="0" y="0"/>
              <a:ext cx="5212080" cy="676656"/>
            </a:xfrm>
            <a:custGeom>
              <a:avLst/>
              <a:gdLst/>
              <a:ahLst/>
              <a:cxnLst/>
              <a:rect r="r" b="b" t="t" l="l"/>
              <a:pathLst>
                <a:path h="676656" w="5212080">
                  <a:moveTo>
                    <a:pt x="0" y="91440"/>
                  </a:moveTo>
                  <a:cubicBezTo>
                    <a:pt x="0" y="40894"/>
                    <a:pt x="40894" y="0"/>
                    <a:pt x="91440" y="0"/>
                  </a:cubicBezTo>
                  <a:lnTo>
                    <a:pt x="5120640" y="0"/>
                  </a:lnTo>
                  <a:cubicBezTo>
                    <a:pt x="5171186" y="0"/>
                    <a:pt x="5212080" y="40894"/>
                    <a:pt x="5212080" y="91440"/>
                  </a:cubicBezTo>
                  <a:lnTo>
                    <a:pt x="5212080" y="585216"/>
                  </a:lnTo>
                  <a:cubicBezTo>
                    <a:pt x="5212080" y="635762"/>
                    <a:pt x="5171186" y="676656"/>
                    <a:pt x="5120640" y="676656"/>
                  </a:cubicBezTo>
                  <a:lnTo>
                    <a:pt x="91440" y="676656"/>
                  </a:lnTo>
                  <a:cubicBezTo>
                    <a:pt x="40894" y="676656"/>
                    <a:pt x="0" y="635762"/>
                    <a:pt x="0" y="585216"/>
                  </a:cubicBezTo>
                  <a:close/>
                </a:path>
              </a:pathLst>
            </a:custGeom>
            <a:solidFill>
              <a:srgbClr val="B2211B"/>
            </a:solidFill>
          </p:spPr>
        </p:sp>
      </p:grpSp>
      <p:grpSp>
        <p:nvGrpSpPr>
          <p:cNvPr name="Group 16" id="16"/>
          <p:cNvGrpSpPr/>
          <p:nvPr/>
        </p:nvGrpSpPr>
        <p:grpSpPr>
          <a:xfrm rot="0">
            <a:off x="4937760" y="9601200"/>
            <a:ext cx="3909060" cy="507492"/>
            <a:chOff x="0" y="0"/>
            <a:chExt cx="5212080" cy="676656"/>
          </a:xfrm>
        </p:grpSpPr>
        <p:sp>
          <p:nvSpPr>
            <p:cNvPr name="Freeform 17" id="17"/>
            <p:cNvSpPr/>
            <p:nvPr/>
          </p:nvSpPr>
          <p:spPr>
            <a:xfrm flipH="false" flipV="false" rot="0">
              <a:off x="0" y="0"/>
              <a:ext cx="5212080" cy="676656"/>
            </a:xfrm>
            <a:custGeom>
              <a:avLst/>
              <a:gdLst/>
              <a:ahLst/>
              <a:cxnLst/>
              <a:rect r="r" b="b" t="t" l="l"/>
              <a:pathLst>
                <a:path h="676656" w="5212080">
                  <a:moveTo>
                    <a:pt x="0" y="0"/>
                  </a:moveTo>
                  <a:lnTo>
                    <a:pt x="5212080" y="0"/>
                  </a:lnTo>
                  <a:lnTo>
                    <a:pt x="5212080" y="676656"/>
                  </a:lnTo>
                  <a:lnTo>
                    <a:pt x="0" y="676656"/>
                  </a:lnTo>
                  <a:close/>
                </a:path>
              </a:pathLst>
            </a:custGeom>
            <a:blipFill>
              <a:blip r:embed="rId3">
                <a:alphaModFix amt="0"/>
              </a:blip>
              <a:stretch>
                <a:fillRect l="0" t="-100087" r="0" b="-100087"/>
              </a:stretch>
            </a:blipFill>
          </p:spPr>
        </p:sp>
        <p:sp>
          <p:nvSpPr>
            <p:cNvPr name="TextBox 18" id="18"/>
            <p:cNvSpPr txBox="true"/>
            <p:nvPr/>
          </p:nvSpPr>
          <p:spPr>
            <a:xfrm>
              <a:off x="0" y="0"/>
              <a:ext cx="5212080" cy="676656"/>
            </a:xfrm>
            <a:prstGeom prst="rect">
              <a:avLst/>
            </a:prstGeom>
          </p:spPr>
          <p:txBody>
            <a:bodyPr anchor="ctr" rtlCol="false" tIns="0" lIns="0" bIns="0" rIns="0"/>
            <a:lstStyle/>
            <a:p>
              <a:pPr algn="ctr">
                <a:lnSpc>
                  <a:spcPts val="1889"/>
                </a:lnSpc>
              </a:pPr>
              <a:r>
                <a:rPr lang="en-US" sz="1575" b="true">
                  <a:solidFill>
                    <a:srgbClr val="FFFFFF"/>
                  </a:solidFill>
                  <a:latin typeface="DM Sans Bold"/>
                  <a:ea typeface="DM Sans Bold"/>
                  <a:cs typeface="DM Sans Bold"/>
                  <a:sym typeface="DM Sans Bold"/>
                </a:rPr>
                <a:t>Solusi</a:t>
              </a:r>
            </a:p>
          </p:txBody>
        </p:sp>
      </p:grpSp>
      <p:grpSp>
        <p:nvGrpSpPr>
          <p:cNvPr name="Group 19" id="19"/>
          <p:cNvGrpSpPr/>
          <p:nvPr/>
        </p:nvGrpSpPr>
        <p:grpSpPr>
          <a:xfrm rot="0">
            <a:off x="17213580" y="9532620"/>
            <a:ext cx="822960" cy="617220"/>
            <a:chOff x="0" y="0"/>
            <a:chExt cx="1097280" cy="822960"/>
          </a:xfrm>
        </p:grpSpPr>
        <p:sp>
          <p:nvSpPr>
            <p:cNvPr name="Freeform 20" id="20"/>
            <p:cNvSpPr/>
            <p:nvPr/>
          </p:nvSpPr>
          <p:spPr>
            <a:xfrm flipH="false" flipV="false" rot="0">
              <a:off x="0" y="0"/>
              <a:ext cx="1097280" cy="822960"/>
            </a:xfrm>
            <a:custGeom>
              <a:avLst/>
              <a:gdLst/>
              <a:ahLst/>
              <a:cxnLst/>
              <a:rect r="r" b="b" t="t" l="l"/>
              <a:pathLst>
                <a:path h="822960" w="1097280">
                  <a:moveTo>
                    <a:pt x="0" y="0"/>
                  </a:moveTo>
                  <a:lnTo>
                    <a:pt x="1097280" y="0"/>
                  </a:lnTo>
                  <a:lnTo>
                    <a:pt x="1097280" y="822960"/>
                  </a:lnTo>
                  <a:lnTo>
                    <a:pt x="0" y="822960"/>
                  </a:lnTo>
                  <a:close/>
                </a:path>
              </a:pathLst>
            </a:custGeom>
            <a:blipFill>
              <a:blip r:embed="rId3">
                <a:alphaModFix amt="0"/>
              </a:blip>
              <a:stretch>
                <a:fillRect l="-46227" t="0" r="-46227" b="0"/>
              </a:stretch>
            </a:blipFill>
          </p:spPr>
        </p:sp>
        <p:sp>
          <p:nvSpPr>
            <p:cNvPr name="TextBox 21" id="21"/>
            <p:cNvSpPr txBox="true"/>
            <p:nvPr/>
          </p:nvSpPr>
          <p:spPr>
            <a:xfrm>
              <a:off x="0" y="-9525"/>
              <a:ext cx="1097280" cy="832485"/>
            </a:xfrm>
            <a:prstGeom prst="rect">
              <a:avLst/>
            </a:prstGeom>
          </p:spPr>
          <p:txBody>
            <a:bodyPr anchor="ctr" rtlCol="false" tIns="0" lIns="0" bIns="0" rIns="0"/>
            <a:lstStyle/>
            <a:p>
              <a:pPr algn="r">
                <a:lnSpc>
                  <a:spcPts val="3600"/>
                </a:lnSpc>
              </a:pPr>
              <a:r>
                <a:rPr lang="en-US" sz="3000" b="true">
                  <a:solidFill>
                    <a:srgbClr val="1A1A1A"/>
                  </a:solidFill>
                  <a:latin typeface="DM Sans Bold"/>
                  <a:ea typeface="DM Sans Bold"/>
                  <a:cs typeface="DM Sans Bold"/>
                  <a:sym typeface="DM Sans Bold"/>
                </a:rPr>
                <a:t>3</a:t>
              </a:r>
            </a:p>
          </p:txBody>
        </p:sp>
      </p:grpSp>
      <p:sp>
        <p:nvSpPr>
          <p:cNvPr name="Freeform 22" id="22"/>
          <p:cNvSpPr/>
          <p:nvPr/>
        </p:nvSpPr>
        <p:spPr>
          <a:xfrm flipH="false" flipV="false" rot="0">
            <a:off x="0" y="-21105"/>
            <a:ext cx="773670" cy="1627249"/>
          </a:xfrm>
          <a:custGeom>
            <a:avLst/>
            <a:gdLst/>
            <a:ahLst/>
            <a:cxnLst/>
            <a:rect r="r" b="b" t="t" l="l"/>
            <a:pathLst>
              <a:path h="1627249" w="773670">
                <a:moveTo>
                  <a:pt x="0" y="0"/>
                </a:moveTo>
                <a:lnTo>
                  <a:pt x="773670" y="0"/>
                </a:lnTo>
                <a:lnTo>
                  <a:pt x="773670" y="1627249"/>
                </a:lnTo>
                <a:lnTo>
                  <a:pt x="0" y="1627249"/>
                </a:lnTo>
                <a:lnTo>
                  <a:pt x="0" y="0"/>
                </a:lnTo>
                <a:close/>
              </a:path>
            </a:pathLst>
          </a:custGeom>
          <a:blipFill>
            <a:blip r:embed="rId4">
              <a:extLst>
                <a:ext uri="{96DAC541-7B7A-43D3-8B79-37D633B846F1}">
                  <asvg:svgBlip xmlns:asvg="http://schemas.microsoft.com/office/drawing/2016/SVG/main" r:embed="rId5"/>
                </a:ext>
              </a:extLst>
            </a:blip>
            <a:stretch>
              <a:fillRect l="0" t="0" r="-1757981" b="0"/>
            </a:stretch>
          </a:blipFill>
        </p:spPr>
      </p:sp>
      <p:graphicFrame>
        <p:nvGraphicFramePr>
          <p:cNvPr name="Table 23" id="23"/>
          <p:cNvGraphicFramePr>
            <a:graphicFrameLocks noGrp="true"/>
          </p:cNvGraphicFramePr>
          <p:nvPr/>
        </p:nvGraphicFramePr>
        <p:xfrm>
          <a:off x="386835" y="3013368"/>
          <a:ext cx="11728052" cy="6244932"/>
        </p:xfrm>
        <a:graphic>
          <a:graphicData uri="http://schemas.openxmlformats.org/drawingml/2006/table">
            <a:tbl>
              <a:tblPr/>
              <a:tblGrid>
                <a:gridCol w="1275231"/>
                <a:gridCol w="10452822"/>
              </a:tblGrid>
              <a:tr h="1182001">
                <a:tc>
                  <a:txBody>
                    <a:bodyPr anchor="t" rtlCol="false"/>
                    <a:lstStyle/>
                    <a:p>
                      <a:pPr algn="ctr">
                        <a:lnSpc>
                          <a:spcPts val="3479"/>
                        </a:lnSpc>
                        <a:defRPr/>
                      </a:pPr>
                      <a:r>
                        <a:rPr lang="en-US" b="true" sz="2899" i="true" spc="-103">
                          <a:solidFill>
                            <a:srgbClr val="FFFFFF"/>
                          </a:solidFill>
                          <a:latin typeface="DM Sans Bold Italics"/>
                          <a:ea typeface="DM Sans Bold Italics"/>
                          <a:cs typeface="DM Sans Bold Italics"/>
                          <a:sym typeface="DM Sans Bold Italics"/>
                        </a:rPr>
                        <a:t>1</a:t>
                      </a:r>
                      <a:endParaRPr lang="en-US" sz="1100"/>
                    </a:p>
                  </a:txBody>
                  <a:tcPr marL="0" marR="0" marT="0" marB="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76200">
                      <a:solidFill>
                        <a:srgbClr val="FFFFFF"/>
                      </a:solidFill>
                      <a:prstDash val="solid"/>
                      <a:round/>
                      <a:headEnd type="none" w="med" len="med"/>
                      <a:tailEnd type="none" w="med" len="med"/>
                    </a:lnB>
                    <a:solidFill>
                      <a:srgbClr val="B2211B"/>
                    </a:solidFill>
                  </a:tcPr>
                </a:tc>
                <a:tc>
                  <a:txBody>
                    <a:bodyPr anchor="t" rtlCol="false"/>
                    <a:lstStyle/>
                    <a:p>
                      <a:pPr algn="ctr">
                        <a:lnSpc>
                          <a:spcPts val="2098"/>
                        </a:lnSpc>
                        <a:defRPr/>
                      </a:pPr>
                      <a:r>
                        <a:rPr lang="en-US" b="true" sz="1800" spc="39">
                          <a:solidFill>
                            <a:srgbClr val="000000"/>
                          </a:solidFill>
                          <a:latin typeface="DM Sans Bold"/>
                          <a:ea typeface="DM Sans Bold"/>
                          <a:cs typeface="DM Sans Bold"/>
                          <a:sym typeface="DM Sans Bold"/>
                        </a:rPr>
                        <a:t>AI menangani pertanyaan umum, staf menangani kasus khusus: </a:t>
                      </a:r>
                      <a:endParaRPr lang="en-US" sz="1100"/>
                    </a:p>
                    <a:p>
                      <a:pPr algn="ctr">
                        <a:lnSpc>
                          <a:spcPts val="2100"/>
                        </a:lnSpc>
                      </a:pPr>
                      <a:r>
                        <a:rPr lang="en-US" sz="1800" spc="39">
                          <a:solidFill>
                            <a:srgbClr val="000000"/>
                          </a:solidFill>
                          <a:latin typeface="DM Sans"/>
                          <a:ea typeface="DM Sans"/>
                          <a:cs typeface="DM Sans"/>
                          <a:sym typeface="DM Sans"/>
                        </a:rPr>
                        <a:t>Sistem menangani pertanyaan umum mengenai penggunaan Coretax, meliputi akses, registrasi, pelaporan, pembayaran, dan fitur layanan. Permasalahan yang memerlukan verifikasi data atau penanganan khusus akan diarahkan melalui mekanisme eskalasi kepada petugas.</a:t>
                      </a:r>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76200">
                      <a:solidFill>
                        <a:srgbClr val="FFFFFF"/>
                      </a:solidFill>
                      <a:prstDash val="solid"/>
                      <a:round/>
                      <a:headEnd type="none" w="med" len="med"/>
                      <a:tailEnd type="none" w="med" len="med"/>
                    </a:lnB>
                    <a:solidFill>
                      <a:srgbClr val="D9D9D9"/>
                    </a:solidFill>
                  </a:tcPr>
                </a:tc>
              </a:tr>
              <a:tr h="953227">
                <a:tc>
                  <a:txBody>
                    <a:bodyPr anchor="t" rtlCol="false"/>
                    <a:lstStyle/>
                    <a:p>
                      <a:pPr algn="ctr">
                        <a:lnSpc>
                          <a:spcPts val="3479"/>
                        </a:lnSpc>
                        <a:defRPr/>
                      </a:pPr>
                      <a:r>
                        <a:rPr lang="en-US" b="true" sz="2899" i="true" spc="10">
                          <a:solidFill>
                            <a:srgbClr val="FFFFFF"/>
                          </a:solidFill>
                          <a:latin typeface="DM Sans Bold Italics"/>
                          <a:ea typeface="DM Sans Bold Italics"/>
                          <a:cs typeface="DM Sans Bold Italics"/>
                          <a:sym typeface="DM Sans Bold Italics"/>
                        </a:rPr>
                        <a:t>2</a:t>
                      </a:r>
                      <a:endParaRPr lang="en-US" sz="1100"/>
                    </a:p>
                  </a:txBody>
                  <a:tcPr marL="0" marR="0" marT="0" marB="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6200">
                      <a:solidFill>
                        <a:srgbClr val="FFFFFF"/>
                      </a:solidFill>
                      <a:prstDash val="solid"/>
                      <a:round/>
                      <a:headEnd type="none" w="med" len="med"/>
                      <a:tailEnd type="none" w="med" len="med"/>
                    </a:lnT>
                    <a:lnB cmpd="sng" algn="ctr" cap="flat" w="76200">
                      <a:solidFill>
                        <a:srgbClr val="FFFFFF"/>
                      </a:solidFill>
                      <a:prstDash val="solid"/>
                      <a:round/>
                      <a:headEnd type="none" w="med" len="med"/>
                      <a:tailEnd type="none" w="med" len="med"/>
                    </a:lnB>
                    <a:solidFill>
                      <a:srgbClr val="B2211B"/>
                    </a:solidFill>
                  </a:tcPr>
                </a:tc>
                <a:tc>
                  <a:txBody>
                    <a:bodyPr anchor="t" rtlCol="false"/>
                    <a:lstStyle/>
                    <a:p>
                      <a:pPr algn="ctr">
                        <a:lnSpc>
                          <a:spcPts val="2098"/>
                        </a:lnSpc>
                        <a:defRPr/>
                      </a:pPr>
                      <a:r>
                        <a:rPr lang="en-US" b="true" sz="1800" spc="39">
                          <a:solidFill>
                            <a:srgbClr val="000000"/>
                          </a:solidFill>
                          <a:latin typeface="DM Sans Bold"/>
                          <a:ea typeface="DM Sans Bold"/>
                          <a:cs typeface="DM Sans Bold"/>
                          <a:sym typeface="DM Sans Bold"/>
                        </a:rPr>
                        <a:t>Pencatat</a:t>
                      </a:r>
                      <a:r>
                        <a:rPr lang="en-US" b="true" sz="1800" spc="39">
                          <a:solidFill>
                            <a:srgbClr val="000000"/>
                          </a:solidFill>
                          <a:latin typeface="DM Sans Bold"/>
                          <a:ea typeface="DM Sans Bold"/>
                          <a:cs typeface="DM Sans Bold"/>
                          <a:sym typeface="DM Sans Bold"/>
                        </a:rPr>
                        <a:t>an riwayat percakapan: </a:t>
                      </a:r>
                      <a:endParaRPr lang="en-US" sz="1100"/>
                    </a:p>
                    <a:p>
                      <a:pPr algn="ctr">
                        <a:lnSpc>
                          <a:spcPts val="2100"/>
                        </a:lnSpc>
                      </a:pPr>
                      <a:r>
                        <a:rPr lang="en-US" sz="1800" spc="39">
                          <a:solidFill>
                            <a:srgbClr val="000000"/>
                          </a:solidFill>
                          <a:latin typeface="DM Sans"/>
                          <a:ea typeface="DM Sans"/>
                          <a:cs typeface="DM Sans"/>
                          <a:sym typeface="DM Sans"/>
                        </a:rPr>
                        <a:t>Setiap interaksi dicatat dalam bentuk transkrip dan status penyelesaian untuk mendukung monitoring, evaluasi layanan, serta tindak lanjut terhadap pertanyaan atau kendala wajib pajak.</a:t>
                      </a:r>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6200">
                      <a:solidFill>
                        <a:srgbClr val="FFFFFF"/>
                      </a:solidFill>
                      <a:prstDash val="solid"/>
                      <a:round/>
                      <a:headEnd type="none" w="med" len="med"/>
                      <a:tailEnd type="none" w="med" len="med"/>
                    </a:lnT>
                    <a:lnB cmpd="sng" algn="ctr" cap="flat" w="76200">
                      <a:solidFill>
                        <a:srgbClr val="FFFFFF"/>
                      </a:solidFill>
                      <a:prstDash val="solid"/>
                      <a:round/>
                      <a:headEnd type="none" w="med" len="med"/>
                      <a:tailEnd type="none" w="med" len="med"/>
                    </a:lnB>
                    <a:solidFill>
                      <a:srgbClr val="D9D9D9"/>
                    </a:solidFill>
                  </a:tcPr>
                </a:tc>
              </a:tr>
              <a:tr h="934162">
                <a:tc>
                  <a:txBody>
                    <a:bodyPr anchor="t" rtlCol="false"/>
                    <a:lstStyle/>
                    <a:p>
                      <a:pPr algn="ctr">
                        <a:lnSpc>
                          <a:spcPts val="3479"/>
                        </a:lnSpc>
                        <a:defRPr/>
                      </a:pPr>
                      <a:r>
                        <a:rPr lang="en-US" b="true" sz="2899" i="true" spc="72">
                          <a:solidFill>
                            <a:srgbClr val="FFFFFF"/>
                          </a:solidFill>
                          <a:latin typeface="DM Sans Bold Italics"/>
                          <a:ea typeface="DM Sans Bold Italics"/>
                          <a:cs typeface="DM Sans Bold Italics"/>
                          <a:sym typeface="DM Sans Bold Italics"/>
                        </a:rPr>
                        <a:t>3</a:t>
                      </a:r>
                      <a:endParaRPr lang="en-US" sz="1100"/>
                    </a:p>
                  </a:txBody>
                  <a:tcPr marL="0" marR="0" marT="0" marB="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6200">
                      <a:solidFill>
                        <a:srgbClr val="FFFFFF"/>
                      </a:solidFill>
                      <a:prstDash val="solid"/>
                      <a:round/>
                      <a:headEnd type="none" w="med" len="med"/>
                      <a:tailEnd type="none" w="med" len="med"/>
                    </a:lnT>
                    <a:lnB cmpd="sng" algn="ctr" cap="flat" w="79572">
                      <a:solidFill>
                        <a:srgbClr val="FFFFFF"/>
                      </a:solidFill>
                      <a:prstDash val="solid"/>
                      <a:round/>
                      <a:headEnd type="none" w="med" len="med"/>
                      <a:tailEnd type="none" w="med" len="med"/>
                    </a:lnB>
                    <a:solidFill>
                      <a:srgbClr val="B2211B"/>
                    </a:solidFill>
                  </a:tcPr>
                </a:tc>
                <a:tc>
                  <a:txBody>
                    <a:bodyPr anchor="t" rtlCol="false"/>
                    <a:lstStyle/>
                    <a:p>
                      <a:pPr algn="ctr">
                        <a:lnSpc>
                          <a:spcPts val="2098"/>
                        </a:lnSpc>
                        <a:defRPr/>
                      </a:pPr>
                      <a:r>
                        <a:rPr lang="en-US" b="true" sz="1800" spc="39">
                          <a:solidFill>
                            <a:srgbClr val="000000"/>
                          </a:solidFill>
                          <a:latin typeface="DM Sans Bold"/>
                          <a:ea typeface="DM Sans Bold"/>
                          <a:cs typeface="DM Sans Bold"/>
                          <a:sym typeface="DM Sans Bold"/>
                        </a:rPr>
                        <a:t>R</a:t>
                      </a:r>
                      <a:r>
                        <a:rPr lang="en-US" b="true" sz="1800" spc="39">
                          <a:solidFill>
                            <a:srgbClr val="000000"/>
                          </a:solidFill>
                          <a:latin typeface="DM Sans Bold"/>
                          <a:ea typeface="DM Sans Bold"/>
                          <a:cs typeface="DM Sans Bold"/>
                          <a:sym typeface="DM Sans Bold"/>
                        </a:rPr>
                        <a:t>espons secara real-time: </a:t>
                      </a:r>
                      <a:endParaRPr lang="en-US" sz="1100"/>
                    </a:p>
                    <a:p>
                      <a:pPr algn="ctr">
                        <a:lnSpc>
                          <a:spcPts val="2098"/>
                        </a:lnSpc>
                      </a:pPr>
                      <a:r>
                        <a:rPr lang="en-US" sz="1800" spc="39">
                          <a:solidFill>
                            <a:srgbClr val="000000"/>
                          </a:solidFill>
                          <a:latin typeface="DM Sans"/>
                          <a:ea typeface="DM Sans"/>
                          <a:cs typeface="DM Sans"/>
                          <a:sym typeface="DM Sans"/>
                        </a:rPr>
                        <a:t>Sistem memberikan respons secara langsung melalui percakapan suara sehingga wajib pajak dapat memperoleh informasi mengenai Coretax tanpa harus menunggu petugas tersedia.</a:t>
                      </a:r>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6200">
                      <a:solidFill>
                        <a:srgbClr val="FFFFFF"/>
                      </a:solidFill>
                      <a:prstDash val="solid"/>
                      <a:round/>
                      <a:headEnd type="none" w="med" len="med"/>
                      <a:tailEnd type="none" w="med" len="med"/>
                    </a:lnT>
                    <a:lnB cmpd="sng" algn="ctr" cap="flat" w="79572">
                      <a:solidFill>
                        <a:srgbClr val="FFFFFF"/>
                      </a:solidFill>
                      <a:prstDash val="solid"/>
                      <a:round/>
                      <a:headEnd type="none" w="med" len="med"/>
                      <a:tailEnd type="none" w="med" len="med"/>
                    </a:lnB>
                    <a:solidFill>
                      <a:srgbClr val="D9D9D9"/>
                    </a:solidFill>
                  </a:tcPr>
                </a:tc>
              </a:tr>
              <a:tr h="1220130">
                <a:tc>
                  <a:txBody>
                    <a:bodyPr anchor="t" rtlCol="false"/>
                    <a:lstStyle/>
                    <a:p>
                      <a:pPr algn="ctr">
                        <a:lnSpc>
                          <a:spcPts val="3479"/>
                        </a:lnSpc>
                        <a:defRPr/>
                      </a:pPr>
                      <a:r>
                        <a:rPr lang="en-US" b="true" sz="2899" i="true" spc="217">
                          <a:solidFill>
                            <a:srgbClr val="FFFFFF"/>
                          </a:solidFill>
                          <a:latin typeface="DM Sans Bold Italics"/>
                          <a:ea typeface="DM Sans Bold Italics"/>
                          <a:cs typeface="DM Sans Bold Italics"/>
                          <a:sym typeface="DM Sans Bold Italics"/>
                        </a:rPr>
                        <a:t>4</a:t>
                      </a:r>
                      <a:endParaRPr lang="en-US" sz="1100"/>
                    </a:p>
                  </a:txBody>
                  <a:tcPr marL="0" marR="0" marT="0" marB="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9572">
                      <a:solidFill>
                        <a:srgbClr val="FFFFFF"/>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2211B"/>
                    </a:solidFill>
                  </a:tcPr>
                </a:tc>
                <a:tc>
                  <a:txBody>
                    <a:bodyPr anchor="t" rtlCol="false"/>
                    <a:lstStyle/>
                    <a:p>
                      <a:pPr algn="ctr">
                        <a:lnSpc>
                          <a:spcPts val="2098"/>
                        </a:lnSpc>
                        <a:defRPr/>
                      </a:pPr>
                      <a:r>
                        <a:rPr lang="en-US" b="true" sz="1800" spc="39">
                          <a:solidFill>
                            <a:srgbClr val="000000"/>
                          </a:solidFill>
                          <a:latin typeface="DM Sans Bold"/>
                          <a:ea typeface="DM Sans Bold"/>
                          <a:cs typeface="DM Sans Bold"/>
                          <a:sym typeface="DM Sans Bold"/>
                        </a:rPr>
                        <a:t>Jaw</a:t>
                      </a:r>
                      <a:r>
                        <a:rPr lang="en-US" b="true" sz="1800" spc="39">
                          <a:solidFill>
                            <a:srgbClr val="000000"/>
                          </a:solidFill>
                          <a:latin typeface="DM Sans Bold"/>
                          <a:ea typeface="DM Sans Bold"/>
                          <a:cs typeface="DM Sans Bold"/>
                          <a:sym typeface="DM Sans Bold"/>
                        </a:rPr>
                        <a:t>aban berdasarkan sumber informasi resmi: </a:t>
                      </a:r>
                      <a:endParaRPr lang="en-US" sz="1100"/>
                    </a:p>
                    <a:p>
                      <a:pPr algn="ctr">
                        <a:lnSpc>
                          <a:spcPts val="2100"/>
                        </a:lnSpc>
                      </a:pPr>
                      <a:r>
                        <a:rPr lang="en-US" sz="1800" spc="39">
                          <a:solidFill>
                            <a:srgbClr val="000000"/>
                          </a:solidFill>
                          <a:latin typeface="DM Sans"/>
                          <a:ea typeface="DM Sans"/>
                          <a:cs typeface="DM Sans"/>
                          <a:sym typeface="DM Sans"/>
                        </a:rPr>
                        <a:t>A</a:t>
                      </a:r>
                      <a:r>
                        <a:rPr lang="en-US" sz="1800" spc="39">
                          <a:solidFill>
                            <a:srgbClr val="000000"/>
                          </a:solidFill>
                          <a:latin typeface="DM Sans"/>
                          <a:ea typeface="DM Sans"/>
                          <a:cs typeface="DM Sans"/>
                          <a:sym typeface="DM Sans"/>
                        </a:rPr>
                        <a:t>I menghasilkan jawaban berdasarkan knowledge base yang bersumber dari dokumentasi dan informasi resmi Coretax, sehingga informasi dapat diperbarui apabila terdapat perubahan prosedur, fitur, atau layanan.</a:t>
                      </a:r>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9572">
                      <a:solidFill>
                        <a:srgbClr val="FFFFFF"/>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9D9D9"/>
                    </a:solidFill>
                  </a:tcPr>
                </a:tc>
              </a:tr>
              <a:tr h="1220130">
                <a:tc>
                  <a:txBody>
                    <a:bodyPr anchor="t" rtlCol="false"/>
                    <a:lstStyle/>
                    <a:p>
                      <a:pPr algn="ctr">
                        <a:lnSpc>
                          <a:spcPts val="3479"/>
                        </a:lnSpc>
                        <a:defRPr/>
                      </a:pPr>
                      <a:r>
                        <a:rPr lang="en-US" b="true" sz="2899" i="true" spc="217">
                          <a:solidFill>
                            <a:srgbClr val="FFFFFF"/>
                          </a:solidFill>
                          <a:latin typeface="DM Sans Bold Italics"/>
                          <a:ea typeface="DM Sans Bold Italics"/>
                          <a:cs typeface="DM Sans Bold Italics"/>
                          <a:sym typeface="DM Sans Bold Italics"/>
                        </a:rPr>
                        <a:t>5</a:t>
                      </a:r>
                      <a:endParaRPr lang="en-US" sz="1100"/>
                    </a:p>
                  </a:txBody>
                  <a:tcPr marL="0" marR="0" marT="0" marB="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9572">
                      <a:solidFill>
                        <a:srgbClr val="FFFFFF"/>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2211B"/>
                    </a:solidFill>
                  </a:tcPr>
                </a:tc>
                <a:tc>
                  <a:txBody>
                    <a:bodyPr anchor="t" rtlCol="false"/>
                    <a:lstStyle/>
                    <a:p>
                      <a:pPr algn="ctr">
                        <a:lnSpc>
                          <a:spcPts val="2098"/>
                        </a:lnSpc>
                        <a:defRPr/>
                      </a:pPr>
                      <a:r>
                        <a:rPr lang="en-US" b="true" sz="1800" spc="39">
                          <a:solidFill>
                            <a:srgbClr val="000000"/>
                          </a:solidFill>
                          <a:latin typeface="DM Sans Bold"/>
                          <a:ea typeface="DM Sans Bold"/>
                          <a:cs typeface="DM Sans Bold"/>
                          <a:sym typeface="DM Sans Bold"/>
                        </a:rPr>
                        <a:t>Mekanisme penanganan ketika AI gagal: </a:t>
                      </a:r>
                      <a:endParaRPr lang="en-US" sz="1100"/>
                    </a:p>
                    <a:p>
                      <a:pPr algn="ctr">
                        <a:lnSpc>
                          <a:spcPts val="2100"/>
                        </a:lnSpc>
                      </a:pPr>
                      <a:r>
                        <a:rPr lang="en-US" sz="1800" spc="39">
                          <a:solidFill>
                            <a:srgbClr val="000000"/>
                          </a:solidFill>
                          <a:latin typeface="DM Sans"/>
                          <a:ea typeface="DM Sans"/>
                          <a:cs typeface="DM Sans"/>
                          <a:sym typeface="DM Sans"/>
                        </a:rPr>
                        <a:t>Apab</a:t>
                      </a:r>
                      <a:r>
                        <a:rPr lang="en-US" sz="1800" spc="39">
                          <a:solidFill>
                            <a:srgbClr val="000000"/>
                          </a:solidFill>
                          <a:latin typeface="DM Sans"/>
                          <a:ea typeface="DM Sans"/>
                          <a:cs typeface="DM Sans"/>
                          <a:sym typeface="DM Sans"/>
                        </a:rPr>
                        <a:t>ila AI tidak dapat memberikan jawaban yang relevan atau pertanyaan membutuhkan pemeriksaan lebih lanjut, percakapan akan dicatat dan diteruskan kepada petugas untuk ditindaklanjuti.</a:t>
                      </a:r>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9572">
                      <a:solidFill>
                        <a:srgbClr val="FFFFFF"/>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9D9D9"/>
                    </a:solidFill>
                  </a:tcPr>
                </a:tc>
              </a:tr>
              <a:tr h="735280">
                <a:tc>
                  <a:txBody>
                    <a:bodyPr anchor="t" rtlCol="false"/>
                    <a:lstStyle/>
                    <a:p>
                      <a:pPr algn="ctr">
                        <a:lnSpc>
                          <a:spcPts val="3479"/>
                        </a:lnSpc>
                        <a:defRPr/>
                      </a:pPr>
                      <a:r>
                        <a:rPr lang="en-US" b="true" sz="2899" i="true" spc="217">
                          <a:solidFill>
                            <a:srgbClr val="FFFFFF"/>
                          </a:solidFill>
                          <a:latin typeface="DM Sans Bold Italics"/>
                          <a:ea typeface="DM Sans Bold Italics"/>
                          <a:cs typeface="DM Sans Bold Italics"/>
                          <a:sym typeface="DM Sans Bold Italics"/>
                        </a:rPr>
                        <a:t>6</a:t>
                      </a:r>
                      <a:endParaRPr lang="en-US" sz="1100"/>
                    </a:p>
                  </a:txBody>
                  <a:tcPr marL="0" marR="0" marT="0" marB="0"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9572">
                      <a:solidFill>
                        <a:srgbClr val="FFFFFF"/>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B2211B"/>
                    </a:solidFill>
                  </a:tcPr>
                </a:tc>
                <a:tc>
                  <a:txBody>
                    <a:bodyPr anchor="t" rtlCol="false"/>
                    <a:lstStyle/>
                    <a:p>
                      <a:pPr algn="ctr">
                        <a:lnSpc>
                          <a:spcPts val="2098"/>
                        </a:lnSpc>
                        <a:defRPr/>
                      </a:pPr>
                      <a:r>
                        <a:rPr lang="en-US" b="true" sz="1800" spc="39">
                          <a:solidFill>
                            <a:srgbClr val="000000"/>
                          </a:solidFill>
                          <a:latin typeface="DM Sans Bold"/>
                          <a:ea typeface="DM Sans Bold"/>
                          <a:cs typeface="DM Sans Bold"/>
                          <a:sym typeface="DM Sans Bold"/>
                        </a:rPr>
                        <a:t>Dashboard Monitoring: </a:t>
                      </a:r>
                      <a:endParaRPr lang="en-US" sz="1100"/>
                    </a:p>
                    <a:p>
                      <a:pPr algn="ctr">
                        <a:lnSpc>
                          <a:spcPts val="2100"/>
                        </a:lnSpc>
                      </a:pPr>
                      <a:r>
                        <a:rPr lang="en-US" sz="1800" spc="39">
                          <a:solidFill>
                            <a:srgbClr val="000000"/>
                          </a:solidFill>
                          <a:latin typeface="DM Sans"/>
                          <a:ea typeface="DM Sans"/>
                          <a:cs typeface="DM Sans"/>
                          <a:sym typeface="DM Sans"/>
                        </a:rPr>
                        <a:t>Staf dapat melihat riwayat percakapan, daftar eskalasi, dan status penyelesaian masalah.</a:t>
                      </a:r>
                    </a:p>
                  </a:txBody>
                  <a:tcPr marL="0" marR="0" marT="0" marB="0" anchor="t">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79572">
                      <a:solidFill>
                        <a:srgbClr val="FFFFFF"/>
                      </a:solidFill>
                      <a:prstDash val="solid"/>
                      <a:round/>
                      <a:headEnd type="none" w="med" len="med"/>
                      <a:tailEnd type="none" w="med" len="med"/>
                    </a:lnT>
                    <a:lnB cmpd="sng" algn="ctr" cap="flat" w="4762">
                      <a:solidFill>
                        <a:srgbClr val="000000"/>
                      </a:solidFill>
                      <a:prstDash val="solid"/>
                      <a:round/>
                      <a:headEnd type="none" w="med" len="med"/>
                      <a:tailEnd type="none" w="med" len="med"/>
                    </a:lnB>
                    <a:solidFill>
                      <a:srgbClr val="D9D9D9"/>
                    </a:solidFill>
                  </a:tcPr>
                </a:tc>
              </a:tr>
            </a:tbl>
          </a:graphicData>
        </a:graphic>
      </p:graphicFrame>
      <p:grpSp>
        <p:nvGrpSpPr>
          <p:cNvPr name="Group 24" id="24"/>
          <p:cNvGrpSpPr/>
          <p:nvPr/>
        </p:nvGrpSpPr>
        <p:grpSpPr>
          <a:xfrm rot="0">
            <a:off x="12275820" y="3632835"/>
            <a:ext cx="5349240" cy="5625465"/>
            <a:chOff x="0" y="0"/>
            <a:chExt cx="1171384" cy="1231872"/>
          </a:xfrm>
        </p:grpSpPr>
        <p:sp>
          <p:nvSpPr>
            <p:cNvPr name="Freeform 25" id="25"/>
            <p:cNvSpPr/>
            <p:nvPr/>
          </p:nvSpPr>
          <p:spPr>
            <a:xfrm flipH="false" flipV="false" rot="0">
              <a:off x="0" y="0"/>
              <a:ext cx="1171384" cy="1231872"/>
            </a:xfrm>
            <a:custGeom>
              <a:avLst/>
              <a:gdLst/>
              <a:ahLst/>
              <a:cxnLst/>
              <a:rect r="r" b="b" t="t" l="l"/>
              <a:pathLst>
                <a:path h="1231872" w="1171384">
                  <a:moveTo>
                    <a:pt x="28267" y="0"/>
                  </a:moveTo>
                  <a:lnTo>
                    <a:pt x="1143116" y="0"/>
                  </a:lnTo>
                  <a:cubicBezTo>
                    <a:pt x="1158728" y="0"/>
                    <a:pt x="1171384" y="12656"/>
                    <a:pt x="1171384" y="28267"/>
                  </a:cubicBezTo>
                  <a:lnTo>
                    <a:pt x="1171384" y="1203604"/>
                  </a:lnTo>
                  <a:cubicBezTo>
                    <a:pt x="1171384" y="1219216"/>
                    <a:pt x="1158728" y="1231872"/>
                    <a:pt x="1143116" y="1231872"/>
                  </a:cubicBezTo>
                  <a:lnTo>
                    <a:pt x="28267" y="1231872"/>
                  </a:lnTo>
                  <a:cubicBezTo>
                    <a:pt x="12656" y="1231872"/>
                    <a:pt x="0" y="1219216"/>
                    <a:pt x="0" y="1203604"/>
                  </a:cubicBezTo>
                  <a:lnTo>
                    <a:pt x="0" y="28267"/>
                  </a:lnTo>
                  <a:cubicBezTo>
                    <a:pt x="0" y="12656"/>
                    <a:pt x="12656" y="0"/>
                    <a:pt x="28267" y="0"/>
                  </a:cubicBezTo>
                  <a:close/>
                </a:path>
              </a:pathLst>
            </a:custGeom>
            <a:ln w="28575" cap="rnd">
              <a:solidFill>
                <a:srgbClr val="9A2F2B"/>
              </a:solidFill>
              <a:prstDash val="solid"/>
              <a:round/>
            </a:ln>
          </p:spPr>
        </p:sp>
        <p:sp>
          <p:nvSpPr>
            <p:cNvPr name="TextBox 26" id="26"/>
            <p:cNvSpPr txBox="true"/>
            <p:nvPr/>
          </p:nvSpPr>
          <p:spPr>
            <a:xfrm>
              <a:off x="0" y="-9525"/>
              <a:ext cx="1171384" cy="1241397"/>
            </a:xfrm>
            <a:prstGeom prst="rect">
              <a:avLst/>
            </a:prstGeom>
          </p:spPr>
          <p:txBody>
            <a:bodyPr anchor="ctr" rtlCol="false" tIns="50800" lIns="50800" bIns="50800" rIns="50800"/>
            <a:lstStyle/>
            <a:p>
              <a:pPr algn="ctr">
                <a:lnSpc>
                  <a:spcPts val="1919"/>
                </a:lnSpc>
              </a:pPr>
            </a:p>
          </p:txBody>
        </p:sp>
      </p:grpSp>
      <p:sp>
        <p:nvSpPr>
          <p:cNvPr name="TextBox 27" id="27"/>
          <p:cNvSpPr txBox="true"/>
          <p:nvPr/>
        </p:nvSpPr>
        <p:spPr>
          <a:xfrm rot="0">
            <a:off x="12412980" y="3398580"/>
            <a:ext cx="4049334" cy="286399"/>
          </a:xfrm>
          <a:prstGeom prst="rect">
            <a:avLst/>
          </a:prstGeom>
        </p:spPr>
        <p:txBody>
          <a:bodyPr anchor="t" rtlCol="false" tIns="0" lIns="0" bIns="0" rIns="0">
            <a:spAutoFit/>
          </a:bodyPr>
          <a:lstStyle/>
          <a:p>
            <a:pPr algn="l">
              <a:lnSpc>
                <a:spcPts val="2279"/>
              </a:lnSpc>
              <a:spcBef>
                <a:spcPct val="0"/>
              </a:spcBef>
            </a:pPr>
            <a:r>
              <a:rPr lang="en-US" b="true" sz="1899" spc="-59">
                <a:solidFill>
                  <a:srgbClr val="FFFFFF"/>
                </a:solidFill>
                <a:latin typeface="DM Sans Bold"/>
                <a:ea typeface="DM Sans Bold"/>
                <a:cs typeface="DM Sans Bold"/>
                <a:sym typeface="DM Sans Bold"/>
              </a:rPr>
              <a:t>Tidak termasuk pada versi awal:</a:t>
            </a:r>
          </a:p>
        </p:txBody>
      </p:sp>
      <p:grpSp>
        <p:nvGrpSpPr>
          <p:cNvPr name="Group 28" id="28"/>
          <p:cNvGrpSpPr/>
          <p:nvPr/>
        </p:nvGrpSpPr>
        <p:grpSpPr>
          <a:xfrm rot="0">
            <a:off x="685800" y="9669780"/>
            <a:ext cx="3909060" cy="438912"/>
            <a:chOff x="0" y="0"/>
            <a:chExt cx="5212080" cy="585216"/>
          </a:xfrm>
        </p:grpSpPr>
        <p:sp>
          <p:nvSpPr>
            <p:cNvPr name="Freeform 29" id="29"/>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30" id="30"/>
          <p:cNvGrpSpPr/>
          <p:nvPr/>
        </p:nvGrpSpPr>
        <p:grpSpPr>
          <a:xfrm rot="0">
            <a:off x="685800" y="9669780"/>
            <a:ext cx="3909060" cy="438912"/>
            <a:chOff x="0" y="0"/>
            <a:chExt cx="5212080" cy="585216"/>
          </a:xfrm>
        </p:grpSpPr>
        <p:sp>
          <p:nvSpPr>
            <p:cNvPr name="Freeform 31" id="31"/>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32" id="32"/>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Masalah</a:t>
              </a:r>
            </a:p>
          </p:txBody>
        </p:sp>
      </p:grpSp>
      <p:grpSp>
        <p:nvGrpSpPr>
          <p:cNvPr name="Group 33" id="33"/>
          <p:cNvGrpSpPr/>
          <p:nvPr/>
        </p:nvGrpSpPr>
        <p:grpSpPr>
          <a:xfrm rot="0">
            <a:off x="9189720" y="9669780"/>
            <a:ext cx="3909060" cy="438912"/>
            <a:chOff x="0" y="0"/>
            <a:chExt cx="5212080" cy="585216"/>
          </a:xfrm>
        </p:grpSpPr>
        <p:sp>
          <p:nvSpPr>
            <p:cNvPr name="Freeform 34" id="34"/>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35" id="35"/>
          <p:cNvGrpSpPr/>
          <p:nvPr/>
        </p:nvGrpSpPr>
        <p:grpSpPr>
          <a:xfrm rot="0">
            <a:off x="9189720" y="9669780"/>
            <a:ext cx="3909060" cy="438912"/>
            <a:chOff x="0" y="0"/>
            <a:chExt cx="5212080" cy="585216"/>
          </a:xfrm>
        </p:grpSpPr>
        <p:sp>
          <p:nvSpPr>
            <p:cNvPr name="Freeform 36" id="36"/>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37" id="37"/>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Arsitektur</a:t>
              </a:r>
            </a:p>
          </p:txBody>
        </p:sp>
      </p:grpSp>
      <p:grpSp>
        <p:nvGrpSpPr>
          <p:cNvPr name="Group 38" id="38"/>
          <p:cNvGrpSpPr/>
          <p:nvPr/>
        </p:nvGrpSpPr>
        <p:grpSpPr>
          <a:xfrm rot="0">
            <a:off x="13441680" y="9669780"/>
            <a:ext cx="3909060" cy="438912"/>
            <a:chOff x="0" y="0"/>
            <a:chExt cx="5212080" cy="585216"/>
          </a:xfrm>
        </p:grpSpPr>
        <p:sp>
          <p:nvSpPr>
            <p:cNvPr name="Freeform 39" id="39"/>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40" id="40"/>
          <p:cNvGrpSpPr/>
          <p:nvPr/>
        </p:nvGrpSpPr>
        <p:grpSpPr>
          <a:xfrm rot="0">
            <a:off x="13441680" y="9669780"/>
            <a:ext cx="3909060" cy="438912"/>
            <a:chOff x="0" y="0"/>
            <a:chExt cx="5212080" cy="585216"/>
          </a:xfrm>
        </p:grpSpPr>
        <p:sp>
          <p:nvSpPr>
            <p:cNvPr name="Freeform 41" id="41"/>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42" id="42"/>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Biaya &amp; Skalabilitas</a:t>
              </a:r>
            </a:p>
          </p:txBody>
        </p:sp>
      </p:grpSp>
      <p:sp>
        <p:nvSpPr>
          <p:cNvPr name="Freeform 43" id="43"/>
          <p:cNvSpPr/>
          <p:nvPr/>
        </p:nvSpPr>
        <p:spPr>
          <a:xfrm flipH="false" flipV="false" rot="0">
            <a:off x="16253047" y="28336"/>
            <a:ext cx="1539316" cy="1539316"/>
          </a:xfrm>
          <a:custGeom>
            <a:avLst/>
            <a:gdLst/>
            <a:ahLst/>
            <a:cxnLst/>
            <a:rect r="r" b="b" t="t" l="l"/>
            <a:pathLst>
              <a:path h="1539316" w="1539316">
                <a:moveTo>
                  <a:pt x="0" y="0"/>
                </a:moveTo>
                <a:lnTo>
                  <a:pt x="1539315" y="0"/>
                </a:lnTo>
                <a:lnTo>
                  <a:pt x="1539315" y="1539316"/>
                </a:lnTo>
                <a:lnTo>
                  <a:pt x="0" y="1539316"/>
                </a:lnTo>
                <a:lnTo>
                  <a:pt x="0" y="0"/>
                </a:lnTo>
                <a:close/>
              </a:path>
            </a:pathLst>
          </a:custGeom>
          <a:blipFill>
            <a:blip r:embed="rId6"/>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773670" y="382944"/>
            <a:ext cx="14127480" cy="819150"/>
          </a:xfrm>
          <a:prstGeom prst="rect">
            <a:avLst/>
          </a:prstGeom>
        </p:spPr>
        <p:txBody>
          <a:bodyPr anchor="t" rtlCol="false" tIns="0" lIns="0" bIns="0" rIns="0">
            <a:spAutoFit/>
          </a:bodyPr>
          <a:lstStyle/>
          <a:p>
            <a:pPr algn="l">
              <a:lnSpc>
                <a:spcPts val="3299"/>
              </a:lnSpc>
            </a:pPr>
            <a:r>
              <a:rPr lang="en-US" sz="2625" b="true">
                <a:solidFill>
                  <a:srgbClr val="000000"/>
                </a:solidFill>
                <a:latin typeface="DM Sans Bold"/>
                <a:ea typeface="DM Sans Bold"/>
                <a:cs typeface="DM Sans Bold"/>
                <a:sym typeface="DM Sans Bold"/>
              </a:rPr>
              <a:t>SIGAP: AI agent menjawab pertanyaan umum secara otomatis dan mengeskalasi kasus spesifik ke staf keesokan harinya</a:t>
            </a:r>
          </a:p>
        </p:txBody>
      </p:sp>
      <p:grpSp>
        <p:nvGrpSpPr>
          <p:cNvPr name="Group 3" id="3"/>
          <p:cNvGrpSpPr/>
          <p:nvPr/>
        </p:nvGrpSpPr>
        <p:grpSpPr>
          <a:xfrm rot="0">
            <a:off x="685800" y="1591056"/>
            <a:ext cx="16911828" cy="30175"/>
            <a:chOff x="0" y="0"/>
            <a:chExt cx="22549104" cy="40234"/>
          </a:xfrm>
        </p:grpSpPr>
        <p:sp>
          <p:nvSpPr>
            <p:cNvPr name="Freeform 4" id="4"/>
            <p:cNvSpPr/>
            <p:nvPr/>
          </p:nvSpPr>
          <p:spPr>
            <a:xfrm flipH="false" flipV="false" rot="0">
              <a:off x="0" y="0"/>
              <a:ext cx="22549104" cy="40259"/>
            </a:xfrm>
            <a:custGeom>
              <a:avLst/>
              <a:gdLst/>
              <a:ahLst/>
              <a:cxnLst/>
              <a:rect r="r" b="b" t="t" l="l"/>
              <a:pathLst>
                <a:path h="40259" w="22549104">
                  <a:moveTo>
                    <a:pt x="0" y="0"/>
                  </a:moveTo>
                  <a:lnTo>
                    <a:pt x="22549104" y="0"/>
                  </a:lnTo>
                  <a:lnTo>
                    <a:pt x="22549104" y="40259"/>
                  </a:lnTo>
                  <a:lnTo>
                    <a:pt x="0" y="40259"/>
                  </a:lnTo>
                  <a:close/>
                </a:path>
              </a:pathLst>
            </a:custGeom>
            <a:solidFill>
              <a:srgbClr val="1A1A1A"/>
            </a:solidFill>
          </p:spPr>
        </p:sp>
      </p:grpSp>
      <p:grpSp>
        <p:nvGrpSpPr>
          <p:cNvPr name="Group 5" id="5"/>
          <p:cNvGrpSpPr/>
          <p:nvPr/>
        </p:nvGrpSpPr>
        <p:grpSpPr>
          <a:xfrm rot="0">
            <a:off x="685800" y="9669780"/>
            <a:ext cx="3909060" cy="438912"/>
            <a:chOff x="0" y="0"/>
            <a:chExt cx="5212080" cy="585216"/>
          </a:xfrm>
        </p:grpSpPr>
        <p:sp>
          <p:nvSpPr>
            <p:cNvPr name="Freeform 6" id="6"/>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7" id="7"/>
          <p:cNvGrpSpPr/>
          <p:nvPr/>
        </p:nvGrpSpPr>
        <p:grpSpPr>
          <a:xfrm rot="0">
            <a:off x="685800" y="9669780"/>
            <a:ext cx="3909060" cy="438912"/>
            <a:chOff x="0" y="0"/>
            <a:chExt cx="5212080" cy="585216"/>
          </a:xfrm>
        </p:grpSpPr>
        <p:sp>
          <p:nvSpPr>
            <p:cNvPr name="Freeform 8" id="8"/>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9" id="9"/>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Masalah</a:t>
              </a:r>
            </a:p>
          </p:txBody>
        </p:sp>
      </p:grpSp>
      <p:grpSp>
        <p:nvGrpSpPr>
          <p:cNvPr name="Group 10" id="10"/>
          <p:cNvGrpSpPr/>
          <p:nvPr/>
        </p:nvGrpSpPr>
        <p:grpSpPr>
          <a:xfrm rot="0">
            <a:off x="4937760" y="9601200"/>
            <a:ext cx="3909060" cy="507492"/>
            <a:chOff x="0" y="0"/>
            <a:chExt cx="5212080" cy="676656"/>
          </a:xfrm>
        </p:grpSpPr>
        <p:sp>
          <p:nvSpPr>
            <p:cNvPr name="Freeform 11" id="11"/>
            <p:cNvSpPr/>
            <p:nvPr/>
          </p:nvSpPr>
          <p:spPr>
            <a:xfrm flipH="false" flipV="false" rot="0">
              <a:off x="0" y="0"/>
              <a:ext cx="5212080" cy="676656"/>
            </a:xfrm>
            <a:custGeom>
              <a:avLst/>
              <a:gdLst/>
              <a:ahLst/>
              <a:cxnLst/>
              <a:rect r="r" b="b" t="t" l="l"/>
              <a:pathLst>
                <a:path h="676656" w="5212080">
                  <a:moveTo>
                    <a:pt x="0" y="91440"/>
                  </a:moveTo>
                  <a:cubicBezTo>
                    <a:pt x="0" y="40894"/>
                    <a:pt x="40894" y="0"/>
                    <a:pt x="91440" y="0"/>
                  </a:cubicBezTo>
                  <a:lnTo>
                    <a:pt x="5120640" y="0"/>
                  </a:lnTo>
                  <a:cubicBezTo>
                    <a:pt x="5171186" y="0"/>
                    <a:pt x="5212080" y="40894"/>
                    <a:pt x="5212080" y="91440"/>
                  </a:cubicBezTo>
                  <a:lnTo>
                    <a:pt x="5212080" y="585216"/>
                  </a:lnTo>
                  <a:cubicBezTo>
                    <a:pt x="5212080" y="635762"/>
                    <a:pt x="5171186" y="676656"/>
                    <a:pt x="5120640" y="676656"/>
                  </a:cubicBezTo>
                  <a:lnTo>
                    <a:pt x="91440" y="676656"/>
                  </a:lnTo>
                  <a:cubicBezTo>
                    <a:pt x="40894" y="676656"/>
                    <a:pt x="0" y="635762"/>
                    <a:pt x="0" y="585216"/>
                  </a:cubicBezTo>
                  <a:close/>
                </a:path>
              </a:pathLst>
            </a:custGeom>
            <a:solidFill>
              <a:srgbClr val="B2211B"/>
            </a:solidFill>
          </p:spPr>
        </p:sp>
      </p:grpSp>
      <p:grpSp>
        <p:nvGrpSpPr>
          <p:cNvPr name="Group 12" id="12"/>
          <p:cNvGrpSpPr/>
          <p:nvPr/>
        </p:nvGrpSpPr>
        <p:grpSpPr>
          <a:xfrm rot="0">
            <a:off x="4937760" y="9601200"/>
            <a:ext cx="3909060" cy="507492"/>
            <a:chOff x="0" y="0"/>
            <a:chExt cx="5212080" cy="676656"/>
          </a:xfrm>
        </p:grpSpPr>
        <p:sp>
          <p:nvSpPr>
            <p:cNvPr name="Freeform 13" id="13"/>
            <p:cNvSpPr/>
            <p:nvPr/>
          </p:nvSpPr>
          <p:spPr>
            <a:xfrm flipH="false" flipV="false" rot="0">
              <a:off x="0" y="0"/>
              <a:ext cx="5212080" cy="676656"/>
            </a:xfrm>
            <a:custGeom>
              <a:avLst/>
              <a:gdLst/>
              <a:ahLst/>
              <a:cxnLst/>
              <a:rect r="r" b="b" t="t" l="l"/>
              <a:pathLst>
                <a:path h="676656" w="5212080">
                  <a:moveTo>
                    <a:pt x="0" y="0"/>
                  </a:moveTo>
                  <a:lnTo>
                    <a:pt x="5212080" y="0"/>
                  </a:lnTo>
                  <a:lnTo>
                    <a:pt x="5212080" y="676656"/>
                  </a:lnTo>
                  <a:lnTo>
                    <a:pt x="0" y="676656"/>
                  </a:lnTo>
                  <a:close/>
                </a:path>
              </a:pathLst>
            </a:custGeom>
            <a:blipFill>
              <a:blip r:embed="rId3">
                <a:alphaModFix amt="0"/>
              </a:blip>
              <a:stretch>
                <a:fillRect l="0" t="-100087" r="0" b="-100087"/>
              </a:stretch>
            </a:blipFill>
          </p:spPr>
        </p:sp>
        <p:sp>
          <p:nvSpPr>
            <p:cNvPr name="TextBox 14" id="14"/>
            <p:cNvSpPr txBox="true"/>
            <p:nvPr/>
          </p:nvSpPr>
          <p:spPr>
            <a:xfrm>
              <a:off x="0" y="0"/>
              <a:ext cx="5212080" cy="676656"/>
            </a:xfrm>
            <a:prstGeom prst="rect">
              <a:avLst/>
            </a:prstGeom>
          </p:spPr>
          <p:txBody>
            <a:bodyPr anchor="ctr" rtlCol="false" tIns="0" lIns="0" bIns="0" rIns="0"/>
            <a:lstStyle/>
            <a:p>
              <a:pPr algn="ctr">
                <a:lnSpc>
                  <a:spcPts val="1889"/>
                </a:lnSpc>
              </a:pPr>
              <a:r>
                <a:rPr lang="en-US" sz="1575" b="true">
                  <a:solidFill>
                    <a:srgbClr val="FFFFFF"/>
                  </a:solidFill>
                  <a:latin typeface="DM Sans Bold"/>
                  <a:ea typeface="DM Sans Bold"/>
                  <a:cs typeface="DM Sans Bold"/>
                  <a:sym typeface="DM Sans Bold"/>
                </a:rPr>
                <a:t>Solusi</a:t>
              </a:r>
            </a:p>
          </p:txBody>
        </p:sp>
      </p:grpSp>
      <p:grpSp>
        <p:nvGrpSpPr>
          <p:cNvPr name="Group 15" id="15"/>
          <p:cNvGrpSpPr/>
          <p:nvPr/>
        </p:nvGrpSpPr>
        <p:grpSpPr>
          <a:xfrm rot="0">
            <a:off x="9189720" y="9669780"/>
            <a:ext cx="3909060" cy="438912"/>
            <a:chOff x="0" y="0"/>
            <a:chExt cx="5212080" cy="585216"/>
          </a:xfrm>
        </p:grpSpPr>
        <p:sp>
          <p:nvSpPr>
            <p:cNvPr name="Freeform 16" id="16"/>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17" id="17"/>
          <p:cNvGrpSpPr/>
          <p:nvPr/>
        </p:nvGrpSpPr>
        <p:grpSpPr>
          <a:xfrm rot="0">
            <a:off x="9189720" y="9669780"/>
            <a:ext cx="3909060" cy="438912"/>
            <a:chOff x="0" y="0"/>
            <a:chExt cx="5212080" cy="585216"/>
          </a:xfrm>
        </p:grpSpPr>
        <p:sp>
          <p:nvSpPr>
            <p:cNvPr name="Freeform 18" id="18"/>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19" id="19"/>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Arsitektur</a:t>
              </a:r>
            </a:p>
          </p:txBody>
        </p:sp>
      </p:grpSp>
      <p:grpSp>
        <p:nvGrpSpPr>
          <p:cNvPr name="Group 20" id="20"/>
          <p:cNvGrpSpPr/>
          <p:nvPr/>
        </p:nvGrpSpPr>
        <p:grpSpPr>
          <a:xfrm rot="0">
            <a:off x="13441680" y="9669780"/>
            <a:ext cx="3909060" cy="438912"/>
            <a:chOff x="0" y="0"/>
            <a:chExt cx="5212080" cy="585216"/>
          </a:xfrm>
        </p:grpSpPr>
        <p:sp>
          <p:nvSpPr>
            <p:cNvPr name="Freeform 21" id="21"/>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22" id="22"/>
          <p:cNvGrpSpPr/>
          <p:nvPr/>
        </p:nvGrpSpPr>
        <p:grpSpPr>
          <a:xfrm rot="0">
            <a:off x="13441680" y="9669780"/>
            <a:ext cx="3909060" cy="438912"/>
            <a:chOff x="0" y="0"/>
            <a:chExt cx="5212080" cy="585216"/>
          </a:xfrm>
        </p:grpSpPr>
        <p:sp>
          <p:nvSpPr>
            <p:cNvPr name="Freeform 23" id="23"/>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24" id="24"/>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Biaya &amp; Skalabilitas</a:t>
              </a:r>
            </a:p>
          </p:txBody>
        </p:sp>
      </p:grpSp>
      <p:grpSp>
        <p:nvGrpSpPr>
          <p:cNvPr name="Group 25" id="25"/>
          <p:cNvGrpSpPr/>
          <p:nvPr/>
        </p:nvGrpSpPr>
        <p:grpSpPr>
          <a:xfrm rot="0">
            <a:off x="17213580" y="9532620"/>
            <a:ext cx="822960" cy="617220"/>
            <a:chOff x="0" y="0"/>
            <a:chExt cx="1097280" cy="822960"/>
          </a:xfrm>
        </p:grpSpPr>
        <p:sp>
          <p:nvSpPr>
            <p:cNvPr name="Freeform 26" id="26"/>
            <p:cNvSpPr/>
            <p:nvPr/>
          </p:nvSpPr>
          <p:spPr>
            <a:xfrm flipH="false" flipV="false" rot="0">
              <a:off x="0" y="0"/>
              <a:ext cx="1097280" cy="822960"/>
            </a:xfrm>
            <a:custGeom>
              <a:avLst/>
              <a:gdLst/>
              <a:ahLst/>
              <a:cxnLst/>
              <a:rect r="r" b="b" t="t" l="l"/>
              <a:pathLst>
                <a:path h="822960" w="1097280">
                  <a:moveTo>
                    <a:pt x="0" y="0"/>
                  </a:moveTo>
                  <a:lnTo>
                    <a:pt x="1097280" y="0"/>
                  </a:lnTo>
                  <a:lnTo>
                    <a:pt x="1097280" y="822960"/>
                  </a:lnTo>
                  <a:lnTo>
                    <a:pt x="0" y="822960"/>
                  </a:lnTo>
                  <a:close/>
                </a:path>
              </a:pathLst>
            </a:custGeom>
            <a:blipFill>
              <a:blip r:embed="rId3">
                <a:alphaModFix amt="0"/>
              </a:blip>
              <a:stretch>
                <a:fillRect l="-46227" t="0" r="-46227" b="0"/>
              </a:stretch>
            </a:blipFill>
          </p:spPr>
        </p:sp>
        <p:sp>
          <p:nvSpPr>
            <p:cNvPr name="TextBox 27" id="27"/>
            <p:cNvSpPr txBox="true"/>
            <p:nvPr/>
          </p:nvSpPr>
          <p:spPr>
            <a:xfrm>
              <a:off x="0" y="-9525"/>
              <a:ext cx="1097280" cy="832485"/>
            </a:xfrm>
            <a:prstGeom prst="rect">
              <a:avLst/>
            </a:prstGeom>
          </p:spPr>
          <p:txBody>
            <a:bodyPr anchor="ctr" rtlCol="false" tIns="0" lIns="0" bIns="0" rIns="0"/>
            <a:lstStyle/>
            <a:p>
              <a:pPr algn="r">
                <a:lnSpc>
                  <a:spcPts val="3600"/>
                </a:lnSpc>
              </a:pPr>
              <a:r>
                <a:rPr lang="en-US" sz="3000" b="true">
                  <a:solidFill>
                    <a:srgbClr val="1A1A1A"/>
                  </a:solidFill>
                  <a:latin typeface="DM Sans Bold"/>
                  <a:ea typeface="DM Sans Bold"/>
                  <a:cs typeface="DM Sans Bold"/>
                  <a:sym typeface="DM Sans Bold"/>
                </a:rPr>
                <a:t>2</a:t>
              </a:r>
            </a:p>
          </p:txBody>
        </p:sp>
      </p:grpSp>
      <p:sp>
        <p:nvSpPr>
          <p:cNvPr name="Freeform 28" id="28"/>
          <p:cNvSpPr/>
          <p:nvPr/>
        </p:nvSpPr>
        <p:spPr>
          <a:xfrm flipH="false" flipV="false" rot="0">
            <a:off x="0" y="-21105"/>
            <a:ext cx="773670" cy="1627249"/>
          </a:xfrm>
          <a:custGeom>
            <a:avLst/>
            <a:gdLst/>
            <a:ahLst/>
            <a:cxnLst/>
            <a:rect r="r" b="b" t="t" l="l"/>
            <a:pathLst>
              <a:path h="1627249" w="773670">
                <a:moveTo>
                  <a:pt x="0" y="0"/>
                </a:moveTo>
                <a:lnTo>
                  <a:pt x="773670" y="0"/>
                </a:lnTo>
                <a:lnTo>
                  <a:pt x="773670" y="1627249"/>
                </a:lnTo>
                <a:lnTo>
                  <a:pt x="0" y="1627249"/>
                </a:lnTo>
                <a:lnTo>
                  <a:pt x="0" y="0"/>
                </a:lnTo>
                <a:close/>
              </a:path>
            </a:pathLst>
          </a:custGeom>
          <a:blipFill>
            <a:blip r:embed="rId4">
              <a:extLst>
                <a:ext uri="{96DAC541-7B7A-43D3-8B79-37D633B846F1}">
                  <asvg:svgBlip xmlns:asvg="http://schemas.microsoft.com/office/drawing/2016/SVG/main" r:embed="rId5"/>
                </a:ext>
              </a:extLst>
            </a:blip>
            <a:stretch>
              <a:fillRect l="0" t="0" r="-1757981" b="0"/>
            </a:stretch>
          </a:blipFill>
        </p:spPr>
      </p:sp>
      <p:sp>
        <p:nvSpPr>
          <p:cNvPr name="Freeform 29" id="29"/>
          <p:cNvSpPr/>
          <p:nvPr/>
        </p:nvSpPr>
        <p:spPr>
          <a:xfrm flipH="false" flipV="false" rot="0">
            <a:off x="946707" y="3845554"/>
            <a:ext cx="4543682" cy="972289"/>
          </a:xfrm>
          <a:custGeom>
            <a:avLst/>
            <a:gdLst/>
            <a:ahLst/>
            <a:cxnLst/>
            <a:rect r="r" b="b" t="t" l="l"/>
            <a:pathLst>
              <a:path h="972289" w="4543682">
                <a:moveTo>
                  <a:pt x="0" y="0"/>
                </a:moveTo>
                <a:lnTo>
                  <a:pt x="4543682" y="0"/>
                </a:lnTo>
                <a:lnTo>
                  <a:pt x="4543682" y="972289"/>
                </a:lnTo>
                <a:lnTo>
                  <a:pt x="0" y="972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0" id="30"/>
          <p:cNvGrpSpPr/>
          <p:nvPr/>
        </p:nvGrpSpPr>
        <p:grpSpPr>
          <a:xfrm rot="0">
            <a:off x="1191832" y="3464600"/>
            <a:ext cx="2333579" cy="392128"/>
            <a:chOff x="0" y="0"/>
            <a:chExt cx="2710778" cy="455511"/>
          </a:xfrm>
        </p:grpSpPr>
        <p:sp>
          <p:nvSpPr>
            <p:cNvPr name="Freeform 31" id="31"/>
            <p:cNvSpPr/>
            <p:nvPr/>
          </p:nvSpPr>
          <p:spPr>
            <a:xfrm flipH="false" flipV="false" rot="0">
              <a:off x="0" y="0"/>
              <a:ext cx="2710421" cy="455295"/>
            </a:xfrm>
            <a:custGeom>
              <a:avLst/>
              <a:gdLst/>
              <a:ahLst/>
              <a:cxnLst/>
              <a:rect r="r" b="b" t="t" l="l"/>
              <a:pathLst>
                <a:path h="455295" w="2710421">
                  <a:moveTo>
                    <a:pt x="2473537" y="455168"/>
                  </a:moveTo>
                  <a:lnTo>
                    <a:pt x="0" y="455168"/>
                  </a:lnTo>
                  <a:lnTo>
                    <a:pt x="0" y="227584"/>
                  </a:lnTo>
                  <a:lnTo>
                    <a:pt x="69400" y="66675"/>
                  </a:lnTo>
                  <a:lnTo>
                    <a:pt x="236884" y="0"/>
                  </a:lnTo>
                  <a:lnTo>
                    <a:pt x="2710421" y="0"/>
                  </a:lnTo>
                  <a:lnTo>
                    <a:pt x="2710421" y="227584"/>
                  </a:lnTo>
                  <a:lnTo>
                    <a:pt x="2691782" y="316230"/>
                  </a:lnTo>
                  <a:lnTo>
                    <a:pt x="2641021" y="388620"/>
                  </a:lnTo>
                  <a:lnTo>
                    <a:pt x="2565673" y="437388"/>
                  </a:lnTo>
                  <a:lnTo>
                    <a:pt x="2473405" y="455295"/>
                  </a:lnTo>
                  <a:close/>
                </a:path>
              </a:pathLst>
            </a:custGeom>
            <a:solidFill>
              <a:srgbClr val="F2C353"/>
            </a:solidFill>
          </p:spPr>
        </p:sp>
      </p:grpSp>
      <p:sp>
        <p:nvSpPr>
          <p:cNvPr name="TextBox 32" id="32"/>
          <p:cNvSpPr txBox="true"/>
          <p:nvPr/>
        </p:nvSpPr>
        <p:spPr>
          <a:xfrm rot="0">
            <a:off x="1380737" y="3551931"/>
            <a:ext cx="3823570" cy="250047"/>
          </a:xfrm>
          <a:prstGeom prst="rect">
            <a:avLst/>
          </a:prstGeom>
        </p:spPr>
        <p:txBody>
          <a:bodyPr anchor="t" rtlCol="false" tIns="0" lIns="0" bIns="0" rIns="0">
            <a:spAutoFit/>
          </a:bodyPr>
          <a:lstStyle/>
          <a:p>
            <a:pPr algn="l">
              <a:lnSpc>
                <a:spcPts val="1928"/>
              </a:lnSpc>
            </a:pPr>
            <a:r>
              <a:rPr lang="en-US" b="true" sz="1606" spc="-22">
                <a:solidFill>
                  <a:srgbClr val="FFFFFF"/>
                </a:solidFill>
                <a:latin typeface="DM Sans Bold"/>
                <a:ea typeface="DM Sans Bold"/>
                <a:cs typeface="DM Sans Bold"/>
                <a:sym typeface="DM Sans Bold"/>
              </a:rPr>
              <a:t>Panggilan Dijawab AI</a:t>
            </a:r>
          </a:p>
        </p:txBody>
      </p:sp>
      <p:sp>
        <p:nvSpPr>
          <p:cNvPr name="TextBox 33" id="33"/>
          <p:cNvSpPr txBox="true"/>
          <p:nvPr/>
        </p:nvSpPr>
        <p:spPr>
          <a:xfrm rot="0">
            <a:off x="1191832" y="3912599"/>
            <a:ext cx="3990665" cy="838200"/>
          </a:xfrm>
          <a:prstGeom prst="rect">
            <a:avLst/>
          </a:prstGeom>
        </p:spPr>
        <p:txBody>
          <a:bodyPr anchor="t" rtlCol="false" tIns="0" lIns="0" bIns="0" rIns="0">
            <a:spAutoFit/>
          </a:bodyPr>
          <a:lstStyle/>
          <a:p>
            <a:pPr algn="just">
              <a:lnSpc>
                <a:spcPts val="1652"/>
              </a:lnSpc>
            </a:pPr>
            <a:r>
              <a:rPr lang="en-US" sz="1377">
                <a:solidFill>
                  <a:srgbClr val="141413"/>
                </a:solidFill>
                <a:latin typeface="DM Sans"/>
                <a:ea typeface="DM Sans"/>
                <a:cs typeface="DM Sans"/>
                <a:sym typeface="DM Sans"/>
              </a:rPr>
              <a:t>Pengg</a:t>
            </a:r>
            <a:r>
              <a:rPr lang="en-US" sz="1377">
                <a:solidFill>
                  <a:srgbClr val="141413"/>
                </a:solidFill>
                <a:latin typeface="DM Sans"/>
                <a:ea typeface="DM Sans"/>
                <a:cs typeface="DM Sans"/>
                <a:sym typeface="DM Sans"/>
              </a:rPr>
              <a:t>una menghubungi layanan melalui telepon dan AI Voice Agent menerima panggilan serta memberikan bantuan informasi terkait penggunaan Coretax.</a:t>
            </a:r>
          </a:p>
        </p:txBody>
      </p:sp>
      <p:sp>
        <p:nvSpPr>
          <p:cNvPr name="TextBox 34" id="34"/>
          <p:cNvSpPr txBox="true"/>
          <p:nvPr/>
        </p:nvSpPr>
        <p:spPr>
          <a:xfrm rot="0">
            <a:off x="358440" y="4045945"/>
            <a:ext cx="363914" cy="619287"/>
          </a:xfrm>
          <a:prstGeom prst="rect">
            <a:avLst/>
          </a:prstGeom>
        </p:spPr>
        <p:txBody>
          <a:bodyPr anchor="t" rtlCol="false" tIns="0" lIns="0" bIns="0" rIns="0">
            <a:spAutoFit/>
          </a:bodyPr>
          <a:lstStyle/>
          <a:p>
            <a:pPr algn="l">
              <a:lnSpc>
                <a:spcPts val="4801"/>
              </a:lnSpc>
              <a:spcBef>
                <a:spcPct val="0"/>
              </a:spcBef>
            </a:pPr>
            <a:r>
              <a:rPr lang="en-US" b="true" sz="4001" spc="-125">
                <a:solidFill>
                  <a:srgbClr val="FFFFFF"/>
                </a:solidFill>
                <a:latin typeface="DM Sans Bold"/>
                <a:ea typeface="DM Sans Bold"/>
                <a:cs typeface="DM Sans Bold"/>
                <a:sym typeface="DM Sans Bold"/>
              </a:rPr>
              <a:t>1</a:t>
            </a:r>
          </a:p>
        </p:txBody>
      </p:sp>
      <p:sp>
        <p:nvSpPr>
          <p:cNvPr name="Freeform 35" id="35"/>
          <p:cNvSpPr/>
          <p:nvPr/>
        </p:nvSpPr>
        <p:spPr>
          <a:xfrm flipH="false" flipV="false" rot="0">
            <a:off x="7182005" y="3845554"/>
            <a:ext cx="4543682" cy="972289"/>
          </a:xfrm>
          <a:custGeom>
            <a:avLst/>
            <a:gdLst/>
            <a:ahLst/>
            <a:cxnLst/>
            <a:rect r="r" b="b" t="t" l="l"/>
            <a:pathLst>
              <a:path h="972289" w="4543682">
                <a:moveTo>
                  <a:pt x="0" y="0"/>
                </a:moveTo>
                <a:lnTo>
                  <a:pt x="4543682" y="0"/>
                </a:lnTo>
                <a:lnTo>
                  <a:pt x="4543682" y="972289"/>
                </a:lnTo>
                <a:lnTo>
                  <a:pt x="0" y="972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6" id="36"/>
          <p:cNvGrpSpPr/>
          <p:nvPr/>
        </p:nvGrpSpPr>
        <p:grpSpPr>
          <a:xfrm rot="0">
            <a:off x="7427130" y="3464600"/>
            <a:ext cx="2565080" cy="392128"/>
            <a:chOff x="0" y="0"/>
            <a:chExt cx="2979698" cy="455511"/>
          </a:xfrm>
        </p:grpSpPr>
        <p:sp>
          <p:nvSpPr>
            <p:cNvPr name="Freeform 37" id="37"/>
            <p:cNvSpPr/>
            <p:nvPr/>
          </p:nvSpPr>
          <p:spPr>
            <a:xfrm flipH="false" flipV="false" rot="0">
              <a:off x="0" y="0"/>
              <a:ext cx="2979306" cy="455295"/>
            </a:xfrm>
            <a:custGeom>
              <a:avLst/>
              <a:gdLst/>
              <a:ahLst/>
              <a:cxnLst/>
              <a:rect r="r" b="b" t="t" l="l"/>
              <a:pathLst>
                <a:path h="455295" w="2979306">
                  <a:moveTo>
                    <a:pt x="2718922" y="455168"/>
                  </a:moveTo>
                  <a:lnTo>
                    <a:pt x="0" y="455168"/>
                  </a:lnTo>
                  <a:lnTo>
                    <a:pt x="0" y="227584"/>
                  </a:lnTo>
                  <a:lnTo>
                    <a:pt x="76284" y="66675"/>
                  </a:lnTo>
                  <a:lnTo>
                    <a:pt x="260384" y="0"/>
                  </a:lnTo>
                  <a:lnTo>
                    <a:pt x="2979306" y="0"/>
                  </a:lnTo>
                  <a:lnTo>
                    <a:pt x="2979306" y="227584"/>
                  </a:lnTo>
                  <a:lnTo>
                    <a:pt x="2958818" y="316230"/>
                  </a:lnTo>
                  <a:lnTo>
                    <a:pt x="2903021" y="388620"/>
                  </a:lnTo>
                  <a:lnTo>
                    <a:pt x="2820198" y="437388"/>
                  </a:lnTo>
                  <a:lnTo>
                    <a:pt x="2718776" y="455295"/>
                  </a:lnTo>
                  <a:close/>
                </a:path>
              </a:pathLst>
            </a:custGeom>
            <a:solidFill>
              <a:srgbClr val="F2C353"/>
            </a:solidFill>
          </p:spPr>
        </p:sp>
      </p:grpSp>
      <p:sp>
        <p:nvSpPr>
          <p:cNvPr name="TextBox 38" id="38"/>
          <p:cNvSpPr txBox="true"/>
          <p:nvPr/>
        </p:nvSpPr>
        <p:spPr>
          <a:xfrm rot="0">
            <a:off x="7532487" y="3551931"/>
            <a:ext cx="3823570" cy="250047"/>
          </a:xfrm>
          <a:prstGeom prst="rect">
            <a:avLst/>
          </a:prstGeom>
        </p:spPr>
        <p:txBody>
          <a:bodyPr anchor="t" rtlCol="false" tIns="0" lIns="0" bIns="0" rIns="0">
            <a:spAutoFit/>
          </a:bodyPr>
          <a:lstStyle/>
          <a:p>
            <a:pPr algn="l">
              <a:lnSpc>
                <a:spcPts val="1928"/>
              </a:lnSpc>
            </a:pPr>
            <a:r>
              <a:rPr lang="en-US" b="true" sz="1606" spc="-22">
                <a:solidFill>
                  <a:srgbClr val="FFFFFF"/>
                </a:solidFill>
                <a:latin typeface="DM Sans Bold"/>
                <a:ea typeface="DM Sans Bold"/>
                <a:cs typeface="DM Sans Bold"/>
                <a:sym typeface="DM Sans Bold"/>
              </a:rPr>
              <a:t>Memahami pertanyaan</a:t>
            </a:r>
          </a:p>
        </p:txBody>
      </p:sp>
      <p:sp>
        <p:nvSpPr>
          <p:cNvPr name="TextBox 39" id="39"/>
          <p:cNvSpPr txBox="true"/>
          <p:nvPr/>
        </p:nvSpPr>
        <p:spPr>
          <a:xfrm rot="0">
            <a:off x="7427130" y="3892879"/>
            <a:ext cx="3990665" cy="838200"/>
          </a:xfrm>
          <a:prstGeom prst="rect">
            <a:avLst/>
          </a:prstGeom>
        </p:spPr>
        <p:txBody>
          <a:bodyPr anchor="t" rtlCol="false" tIns="0" lIns="0" bIns="0" rIns="0">
            <a:spAutoFit/>
          </a:bodyPr>
          <a:lstStyle/>
          <a:p>
            <a:pPr algn="just">
              <a:lnSpc>
                <a:spcPts val="1652"/>
              </a:lnSpc>
            </a:pPr>
            <a:r>
              <a:rPr lang="en-US" sz="1377">
                <a:solidFill>
                  <a:srgbClr val="141413"/>
                </a:solidFill>
                <a:latin typeface="DM Sans"/>
                <a:ea typeface="DM Sans"/>
                <a:cs typeface="DM Sans"/>
                <a:sym typeface="DM Sans"/>
              </a:rPr>
              <a:t>STT</a:t>
            </a:r>
            <a:r>
              <a:rPr lang="en-US" sz="1377">
                <a:solidFill>
                  <a:srgbClr val="141413"/>
                </a:solidFill>
                <a:latin typeface="DM Sans"/>
                <a:ea typeface="DM Sans"/>
                <a:cs typeface="DM Sans"/>
                <a:sym typeface="DM Sans"/>
              </a:rPr>
              <a:t> streaming mengubah suara pengguna menjadi teks secara real-time untuk memahami pertanyaan terkait akses, pelaporan, pembayaran, maupun fitur Coretax.</a:t>
            </a:r>
          </a:p>
        </p:txBody>
      </p:sp>
      <p:sp>
        <p:nvSpPr>
          <p:cNvPr name="TextBox 40" id="40"/>
          <p:cNvSpPr txBox="true"/>
          <p:nvPr/>
        </p:nvSpPr>
        <p:spPr>
          <a:xfrm rot="0">
            <a:off x="6593738" y="4045945"/>
            <a:ext cx="363914" cy="619287"/>
          </a:xfrm>
          <a:prstGeom prst="rect">
            <a:avLst/>
          </a:prstGeom>
        </p:spPr>
        <p:txBody>
          <a:bodyPr anchor="t" rtlCol="false" tIns="0" lIns="0" bIns="0" rIns="0">
            <a:spAutoFit/>
          </a:bodyPr>
          <a:lstStyle/>
          <a:p>
            <a:pPr algn="l">
              <a:lnSpc>
                <a:spcPts val="4801"/>
              </a:lnSpc>
              <a:spcBef>
                <a:spcPct val="0"/>
              </a:spcBef>
            </a:pPr>
            <a:r>
              <a:rPr lang="en-US" b="true" sz="4001" spc="-125">
                <a:solidFill>
                  <a:srgbClr val="FFFFFF"/>
                </a:solidFill>
                <a:latin typeface="DM Sans Bold"/>
                <a:ea typeface="DM Sans Bold"/>
                <a:cs typeface="DM Sans Bold"/>
                <a:sym typeface="DM Sans Bold"/>
              </a:rPr>
              <a:t>2</a:t>
            </a:r>
          </a:p>
        </p:txBody>
      </p:sp>
      <p:grpSp>
        <p:nvGrpSpPr>
          <p:cNvPr name="Group 41" id="41"/>
          <p:cNvGrpSpPr/>
          <p:nvPr/>
        </p:nvGrpSpPr>
        <p:grpSpPr>
          <a:xfrm rot="0">
            <a:off x="5841822" y="3848343"/>
            <a:ext cx="400482" cy="934944"/>
            <a:chOff x="0" y="0"/>
            <a:chExt cx="460591" cy="1075271"/>
          </a:xfrm>
        </p:grpSpPr>
        <p:sp>
          <p:nvSpPr>
            <p:cNvPr name="Freeform 42" id="42"/>
            <p:cNvSpPr/>
            <p:nvPr/>
          </p:nvSpPr>
          <p:spPr>
            <a:xfrm flipH="false" flipV="false" rot="0">
              <a:off x="0" y="0"/>
              <a:ext cx="459232" cy="1073658"/>
            </a:xfrm>
            <a:custGeom>
              <a:avLst/>
              <a:gdLst/>
              <a:ahLst/>
              <a:cxnLst/>
              <a:rect r="r" b="b" t="t" l="l"/>
              <a:pathLst>
                <a:path h="1073658" w="459232">
                  <a:moveTo>
                    <a:pt x="0" y="1073658"/>
                  </a:moveTo>
                  <a:lnTo>
                    <a:pt x="0" y="0"/>
                  </a:lnTo>
                  <a:lnTo>
                    <a:pt x="459232" y="536829"/>
                  </a:lnTo>
                  <a:lnTo>
                    <a:pt x="0" y="1073658"/>
                  </a:lnTo>
                  <a:close/>
                </a:path>
              </a:pathLst>
            </a:custGeom>
            <a:solidFill>
              <a:srgbClr val="22385E"/>
            </a:solidFill>
          </p:spPr>
        </p:sp>
      </p:grpSp>
      <p:sp>
        <p:nvSpPr>
          <p:cNvPr name="Freeform 43" id="43"/>
          <p:cNvSpPr/>
          <p:nvPr/>
        </p:nvSpPr>
        <p:spPr>
          <a:xfrm flipH="false" flipV="false" rot="0">
            <a:off x="13385878" y="3845554"/>
            <a:ext cx="4543682" cy="972289"/>
          </a:xfrm>
          <a:custGeom>
            <a:avLst/>
            <a:gdLst/>
            <a:ahLst/>
            <a:cxnLst/>
            <a:rect r="r" b="b" t="t" l="l"/>
            <a:pathLst>
              <a:path h="972289" w="4543682">
                <a:moveTo>
                  <a:pt x="0" y="0"/>
                </a:moveTo>
                <a:lnTo>
                  <a:pt x="4543682" y="0"/>
                </a:lnTo>
                <a:lnTo>
                  <a:pt x="4543682" y="972289"/>
                </a:lnTo>
                <a:lnTo>
                  <a:pt x="0" y="972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44" id="44"/>
          <p:cNvGrpSpPr/>
          <p:nvPr/>
        </p:nvGrpSpPr>
        <p:grpSpPr>
          <a:xfrm rot="0">
            <a:off x="13631003" y="3464600"/>
            <a:ext cx="2565080" cy="392128"/>
            <a:chOff x="0" y="0"/>
            <a:chExt cx="2979698" cy="455511"/>
          </a:xfrm>
        </p:grpSpPr>
        <p:sp>
          <p:nvSpPr>
            <p:cNvPr name="Freeform 45" id="45"/>
            <p:cNvSpPr/>
            <p:nvPr/>
          </p:nvSpPr>
          <p:spPr>
            <a:xfrm flipH="false" flipV="false" rot="0">
              <a:off x="0" y="0"/>
              <a:ext cx="2979306" cy="455295"/>
            </a:xfrm>
            <a:custGeom>
              <a:avLst/>
              <a:gdLst/>
              <a:ahLst/>
              <a:cxnLst/>
              <a:rect r="r" b="b" t="t" l="l"/>
              <a:pathLst>
                <a:path h="455295" w="2979306">
                  <a:moveTo>
                    <a:pt x="2718922" y="455168"/>
                  </a:moveTo>
                  <a:lnTo>
                    <a:pt x="0" y="455168"/>
                  </a:lnTo>
                  <a:lnTo>
                    <a:pt x="0" y="227584"/>
                  </a:lnTo>
                  <a:lnTo>
                    <a:pt x="76284" y="66675"/>
                  </a:lnTo>
                  <a:lnTo>
                    <a:pt x="260384" y="0"/>
                  </a:lnTo>
                  <a:lnTo>
                    <a:pt x="2979306" y="0"/>
                  </a:lnTo>
                  <a:lnTo>
                    <a:pt x="2979306" y="227584"/>
                  </a:lnTo>
                  <a:lnTo>
                    <a:pt x="2958818" y="316230"/>
                  </a:lnTo>
                  <a:lnTo>
                    <a:pt x="2903021" y="388620"/>
                  </a:lnTo>
                  <a:lnTo>
                    <a:pt x="2820198" y="437388"/>
                  </a:lnTo>
                  <a:lnTo>
                    <a:pt x="2718776" y="455295"/>
                  </a:lnTo>
                  <a:close/>
                </a:path>
              </a:pathLst>
            </a:custGeom>
            <a:solidFill>
              <a:srgbClr val="F2C353"/>
            </a:solidFill>
          </p:spPr>
        </p:sp>
      </p:grpSp>
      <p:sp>
        <p:nvSpPr>
          <p:cNvPr name="TextBox 46" id="46"/>
          <p:cNvSpPr txBox="true"/>
          <p:nvPr/>
        </p:nvSpPr>
        <p:spPr>
          <a:xfrm rot="0">
            <a:off x="13736361" y="3551931"/>
            <a:ext cx="3823570" cy="250047"/>
          </a:xfrm>
          <a:prstGeom prst="rect">
            <a:avLst/>
          </a:prstGeom>
        </p:spPr>
        <p:txBody>
          <a:bodyPr anchor="t" rtlCol="false" tIns="0" lIns="0" bIns="0" rIns="0">
            <a:spAutoFit/>
          </a:bodyPr>
          <a:lstStyle/>
          <a:p>
            <a:pPr algn="l">
              <a:lnSpc>
                <a:spcPts val="1928"/>
              </a:lnSpc>
            </a:pPr>
            <a:r>
              <a:rPr lang="en-US" b="true" sz="1606" spc="-22">
                <a:solidFill>
                  <a:srgbClr val="FFFFFF"/>
                </a:solidFill>
                <a:latin typeface="DM Sans Bold"/>
                <a:ea typeface="DM Sans Bold"/>
                <a:cs typeface="DM Sans Bold"/>
                <a:sym typeface="DM Sans Bold"/>
              </a:rPr>
              <a:t>Menjawab dari KB resmi</a:t>
            </a:r>
          </a:p>
        </p:txBody>
      </p:sp>
      <p:sp>
        <p:nvSpPr>
          <p:cNvPr name="TextBox 47" id="47"/>
          <p:cNvSpPr txBox="true"/>
          <p:nvPr/>
        </p:nvSpPr>
        <p:spPr>
          <a:xfrm rot="0">
            <a:off x="13634395" y="3892879"/>
            <a:ext cx="3990665" cy="838200"/>
          </a:xfrm>
          <a:prstGeom prst="rect">
            <a:avLst/>
          </a:prstGeom>
        </p:spPr>
        <p:txBody>
          <a:bodyPr anchor="t" rtlCol="false" tIns="0" lIns="0" bIns="0" rIns="0">
            <a:spAutoFit/>
          </a:bodyPr>
          <a:lstStyle/>
          <a:p>
            <a:pPr algn="just">
              <a:lnSpc>
                <a:spcPts val="1652"/>
              </a:lnSpc>
            </a:pPr>
            <a:r>
              <a:rPr lang="en-US" sz="1377">
                <a:solidFill>
                  <a:srgbClr val="141413"/>
                </a:solidFill>
                <a:latin typeface="DM Sans"/>
                <a:ea typeface="DM Sans"/>
                <a:cs typeface="DM Sans"/>
                <a:sym typeface="DM Sans"/>
              </a:rPr>
              <a:t>LLM</a:t>
            </a:r>
            <a:r>
              <a:rPr lang="en-US" sz="1377">
                <a:solidFill>
                  <a:srgbClr val="141413"/>
                </a:solidFill>
                <a:latin typeface="DM Sans"/>
                <a:ea typeface="DM Sans"/>
                <a:cs typeface="DM Sans"/>
                <a:sym typeface="DM Sans"/>
              </a:rPr>
              <a:t> + RAG mencari informasi dari knowledge base resmi terkait Coretax untuk menghasilkan jawaban yang relevan dan sesuai dengan prosedur yang tersedia.</a:t>
            </a:r>
          </a:p>
        </p:txBody>
      </p:sp>
      <p:sp>
        <p:nvSpPr>
          <p:cNvPr name="TextBox 48" id="48"/>
          <p:cNvSpPr txBox="true"/>
          <p:nvPr/>
        </p:nvSpPr>
        <p:spPr>
          <a:xfrm rot="0">
            <a:off x="12797611" y="4045945"/>
            <a:ext cx="363914" cy="619287"/>
          </a:xfrm>
          <a:prstGeom prst="rect">
            <a:avLst/>
          </a:prstGeom>
        </p:spPr>
        <p:txBody>
          <a:bodyPr anchor="t" rtlCol="false" tIns="0" lIns="0" bIns="0" rIns="0">
            <a:spAutoFit/>
          </a:bodyPr>
          <a:lstStyle/>
          <a:p>
            <a:pPr algn="l">
              <a:lnSpc>
                <a:spcPts val="4801"/>
              </a:lnSpc>
              <a:spcBef>
                <a:spcPct val="0"/>
              </a:spcBef>
            </a:pPr>
            <a:r>
              <a:rPr lang="en-US" b="true" sz="4001" spc="-125">
                <a:solidFill>
                  <a:srgbClr val="FFFFFF"/>
                </a:solidFill>
                <a:latin typeface="DM Sans Bold"/>
                <a:ea typeface="DM Sans Bold"/>
                <a:cs typeface="DM Sans Bold"/>
                <a:sym typeface="DM Sans Bold"/>
              </a:rPr>
              <a:t>3</a:t>
            </a:r>
          </a:p>
        </p:txBody>
      </p:sp>
      <p:grpSp>
        <p:nvGrpSpPr>
          <p:cNvPr name="Group 49" id="49"/>
          <p:cNvGrpSpPr/>
          <p:nvPr/>
        </p:nvGrpSpPr>
        <p:grpSpPr>
          <a:xfrm rot="0">
            <a:off x="11969780" y="3892879"/>
            <a:ext cx="400482" cy="934944"/>
            <a:chOff x="0" y="0"/>
            <a:chExt cx="460591" cy="1075271"/>
          </a:xfrm>
        </p:grpSpPr>
        <p:sp>
          <p:nvSpPr>
            <p:cNvPr name="Freeform 50" id="50"/>
            <p:cNvSpPr/>
            <p:nvPr/>
          </p:nvSpPr>
          <p:spPr>
            <a:xfrm flipH="false" flipV="false" rot="0">
              <a:off x="0" y="0"/>
              <a:ext cx="459232" cy="1073658"/>
            </a:xfrm>
            <a:custGeom>
              <a:avLst/>
              <a:gdLst/>
              <a:ahLst/>
              <a:cxnLst/>
              <a:rect r="r" b="b" t="t" l="l"/>
              <a:pathLst>
                <a:path h="1073658" w="459232">
                  <a:moveTo>
                    <a:pt x="0" y="1073658"/>
                  </a:moveTo>
                  <a:lnTo>
                    <a:pt x="0" y="0"/>
                  </a:lnTo>
                  <a:lnTo>
                    <a:pt x="459232" y="536829"/>
                  </a:lnTo>
                  <a:lnTo>
                    <a:pt x="0" y="1073658"/>
                  </a:lnTo>
                  <a:close/>
                </a:path>
              </a:pathLst>
            </a:custGeom>
            <a:solidFill>
              <a:srgbClr val="22385E"/>
            </a:solidFill>
          </p:spPr>
        </p:sp>
      </p:grpSp>
      <p:sp>
        <p:nvSpPr>
          <p:cNvPr name="Freeform 51" id="51"/>
          <p:cNvSpPr/>
          <p:nvPr/>
        </p:nvSpPr>
        <p:spPr>
          <a:xfrm flipH="false" flipV="false" rot="0">
            <a:off x="1049416" y="6623867"/>
            <a:ext cx="4543682" cy="972289"/>
          </a:xfrm>
          <a:custGeom>
            <a:avLst/>
            <a:gdLst/>
            <a:ahLst/>
            <a:cxnLst/>
            <a:rect r="r" b="b" t="t" l="l"/>
            <a:pathLst>
              <a:path h="972289" w="4543682">
                <a:moveTo>
                  <a:pt x="0" y="0"/>
                </a:moveTo>
                <a:lnTo>
                  <a:pt x="4543682" y="0"/>
                </a:lnTo>
                <a:lnTo>
                  <a:pt x="4543682" y="972289"/>
                </a:lnTo>
                <a:lnTo>
                  <a:pt x="0" y="972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2" id="52"/>
          <p:cNvGrpSpPr/>
          <p:nvPr/>
        </p:nvGrpSpPr>
        <p:grpSpPr>
          <a:xfrm rot="0">
            <a:off x="1294541" y="6242913"/>
            <a:ext cx="2333579" cy="392128"/>
            <a:chOff x="0" y="0"/>
            <a:chExt cx="2710778" cy="455511"/>
          </a:xfrm>
        </p:grpSpPr>
        <p:sp>
          <p:nvSpPr>
            <p:cNvPr name="Freeform 53" id="53"/>
            <p:cNvSpPr/>
            <p:nvPr/>
          </p:nvSpPr>
          <p:spPr>
            <a:xfrm flipH="false" flipV="false" rot="0">
              <a:off x="0" y="0"/>
              <a:ext cx="2710421" cy="455295"/>
            </a:xfrm>
            <a:custGeom>
              <a:avLst/>
              <a:gdLst/>
              <a:ahLst/>
              <a:cxnLst/>
              <a:rect r="r" b="b" t="t" l="l"/>
              <a:pathLst>
                <a:path h="455295" w="2710421">
                  <a:moveTo>
                    <a:pt x="2473537" y="455168"/>
                  </a:moveTo>
                  <a:lnTo>
                    <a:pt x="0" y="455168"/>
                  </a:lnTo>
                  <a:lnTo>
                    <a:pt x="0" y="227584"/>
                  </a:lnTo>
                  <a:lnTo>
                    <a:pt x="69400" y="66675"/>
                  </a:lnTo>
                  <a:lnTo>
                    <a:pt x="236884" y="0"/>
                  </a:lnTo>
                  <a:lnTo>
                    <a:pt x="2710421" y="0"/>
                  </a:lnTo>
                  <a:lnTo>
                    <a:pt x="2710421" y="227584"/>
                  </a:lnTo>
                  <a:lnTo>
                    <a:pt x="2691782" y="316230"/>
                  </a:lnTo>
                  <a:lnTo>
                    <a:pt x="2641021" y="388620"/>
                  </a:lnTo>
                  <a:lnTo>
                    <a:pt x="2565673" y="437388"/>
                  </a:lnTo>
                  <a:lnTo>
                    <a:pt x="2473405" y="455295"/>
                  </a:lnTo>
                  <a:close/>
                </a:path>
              </a:pathLst>
            </a:custGeom>
            <a:solidFill>
              <a:srgbClr val="F2C353"/>
            </a:solidFill>
          </p:spPr>
        </p:sp>
      </p:grpSp>
      <p:sp>
        <p:nvSpPr>
          <p:cNvPr name="TextBox 54" id="54"/>
          <p:cNvSpPr txBox="true"/>
          <p:nvPr/>
        </p:nvSpPr>
        <p:spPr>
          <a:xfrm rot="0">
            <a:off x="1666819" y="6309191"/>
            <a:ext cx="3823570" cy="250047"/>
          </a:xfrm>
          <a:prstGeom prst="rect">
            <a:avLst/>
          </a:prstGeom>
        </p:spPr>
        <p:txBody>
          <a:bodyPr anchor="t" rtlCol="false" tIns="0" lIns="0" bIns="0" rIns="0">
            <a:spAutoFit/>
          </a:bodyPr>
          <a:lstStyle/>
          <a:p>
            <a:pPr algn="l">
              <a:lnSpc>
                <a:spcPts val="1928"/>
              </a:lnSpc>
            </a:pPr>
            <a:r>
              <a:rPr lang="en-US" b="true" sz="1606" spc="-22">
                <a:solidFill>
                  <a:srgbClr val="FFFFFF"/>
                </a:solidFill>
                <a:latin typeface="DM Sans Bold"/>
                <a:ea typeface="DM Sans Bold"/>
                <a:cs typeface="DM Sans Bold"/>
                <a:sym typeface="DM Sans Bold"/>
              </a:rPr>
              <a:t>Eskalasi otomatis</a:t>
            </a:r>
          </a:p>
        </p:txBody>
      </p:sp>
      <p:sp>
        <p:nvSpPr>
          <p:cNvPr name="TextBox 55" id="55"/>
          <p:cNvSpPr txBox="true"/>
          <p:nvPr/>
        </p:nvSpPr>
        <p:spPr>
          <a:xfrm rot="0">
            <a:off x="1223215" y="6671192"/>
            <a:ext cx="3990665" cy="838200"/>
          </a:xfrm>
          <a:prstGeom prst="rect">
            <a:avLst/>
          </a:prstGeom>
        </p:spPr>
        <p:txBody>
          <a:bodyPr anchor="t" rtlCol="false" tIns="0" lIns="0" bIns="0" rIns="0">
            <a:spAutoFit/>
          </a:bodyPr>
          <a:lstStyle/>
          <a:p>
            <a:pPr algn="just">
              <a:lnSpc>
                <a:spcPts val="1652"/>
              </a:lnSpc>
            </a:pPr>
            <a:r>
              <a:rPr lang="en-US" sz="1377">
                <a:solidFill>
                  <a:srgbClr val="141413"/>
                </a:solidFill>
                <a:latin typeface="DM Sans"/>
                <a:ea typeface="DM Sans"/>
                <a:cs typeface="DM Sans"/>
                <a:sym typeface="DM Sans"/>
              </a:rPr>
              <a:t>Jika p</a:t>
            </a:r>
            <a:r>
              <a:rPr lang="en-US" sz="1377">
                <a:solidFill>
                  <a:srgbClr val="141413"/>
                </a:solidFill>
                <a:latin typeface="DM Sans"/>
                <a:ea typeface="DM Sans"/>
                <a:cs typeface="DM Sans"/>
                <a:sym typeface="DM Sans"/>
              </a:rPr>
              <a:t>ertanyaan tidak dapat dijawab oleh AI atau membutuhkan verifikasi data, sistem mencatat kasus dan meneruskannya kepada petugas untuk ditindaklanjuti.</a:t>
            </a:r>
          </a:p>
        </p:txBody>
      </p:sp>
      <p:sp>
        <p:nvSpPr>
          <p:cNvPr name="TextBox 56" id="56"/>
          <p:cNvSpPr txBox="true"/>
          <p:nvPr/>
        </p:nvSpPr>
        <p:spPr>
          <a:xfrm rot="0">
            <a:off x="461150" y="6824258"/>
            <a:ext cx="363914" cy="619287"/>
          </a:xfrm>
          <a:prstGeom prst="rect">
            <a:avLst/>
          </a:prstGeom>
        </p:spPr>
        <p:txBody>
          <a:bodyPr anchor="t" rtlCol="false" tIns="0" lIns="0" bIns="0" rIns="0">
            <a:spAutoFit/>
          </a:bodyPr>
          <a:lstStyle/>
          <a:p>
            <a:pPr algn="l">
              <a:lnSpc>
                <a:spcPts val="4801"/>
              </a:lnSpc>
              <a:spcBef>
                <a:spcPct val="0"/>
              </a:spcBef>
            </a:pPr>
            <a:r>
              <a:rPr lang="en-US" b="true" sz="4001" spc="-125">
                <a:solidFill>
                  <a:srgbClr val="FFFFFF"/>
                </a:solidFill>
                <a:latin typeface="DM Sans Bold"/>
                <a:ea typeface="DM Sans Bold"/>
                <a:cs typeface="DM Sans Bold"/>
                <a:sym typeface="DM Sans Bold"/>
              </a:rPr>
              <a:t>4</a:t>
            </a:r>
          </a:p>
        </p:txBody>
      </p:sp>
      <p:sp>
        <p:nvSpPr>
          <p:cNvPr name="Freeform 57" id="57"/>
          <p:cNvSpPr/>
          <p:nvPr/>
        </p:nvSpPr>
        <p:spPr>
          <a:xfrm flipH="false" flipV="false" rot="0">
            <a:off x="7284714" y="6623867"/>
            <a:ext cx="4543682" cy="972289"/>
          </a:xfrm>
          <a:custGeom>
            <a:avLst/>
            <a:gdLst/>
            <a:ahLst/>
            <a:cxnLst/>
            <a:rect r="r" b="b" t="t" l="l"/>
            <a:pathLst>
              <a:path h="972289" w="4543682">
                <a:moveTo>
                  <a:pt x="0" y="0"/>
                </a:moveTo>
                <a:lnTo>
                  <a:pt x="4543682" y="0"/>
                </a:lnTo>
                <a:lnTo>
                  <a:pt x="4543682" y="972289"/>
                </a:lnTo>
                <a:lnTo>
                  <a:pt x="0" y="972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8" id="58"/>
          <p:cNvGrpSpPr/>
          <p:nvPr/>
        </p:nvGrpSpPr>
        <p:grpSpPr>
          <a:xfrm rot="0">
            <a:off x="7529839" y="6242913"/>
            <a:ext cx="2565080" cy="392128"/>
            <a:chOff x="0" y="0"/>
            <a:chExt cx="2979698" cy="455511"/>
          </a:xfrm>
        </p:grpSpPr>
        <p:sp>
          <p:nvSpPr>
            <p:cNvPr name="Freeform 59" id="59"/>
            <p:cNvSpPr/>
            <p:nvPr/>
          </p:nvSpPr>
          <p:spPr>
            <a:xfrm flipH="false" flipV="false" rot="0">
              <a:off x="0" y="0"/>
              <a:ext cx="2979306" cy="455295"/>
            </a:xfrm>
            <a:custGeom>
              <a:avLst/>
              <a:gdLst/>
              <a:ahLst/>
              <a:cxnLst/>
              <a:rect r="r" b="b" t="t" l="l"/>
              <a:pathLst>
                <a:path h="455295" w="2979306">
                  <a:moveTo>
                    <a:pt x="2718922" y="455168"/>
                  </a:moveTo>
                  <a:lnTo>
                    <a:pt x="0" y="455168"/>
                  </a:lnTo>
                  <a:lnTo>
                    <a:pt x="0" y="227584"/>
                  </a:lnTo>
                  <a:lnTo>
                    <a:pt x="76284" y="66675"/>
                  </a:lnTo>
                  <a:lnTo>
                    <a:pt x="260384" y="0"/>
                  </a:lnTo>
                  <a:lnTo>
                    <a:pt x="2979306" y="0"/>
                  </a:lnTo>
                  <a:lnTo>
                    <a:pt x="2979306" y="227584"/>
                  </a:lnTo>
                  <a:lnTo>
                    <a:pt x="2958818" y="316230"/>
                  </a:lnTo>
                  <a:lnTo>
                    <a:pt x="2903021" y="388620"/>
                  </a:lnTo>
                  <a:lnTo>
                    <a:pt x="2820198" y="437388"/>
                  </a:lnTo>
                  <a:lnTo>
                    <a:pt x="2718776" y="455295"/>
                  </a:lnTo>
                  <a:close/>
                </a:path>
              </a:pathLst>
            </a:custGeom>
            <a:solidFill>
              <a:srgbClr val="F2C353"/>
            </a:solidFill>
          </p:spPr>
        </p:sp>
      </p:grpSp>
      <p:sp>
        <p:nvSpPr>
          <p:cNvPr name="TextBox 60" id="60"/>
          <p:cNvSpPr txBox="true"/>
          <p:nvPr/>
        </p:nvSpPr>
        <p:spPr>
          <a:xfrm rot="0">
            <a:off x="8183135" y="6309191"/>
            <a:ext cx="3823570" cy="250047"/>
          </a:xfrm>
          <a:prstGeom prst="rect">
            <a:avLst/>
          </a:prstGeom>
        </p:spPr>
        <p:txBody>
          <a:bodyPr anchor="t" rtlCol="false" tIns="0" lIns="0" bIns="0" rIns="0">
            <a:spAutoFit/>
          </a:bodyPr>
          <a:lstStyle/>
          <a:p>
            <a:pPr algn="l">
              <a:lnSpc>
                <a:spcPts val="1928"/>
              </a:lnSpc>
            </a:pPr>
            <a:r>
              <a:rPr lang="en-US" b="true" sz="1606" spc="-22">
                <a:solidFill>
                  <a:srgbClr val="FFFFFF"/>
                </a:solidFill>
                <a:latin typeface="DM Sans Bold"/>
                <a:ea typeface="DM Sans Bold"/>
                <a:cs typeface="DM Sans Bold"/>
                <a:sym typeface="DM Sans Bold"/>
              </a:rPr>
              <a:t>Notifikasi pagi</a:t>
            </a:r>
          </a:p>
        </p:txBody>
      </p:sp>
      <p:sp>
        <p:nvSpPr>
          <p:cNvPr name="TextBox 61" id="61"/>
          <p:cNvSpPr txBox="true"/>
          <p:nvPr/>
        </p:nvSpPr>
        <p:spPr>
          <a:xfrm rot="0">
            <a:off x="7460411" y="6703603"/>
            <a:ext cx="3990665" cy="771525"/>
          </a:xfrm>
          <a:prstGeom prst="rect">
            <a:avLst/>
          </a:prstGeom>
        </p:spPr>
        <p:txBody>
          <a:bodyPr anchor="t" rtlCol="false" tIns="0" lIns="0" bIns="0" rIns="0">
            <a:spAutoFit/>
          </a:bodyPr>
          <a:lstStyle/>
          <a:p>
            <a:pPr algn="just">
              <a:lnSpc>
                <a:spcPts val="1532"/>
              </a:lnSpc>
            </a:pPr>
            <a:r>
              <a:rPr lang="en-US" sz="1277">
                <a:solidFill>
                  <a:srgbClr val="141413"/>
                </a:solidFill>
                <a:latin typeface="DM Sans"/>
                <a:ea typeface="DM Sans"/>
                <a:cs typeface="DM Sans"/>
                <a:sym typeface="DM Sans"/>
              </a:rPr>
              <a:t>Sistem menghasilkan</a:t>
            </a:r>
            <a:r>
              <a:rPr lang="en-US" sz="1277">
                <a:solidFill>
                  <a:srgbClr val="141413"/>
                </a:solidFill>
                <a:latin typeface="DM Sans"/>
                <a:ea typeface="DM Sans"/>
                <a:cs typeface="DM Sans"/>
                <a:sym typeface="DM Sans"/>
              </a:rPr>
              <a:t> rekap percakapan dan kasus yang perlu ditindaklanjuti sehingga petugas dapat mengetahui daftar permasalahan yang masuk tanpa harus memantau setiap panggilan secara manual.</a:t>
            </a:r>
          </a:p>
        </p:txBody>
      </p:sp>
      <p:sp>
        <p:nvSpPr>
          <p:cNvPr name="TextBox 62" id="62"/>
          <p:cNvSpPr txBox="true"/>
          <p:nvPr/>
        </p:nvSpPr>
        <p:spPr>
          <a:xfrm rot="0">
            <a:off x="6696448" y="6824258"/>
            <a:ext cx="363914" cy="619287"/>
          </a:xfrm>
          <a:prstGeom prst="rect">
            <a:avLst/>
          </a:prstGeom>
        </p:spPr>
        <p:txBody>
          <a:bodyPr anchor="t" rtlCol="false" tIns="0" lIns="0" bIns="0" rIns="0">
            <a:spAutoFit/>
          </a:bodyPr>
          <a:lstStyle/>
          <a:p>
            <a:pPr algn="l">
              <a:lnSpc>
                <a:spcPts val="4801"/>
              </a:lnSpc>
              <a:spcBef>
                <a:spcPct val="0"/>
              </a:spcBef>
            </a:pPr>
            <a:r>
              <a:rPr lang="en-US" b="true" sz="4001" spc="-125">
                <a:solidFill>
                  <a:srgbClr val="FFFFFF"/>
                </a:solidFill>
                <a:latin typeface="DM Sans Bold"/>
                <a:ea typeface="DM Sans Bold"/>
                <a:cs typeface="DM Sans Bold"/>
                <a:sym typeface="DM Sans Bold"/>
              </a:rPr>
              <a:t>5</a:t>
            </a:r>
          </a:p>
        </p:txBody>
      </p:sp>
      <p:grpSp>
        <p:nvGrpSpPr>
          <p:cNvPr name="Group 63" id="63"/>
          <p:cNvGrpSpPr/>
          <p:nvPr/>
        </p:nvGrpSpPr>
        <p:grpSpPr>
          <a:xfrm rot="0">
            <a:off x="5944532" y="6626656"/>
            <a:ext cx="400482" cy="934944"/>
            <a:chOff x="0" y="0"/>
            <a:chExt cx="460591" cy="1075271"/>
          </a:xfrm>
        </p:grpSpPr>
        <p:sp>
          <p:nvSpPr>
            <p:cNvPr name="Freeform 64" id="64"/>
            <p:cNvSpPr/>
            <p:nvPr/>
          </p:nvSpPr>
          <p:spPr>
            <a:xfrm flipH="false" flipV="false" rot="0">
              <a:off x="0" y="0"/>
              <a:ext cx="459232" cy="1073658"/>
            </a:xfrm>
            <a:custGeom>
              <a:avLst/>
              <a:gdLst/>
              <a:ahLst/>
              <a:cxnLst/>
              <a:rect r="r" b="b" t="t" l="l"/>
              <a:pathLst>
                <a:path h="1073658" w="459232">
                  <a:moveTo>
                    <a:pt x="0" y="1073658"/>
                  </a:moveTo>
                  <a:lnTo>
                    <a:pt x="0" y="0"/>
                  </a:lnTo>
                  <a:lnTo>
                    <a:pt x="459232" y="536829"/>
                  </a:lnTo>
                  <a:lnTo>
                    <a:pt x="0" y="1073658"/>
                  </a:lnTo>
                  <a:close/>
                </a:path>
              </a:pathLst>
            </a:custGeom>
            <a:solidFill>
              <a:srgbClr val="22385E"/>
            </a:solidFill>
          </p:spPr>
        </p:sp>
      </p:grpSp>
      <p:sp>
        <p:nvSpPr>
          <p:cNvPr name="Freeform 65" id="65"/>
          <p:cNvSpPr/>
          <p:nvPr/>
        </p:nvSpPr>
        <p:spPr>
          <a:xfrm flipH="false" flipV="false" rot="0">
            <a:off x="13488588" y="6623867"/>
            <a:ext cx="4543682" cy="972289"/>
          </a:xfrm>
          <a:custGeom>
            <a:avLst/>
            <a:gdLst/>
            <a:ahLst/>
            <a:cxnLst/>
            <a:rect r="r" b="b" t="t" l="l"/>
            <a:pathLst>
              <a:path h="972289" w="4543682">
                <a:moveTo>
                  <a:pt x="0" y="0"/>
                </a:moveTo>
                <a:lnTo>
                  <a:pt x="4543682" y="0"/>
                </a:lnTo>
                <a:lnTo>
                  <a:pt x="4543682" y="972289"/>
                </a:lnTo>
                <a:lnTo>
                  <a:pt x="0" y="9722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6" id="66"/>
          <p:cNvGrpSpPr/>
          <p:nvPr/>
        </p:nvGrpSpPr>
        <p:grpSpPr>
          <a:xfrm rot="0">
            <a:off x="13733713" y="6242913"/>
            <a:ext cx="2565080" cy="392128"/>
            <a:chOff x="0" y="0"/>
            <a:chExt cx="2979698" cy="455511"/>
          </a:xfrm>
        </p:grpSpPr>
        <p:sp>
          <p:nvSpPr>
            <p:cNvPr name="Freeform 67" id="67"/>
            <p:cNvSpPr/>
            <p:nvPr/>
          </p:nvSpPr>
          <p:spPr>
            <a:xfrm flipH="false" flipV="false" rot="0">
              <a:off x="0" y="0"/>
              <a:ext cx="2979306" cy="455295"/>
            </a:xfrm>
            <a:custGeom>
              <a:avLst/>
              <a:gdLst/>
              <a:ahLst/>
              <a:cxnLst/>
              <a:rect r="r" b="b" t="t" l="l"/>
              <a:pathLst>
                <a:path h="455295" w="2979306">
                  <a:moveTo>
                    <a:pt x="2718922" y="455168"/>
                  </a:moveTo>
                  <a:lnTo>
                    <a:pt x="0" y="455168"/>
                  </a:lnTo>
                  <a:lnTo>
                    <a:pt x="0" y="227584"/>
                  </a:lnTo>
                  <a:lnTo>
                    <a:pt x="76284" y="66675"/>
                  </a:lnTo>
                  <a:lnTo>
                    <a:pt x="260384" y="0"/>
                  </a:lnTo>
                  <a:lnTo>
                    <a:pt x="2979306" y="0"/>
                  </a:lnTo>
                  <a:lnTo>
                    <a:pt x="2979306" y="227584"/>
                  </a:lnTo>
                  <a:lnTo>
                    <a:pt x="2958818" y="316230"/>
                  </a:lnTo>
                  <a:lnTo>
                    <a:pt x="2903021" y="388620"/>
                  </a:lnTo>
                  <a:lnTo>
                    <a:pt x="2820198" y="437388"/>
                  </a:lnTo>
                  <a:lnTo>
                    <a:pt x="2718776" y="455295"/>
                  </a:lnTo>
                  <a:close/>
                </a:path>
              </a:pathLst>
            </a:custGeom>
            <a:solidFill>
              <a:srgbClr val="F2C353"/>
            </a:solidFill>
          </p:spPr>
        </p:sp>
      </p:grpSp>
      <p:sp>
        <p:nvSpPr>
          <p:cNvPr name="TextBox 68" id="68"/>
          <p:cNvSpPr txBox="true"/>
          <p:nvPr/>
        </p:nvSpPr>
        <p:spPr>
          <a:xfrm rot="0">
            <a:off x="14208700" y="6309191"/>
            <a:ext cx="3823570" cy="250047"/>
          </a:xfrm>
          <a:prstGeom prst="rect">
            <a:avLst/>
          </a:prstGeom>
        </p:spPr>
        <p:txBody>
          <a:bodyPr anchor="t" rtlCol="false" tIns="0" lIns="0" bIns="0" rIns="0">
            <a:spAutoFit/>
          </a:bodyPr>
          <a:lstStyle/>
          <a:p>
            <a:pPr algn="l">
              <a:lnSpc>
                <a:spcPts val="1928"/>
              </a:lnSpc>
            </a:pPr>
            <a:r>
              <a:rPr lang="en-US" b="true" sz="1606" spc="-22">
                <a:solidFill>
                  <a:srgbClr val="FFFFFF"/>
                </a:solidFill>
                <a:latin typeface="DM Sans Bold"/>
                <a:ea typeface="DM Sans Bold"/>
                <a:cs typeface="DM Sans Bold"/>
                <a:sym typeface="DM Sans Bold"/>
              </a:rPr>
              <a:t>Tindak lanjut staf</a:t>
            </a:r>
          </a:p>
        </p:txBody>
      </p:sp>
      <p:sp>
        <p:nvSpPr>
          <p:cNvPr name="TextBox 69" id="69"/>
          <p:cNvSpPr txBox="true"/>
          <p:nvPr/>
        </p:nvSpPr>
        <p:spPr>
          <a:xfrm rot="0">
            <a:off x="13736361" y="6694078"/>
            <a:ext cx="4193199" cy="810065"/>
          </a:xfrm>
          <a:prstGeom prst="rect">
            <a:avLst/>
          </a:prstGeom>
        </p:spPr>
        <p:txBody>
          <a:bodyPr anchor="t" rtlCol="false" tIns="0" lIns="0" bIns="0" rIns="0">
            <a:spAutoFit/>
          </a:bodyPr>
          <a:lstStyle/>
          <a:p>
            <a:pPr algn="just">
              <a:lnSpc>
                <a:spcPts val="1604"/>
              </a:lnSpc>
            </a:pPr>
            <a:r>
              <a:rPr lang="en-US" sz="1277">
                <a:solidFill>
                  <a:srgbClr val="141413"/>
                </a:solidFill>
                <a:latin typeface="DM Sans"/>
                <a:ea typeface="DM Sans"/>
                <a:cs typeface="DM Sans"/>
                <a:sym typeface="DM Sans"/>
              </a:rPr>
              <a:t>Petugas</a:t>
            </a:r>
            <a:r>
              <a:rPr lang="en-US" sz="1277">
                <a:solidFill>
                  <a:srgbClr val="141413"/>
                </a:solidFill>
                <a:latin typeface="DM Sans"/>
                <a:ea typeface="DM Sans"/>
                <a:cs typeface="DM Sans"/>
                <a:sym typeface="DM Sans"/>
              </a:rPr>
              <a:t> membuka dashboard untuk melihat transkrip percakapan, ringkasan permasalahan, dan status eskalasi, kemudian melakukan tindak lanjut terhadap kasus yang memerlukan penanganan.</a:t>
            </a:r>
          </a:p>
        </p:txBody>
      </p:sp>
      <p:sp>
        <p:nvSpPr>
          <p:cNvPr name="TextBox 70" id="70"/>
          <p:cNvSpPr txBox="true"/>
          <p:nvPr/>
        </p:nvSpPr>
        <p:spPr>
          <a:xfrm rot="0">
            <a:off x="12900321" y="6824258"/>
            <a:ext cx="363914" cy="619287"/>
          </a:xfrm>
          <a:prstGeom prst="rect">
            <a:avLst/>
          </a:prstGeom>
        </p:spPr>
        <p:txBody>
          <a:bodyPr anchor="t" rtlCol="false" tIns="0" lIns="0" bIns="0" rIns="0">
            <a:spAutoFit/>
          </a:bodyPr>
          <a:lstStyle/>
          <a:p>
            <a:pPr algn="l">
              <a:lnSpc>
                <a:spcPts val="4801"/>
              </a:lnSpc>
              <a:spcBef>
                <a:spcPct val="0"/>
              </a:spcBef>
            </a:pPr>
            <a:r>
              <a:rPr lang="en-US" b="true" sz="4001" spc="-125">
                <a:solidFill>
                  <a:srgbClr val="FFFFFF"/>
                </a:solidFill>
                <a:latin typeface="DM Sans Bold"/>
                <a:ea typeface="DM Sans Bold"/>
                <a:cs typeface="DM Sans Bold"/>
                <a:sym typeface="DM Sans Bold"/>
              </a:rPr>
              <a:t>6</a:t>
            </a:r>
          </a:p>
        </p:txBody>
      </p:sp>
      <p:grpSp>
        <p:nvGrpSpPr>
          <p:cNvPr name="Group 71" id="71"/>
          <p:cNvGrpSpPr/>
          <p:nvPr/>
        </p:nvGrpSpPr>
        <p:grpSpPr>
          <a:xfrm rot="0">
            <a:off x="12072490" y="6671192"/>
            <a:ext cx="400482" cy="934944"/>
            <a:chOff x="0" y="0"/>
            <a:chExt cx="460591" cy="1075271"/>
          </a:xfrm>
        </p:grpSpPr>
        <p:sp>
          <p:nvSpPr>
            <p:cNvPr name="Freeform 72" id="72"/>
            <p:cNvSpPr/>
            <p:nvPr/>
          </p:nvSpPr>
          <p:spPr>
            <a:xfrm flipH="false" flipV="false" rot="0">
              <a:off x="0" y="0"/>
              <a:ext cx="459232" cy="1073658"/>
            </a:xfrm>
            <a:custGeom>
              <a:avLst/>
              <a:gdLst/>
              <a:ahLst/>
              <a:cxnLst/>
              <a:rect r="r" b="b" t="t" l="l"/>
              <a:pathLst>
                <a:path h="1073658" w="459232">
                  <a:moveTo>
                    <a:pt x="0" y="1073658"/>
                  </a:moveTo>
                  <a:lnTo>
                    <a:pt x="0" y="0"/>
                  </a:lnTo>
                  <a:lnTo>
                    <a:pt x="459232" y="536829"/>
                  </a:lnTo>
                  <a:lnTo>
                    <a:pt x="0" y="1073658"/>
                  </a:lnTo>
                  <a:close/>
                </a:path>
              </a:pathLst>
            </a:custGeom>
            <a:solidFill>
              <a:srgbClr val="22385E"/>
            </a:solidFill>
          </p:spPr>
        </p:sp>
      </p:grpSp>
      <p:sp>
        <p:nvSpPr>
          <p:cNvPr name="Freeform 73" id="73"/>
          <p:cNvSpPr/>
          <p:nvPr/>
        </p:nvSpPr>
        <p:spPr>
          <a:xfrm flipH="false" flipV="false" rot="0">
            <a:off x="16253047" y="28336"/>
            <a:ext cx="1539316" cy="1539316"/>
          </a:xfrm>
          <a:custGeom>
            <a:avLst/>
            <a:gdLst/>
            <a:ahLst/>
            <a:cxnLst/>
            <a:rect r="r" b="b" t="t" l="l"/>
            <a:pathLst>
              <a:path h="1539316" w="1539316">
                <a:moveTo>
                  <a:pt x="0" y="0"/>
                </a:moveTo>
                <a:lnTo>
                  <a:pt x="1539315" y="0"/>
                </a:lnTo>
                <a:lnTo>
                  <a:pt x="1539315" y="1539316"/>
                </a:lnTo>
                <a:lnTo>
                  <a:pt x="0" y="1539316"/>
                </a:lnTo>
                <a:lnTo>
                  <a:pt x="0" y="0"/>
                </a:lnTo>
                <a:close/>
              </a:path>
            </a:pathLst>
          </a:custGeom>
          <a:blipFill>
            <a:blip r:embed="rId8"/>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608783"/>
            <a:ext cx="14127480" cy="801733"/>
          </a:xfrm>
          <a:prstGeom prst="rect">
            <a:avLst/>
          </a:prstGeom>
        </p:spPr>
        <p:txBody>
          <a:bodyPr anchor="t" rtlCol="false" tIns="0" lIns="0" bIns="0" rIns="0">
            <a:spAutoFit/>
          </a:bodyPr>
          <a:lstStyle/>
          <a:p>
            <a:pPr algn="l">
              <a:lnSpc>
                <a:spcPts val="6317"/>
              </a:lnSpc>
            </a:pPr>
            <a:r>
              <a:rPr lang="en-US" sz="5024" b="true">
                <a:solidFill>
                  <a:srgbClr val="000000"/>
                </a:solidFill>
                <a:latin typeface="DM Sans Bold"/>
                <a:ea typeface="DM Sans Bold"/>
                <a:cs typeface="DM Sans Bold"/>
                <a:sym typeface="DM Sans Bold"/>
              </a:rPr>
              <a:t>T</a:t>
            </a:r>
            <a:r>
              <a:rPr lang="en-US" sz="5024" b="true">
                <a:solidFill>
                  <a:srgbClr val="000000"/>
                </a:solidFill>
                <a:latin typeface="DM Sans Bold"/>
                <a:ea typeface="DM Sans Bold"/>
                <a:cs typeface="DM Sans Bold"/>
                <a:sym typeface="DM Sans Bold"/>
              </a:rPr>
              <a:t>eknologi Pendukung Sistem</a:t>
            </a:r>
          </a:p>
        </p:txBody>
      </p:sp>
      <p:grpSp>
        <p:nvGrpSpPr>
          <p:cNvPr name="Group 3" id="3"/>
          <p:cNvGrpSpPr/>
          <p:nvPr/>
        </p:nvGrpSpPr>
        <p:grpSpPr>
          <a:xfrm rot="0">
            <a:off x="685800" y="1591056"/>
            <a:ext cx="16911828" cy="30175"/>
            <a:chOff x="0" y="0"/>
            <a:chExt cx="22549104" cy="40234"/>
          </a:xfrm>
        </p:grpSpPr>
        <p:sp>
          <p:nvSpPr>
            <p:cNvPr name="Freeform 4" id="4"/>
            <p:cNvSpPr/>
            <p:nvPr/>
          </p:nvSpPr>
          <p:spPr>
            <a:xfrm flipH="false" flipV="false" rot="0">
              <a:off x="0" y="0"/>
              <a:ext cx="22549104" cy="40259"/>
            </a:xfrm>
            <a:custGeom>
              <a:avLst/>
              <a:gdLst/>
              <a:ahLst/>
              <a:cxnLst/>
              <a:rect r="r" b="b" t="t" l="l"/>
              <a:pathLst>
                <a:path h="40259" w="22549104">
                  <a:moveTo>
                    <a:pt x="0" y="0"/>
                  </a:moveTo>
                  <a:lnTo>
                    <a:pt x="22549104" y="0"/>
                  </a:lnTo>
                  <a:lnTo>
                    <a:pt x="22549104" y="40259"/>
                  </a:lnTo>
                  <a:lnTo>
                    <a:pt x="0" y="40259"/>
                  </a:lnTo>
                  <a:close/>
                </a:path>
              </a:pathLst>
            </a:custGeom>
            <a:solidFill>
              <a:srgbClr val="1A1A1A"/>
            </a:solidFill>
          </p:spPr>
        </p:sp>
      </p:grpSp>
      <p:grpSp>
        <p:nvGrpSpPr>
          <p:cNvPr name="Group 5" id="5"/>
          <p:cNvGrpSpPr/>
          <p:nvPr/>
        </p:nvGrpSpPr>
        <p:grpSpPr>
          <a:xfrm rot="0">
            <a:off x="685800" y="9669780"/>
            <a:ext cx="3909060" cy="438912"/>
            <a:chOff x="0" y="0"/>
            <a:chExt cx="5212080" cy="585216"/>
          </a:xfrm>
        </p:grpSpPr>
        <p:sp>
          <p:nvSpPr>
            <p:cNvPr name="Freeform 6" id="6"/>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7" id="7"/>
          <p:cNvGrpSpPr/>
          <p:nvPr/>
        </p:nvGrpSpPr>
        <p:grpSpPr>
          <a:xfrm rot="0">
            <a:off x="685800" y="9669780"/>
            <a:ext cx="3909060" cy="438912"/>
            <a:chOff x="0" y="0"/>
            <a:chExt cx="5212080" cy="585216"/>
          </a:xfrm>
        </p:grpSpPr>
        <p:sp>
          <p:nvSpPr>
            <p:cNvPr name="Freeform 8" id="8"/>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9" id="9"/>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Masalah</a:t>
              </a:r>
            </a:p>
          </p:txBody>
        </p:sp>
      </p:grpSp>
      <p:grpSp>
        <p:nvGrpSpPr>
          <p:cNvPr name="Group 10" id="10"/>
          <p:cNvGrpSpPr/>
          <p:nvPr/>
        </p:nvGrpSpPr>
        <p:grpSpPr>
          <a:xfrm rot="0">
            <a:off x="4937760" y="9669780"/>
            <a:ext cx="3909060" cy="438912"/>
            <a:chOff x="0" y="0"/>
            <a:chExt cx="5212080" cy="585216"/>
          </a:xfrm>
        </p:grpSpPr>
        <p:sp>
          <p:nvSpPr>
            <p:cNvPr name="Freeform 11" id="11"/>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12" id="12"/>
          <p:cNvGrpSpPr/>
          <p:nvPr/>
        </p:nvGrpSpPr>
        <p:grpSpPr>
          <a:xfrm rot="0">
            <a:off x="4937760" y="9669780"/>
            <a:ext cx="3909060" cy="438912"/>
            <a:chOff x="0" y="0"/>
            <a:chExt cx="5212080" cy="585216"/>
          </a:xfrm>
        </p:grpSpPr>
        <p:sp>
          <p:nvSpPr>
            <p:cNvPr name="Freeform 13" id="13"/>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14" id="14"/>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Solusi</a:t>
              </a:r>
            </a:p>
          </p:txBody>
        </p:sp>
      </p:grpSp>
      <p:grpSp>
        <p:nvGrpSpPr>
          <p:cNvPr name="Group 15" id="15"/>
          <p:cNvGrpSpPr/>
          <p:nvPr/>
        </p:nvGrpSpPr>
        <p:grpSpPr>
          <a:xfrm rot="0">
            <a:off x="9189720" y="9601200"/>
            <a:ext cx="3909060" cy="507492"/>
            <a:chOff x="0" y="0"/>
            <a:chExt cx="5212080" cy="676656"/>
          </a:xfrm>
        </p:grpSpPr>
        <p:sp>
          <p:nvSpPr>
            <p:cNvPr name="Freeform 16" id="16"/>
            <p:cNvSpPr/>
            <p:nvPr/>
          </p:nvSpPr>
          <p:spPr>
            <a:xfrm flipH="false" flipV="false" rot="0">
              <a:off x="0" y="0"/>
              <a:ext cx="5212080" cy="676656"/>
            </a:xfrm>
            <a:custGeom>
              <a:avLst/>
              <a:gdLst/>
              <a:ahLst/>
              <a:cxnLst/>
              <a:rect r="r" b="b" t="t" l="l"/>
              <a:pathLst>
                <a:path h="676656" w="5212080">
                  <a:moveTo>
                    <a:pt x="0" y="91440"/>
                  </a:moveTo>
                  <a:cubicBezTo>
                    <a:pt x="0" y="40894"/>
                    <a:pt x="40894" y="0"/>
                    <a:pt x="91440" y="0"/>
                  </a:cubicBezTo>
                  <a:lnTo>
                    <a:pt x="5120640" y="0"/>
                  </a:lnTo>
                  <a:cubicBezTo>
                    <a:pt x="5171186" y="0"/>
                    <a:pt x="5212080" y="40894"/>
                    <a:pt x="5212080" y="91440"/>
                  </a:cubicBezTo>
                  <a:lnTo>
                    <a:pt x="5212080" y="585216"/>
                  </a:lnTo>
                  <a:cubicBezTo>
                    <a:pt x="5212080" y="635762"/>
                    <a:pt x="5171186" y="676656"/>
                    <a:pt x="5120640" y="676656"/>
                  </a:cubicBezTo>
                  <a:lnTo>
                    <a:pt x="91440" y="676656"/>
                  </a:lnTo>
                  <a:cubicBezTo>
                    <a:pt x="40894" y="676656"/>
                    <a:pt x="0" y="635762"/>
                    <a:pt x="0" y="585216"/>
                  </a:cubicBezTo>
                  <a:close/>
                </a:path>
              </a:pathLst>
            </a:custGeom>
            <a:solidFill>
              <a:srgbClr val="B2211B"/>
            </a:solidFill>
          </p:spPr>
        </p:sp>
      </p:grpSp>
      <p:grpSp>
        <p:nvGrpSpPr>
          <p:cNvPr name="Group 17" id="17"/>
          <p:cNvGrpSpPr/>
          <p:nvPr/>
        </p:nvGrpSpPr>
        <p:grpSpPr>
          <a:xfrm rot="0">
            <a:off x="9189720" y="9601200"/>
            <a:ext cx="3909060" cy="507492"/>
            <a:chOff x="0" y="0"/>
            <a:chExt cx="5212080" cy="676656"/>
          </a:xfrm>
        </p:grpSpPr>
        <p:sp>
          <p:nvSpPr>
            <p:cNvPr name="Freeform 18" id="18"/>
            <p:cNvSpPr/>
            <p:nvPr/>
          </p:nvSpPr>
          <p:spPr>
            <a:xfrm flipH="false" flipV="false" rot="0">
              <a:off x="0" y="0"/>
              <a:ext cx="5212080" cy="676656"/>
            </a:xfrm>
            <a:custGeom>
              <a:avLst/>
              <a:gdLst/>
              <a:ahLst/>
              <a:cxnLst/>
              <a:rect r="r" b="b" t="t" l="l"/>
              <a:pathLst>
                <a:path h="676656" w="5212080">
                  <a:moveTo>
                    <a:pt x="0" y="0"/>
                  </a:moveTo>
                  <a:lnTo>
                    <a:pt x="5212080" y="0"/>
                  </a:lnTo>
                  <a:lnTo>
                    <a:pt x="5212080" y="676656"/>
                  </a:lnTo>
                  <a:lnTo>
                    <a:pt x="0" y="676656"/>
                  </a:lnTo>
                  <a:close/>
                </a:path>
              </a:pathLst>
            </a:custGeom>
            <a:blipFill>
              <a:blip r:embed="rId3">
                <a:alphaModFix amt="0"/>
              </a:blip>
              <a:stretch>
                <a:fillRect l="0" t="-100087" r="0" b="-100087"/>
              </a:stretch>
            </a:blipFill>
          </p:spPr>
        </p:sp>
        <p:sp>
          <p:nvSpPr>
            <p:cNvPr name="TextBox 19" id="19"/>
            <p:cNvSpPr txBox="true"/>
            <p:nvPr/>
          </p:nvSpPr>
          <p:spPr>
            <a:xfrm>
              <a:off x="0" y="0"/>
              <a:ext cx="5212080" cy="676656"/>
            </a:xfrm>
            <a:prstGeom prst="rect">
              <a:avLst/>
            </a:prstGeom>
          </p:spPr>
          <p:txBody>
            <a:bodyPr anchor="ctr" rtlCol="false" tIns="0" lIns="0" bIns="0" rIns="0"/>
            <a:lstStyle/>
            <a:p>
              <a:pPr algn="ctr">
                <a:lnSpc>
                  <a:spcPts val="1889"/>
                </a:lnSpc>
              </a:pPr>
              <a:r>
                <a:rPr lang="en-US" sz="1575" b="true">
                  <a:solidFill>
                    <a:srgbClr val="FFFFFF"/>
                  </a:solidFill>
                  <a:latin typeface="DM Sans Bold"/>
                  <a:ea typeface="DM Sans Bold"/>
                  <a:cs typeface="DM Sans Bold"/>
                  <a:sym typeface="DM Sans Bold"/>
                </a:rPr>
                <a:t>Arsitektur</a:t>
              </a:r>
            </a:p>
          </p:txBody>
        </p:sp>
      </p:grpSp>
      <p:grpSp>
        <p:nvGrpSpPr>
          <p:cNvPr name="Group 20" id="20"/>
          <p:cNvGrpSpPr/>
          <p:nvPr/>
        </p:nvGrpSpPr>
        <p:grpSpPr>
          <a:xfrm rot="0">
            <a:off x="13441680" y="9669780"/>
            <a:ext cx="3909060" cy="438912"/>
            <a:chOff x="0" y="0"/>
            <a:chExt cx="5212080" cy="585216"/>
          </a:xfrm>
        </p:grpSpPr>
        <p:sp>
          <p:nvSpPr>
            <p:cNvPr name="Freeform 21" id="21"/>
            <p:cNvSpPr/>
            <p:nvPr/>
          </p:nvSpPr>
          <p:spPr>
            <a:xfrm flipH="false" flipV="false" rot="0">
              <a:off x="0" y="0"/>
              <a:ext cx="5212080" cy="585216"/>
            </a:xfrm>
            <a:custGeom>
              <a:avLst/>
              <a:gdLst/>
              <a:ahLst/>
              <a:cxnLst/>
              <a:rect r="r" b="b" t="t" l="l"/>
              <a:pathLst>
                <a:path h="585216" w="5212080">
                  <a:moveTo>
                    <a:pt x="0" y="91440"/>
                  </a:moveTo>
                  <a:cubicBezTo>
                    <a:pt x="0" y="40894"/>
                    <a:pt x="40894" y="0"/>
                    <a:pt x="91440" y="0"/>
                  </a:cubicBezTo>
                  <a:lnTo>
                    <a:pt x="5120640" y="0"/>
                  </a:lnTo>
                  <a:cubicBezTo>
                    <a:pt x="5171186" y="0"/>
                    <a:pt x="5212080" y="40894"/>
                    <a:pt x="5212080" y="91440"/>
                  </a:cubicBezTo>
                  <a:lnTo>
                    <a:pt x="5212080" y="493776"/>
                  </a:lnTo>
                  <a:cubicBezTo>
                    <a:pt x="5212080" y="544322"/>
                    <a:pt x="5171186" y="585216"/>
                    <a:pt x="5120640" y="585216"/>
                  </a:cubicBezTo>
                  <a:lnTo>
                    <a:pt x="91440" y="585216"/>
                  </a:lnTo>
                  <a:cubicBezTo>
                    <a:pt x="40894" y="585216"/>
                    <a:pt x="0" y="544322"/>
                    <a:pt x="0" y="493776"/>
                  </a:cubicBezTo>
                  <a:close/>
                </a:path>
              </a:pathLst>
            </a:custGeom>
            <a:solidFill>
              <a:srgbClr val="EFEEEC"/>
            </a:solidFill>
          </p:spPr>
        </p:sp>
      </p:grpSp>
      <p:grpSp>
        <p:nvGrpSpPr>
          <p:cNvPr name="Group 22" id="22"/>
          <p:cNvGrpSpPr/>
          <p:nvPr/>
        </p:nvGrpSpPr>
        <p:grpSpPr>
          <a:xfrm rot="0">
            <a:off x="13441680" y="9669780"/>
            <a:ext cx="3909060" cy="438912"/>
            <a:chOff x="0" y="0"/>
            <a:chExt cx="5212080" cy="585216"/>
          </a:xfrm>
        </p:grpSpPr>
        <p:sp>
          <p:nvSpPr>
            <p:cNvPr name="Freeform 23" id="23"/>
            <p:cNvSpPr/>
            <p:nvPr/>
          </p:nvSpPr>
          <p:spPr>
            <a:xfrm flipH="false" flipV="false" rot="0">
              <a:off x="0" y="0"/>
              <a:ext cx="5212080" cy="585216"/>
            </a:xfrm>
            <a:custGeom>
              <a:avLst/>
              <a:gdLst/>
              <a:ahLst/>
              <a:cxnLst/>
              <a:rect r="r" b="b" t="t" l="l"/>
              <a:pathLst>
                <a:path h="585216" w="5212080">
                  <a:moveTo>
                    <a:pt x="0" y="0"/>
                  </a:moveTo>
                  <a:lnTo>
                    <a:pt x="5212080" y="0"/>
                  </a:lnTo>
                  <a:lnTo>
                    <a:pt x="5212080" y="585216"/>
                  </a:lnTo>
                  <a:lnTo>
                    <a:pt x="0" y="585216"/>
                  </a:lnTo>
                  <a:close/>
                </a:path>
              </a:pathLst>
            </a:custGeom>
            <a:blipFill>
              <a:blip r:embed="rId3">
                <a:alphaModFix amt="0"/>
              </a:blip>
              <a:stretch>
                <a:fillRect l="0" t="-123538" r="0" b="-123538"/>
              </a:stretch>
            </a:blipFill>
          </p:spPr>
        </p:sp>
        <p:sp>
          <p:nvSpPr>
            <p:cNvPr name="TextBox 24" id="24"/>
            <p:cNvSpPr txBox="true"/>
            <p:nvPr/>
          </p:nvSpPr>
          <p:spPr>
            <a:xfrm>
              <a:off x="0" y="-9525"/>
              <a:ext cx="5212080" cy="594741"/>
            </a:xfrm>
            <a:prstGeom prst="rect">
              <a:avLst/>
            </a:prstGeom>
          </p:spPr>
          <p:txBody>
            <a:bodyPr anchor="ctr" rtlCol="false" tIns="0" lIns="0" bIns="0" rIns="0"/>
            <a:lstStyle/>
            <a:p>
              <a:pPr algn="ctr">
                <a:lnSpc>
                  <a:spcPts val="1800"/>
                </a:lnSpc>
              </a:pPr>
              <a:r>
                <a:rPr lang="en-US" sz="1500" b="true">
                  <a:solidFill>
                    <a:srgbClr val="8A9AA8"/>
                  </a:solidFill>
                  <a:latin typeface="DM Sans Bold"/>
                  <a:ea typeface="DM Sans Bold"/>
                  <a:cs typeface="DM Sans Bold"/>
                  <a:sym typeface="DM Sans Bold"/>
                </a:rPr>
                <a:t>Biaya &amp; Skalabilitas</a:t>
              </a:r>
            </a:p>
          </p:txBody>
        </p:sp>
      </p:grpSp>
      <p:grpSp>
        <p:nvGrpSpPr>
          <p:cNvPr name="Group 25" id="25"/>
          <p:cNvGrpSpPr/>
          <p:nvPr/>
        </p:nvGrpSpPr>
        <p:grpSpPr>
          <a:xfrm rot="0">
            <a:off x="17213580" y="9532620"/>
            <a:ext cx="822960" cy="617220"/>
            <a:chOff x="0" y="0"/>
            <a:chExt cx="1097280" cy="822960"/>
          </a:xfrm>
        </p:grpSpPr>
        <p:sp>
          <p:nvSpPr>
            <p:cNvPr name="Freeform 26" id="26"/>
            <p:cNvSpPr/>
            <p:nvPr/>
          </p:nvSpPr>
          <p:spPr>
            <a:xfrm flipH="false" flipV="false" rot="0">
              <a:off x="0" y="0"/>
              <a:ext cx="1097280" cy="822960"/>
            </a:xfrm>
            <a:custGeom>
              <a:avLst/>
              <a:gdLst/>
              <a:ahLst/>
              <a:cxnLst/>
              <a:rect r="r" b="b" t="t" l="l"/>
              <a:pathLst>
                <a:path h="822960" w="1097280">
                  <a:moveTo>
                    <a:pt x="0" y="0"/>
                  </a:moveTo>
                  <a:lnTo>
                    <a:pt x="1097280" y="0"/>
                  </a:lnTo>
                  <a:lnTo>
                    <a:pt x="1097280" y="822960"/>
                  </a:lnTo>
                  <a:lnTo>
                    <a:pt x="0" y="822960"/>
                  </a:lnTo>
                  <a:close/>
                </a:path>
              </a:pathLst>
            </a:custGeom>
            <a:blipFill>
              <a:blip r:embed="rId3">
                <a:alphaModFix amt="0"/>
              </a:blip>
              <a:stretch>
                <a:fillRect l="-46227" t="0" r="-46227" b="0"/>
              </a:stretch>
            </a:blipFill>
          </p:spPr>
        </p:sp>
        <p:sp>
          <p:nvSpPr>
            <p:cNvPr name="TextBox 27" id="27"/>
            <p:cNvSpPr txBox="true"/>
            <p:nvPr/>
          </p:nvSpPr>
          <p:spPr>
            <a:xfrm>
              <a:off x="0" y="-9525"/>
              <a:ext cx="1097280" cy="832485"/>
            </a:xfrm>
            <a:prstGeom prst="rect">
              <a:avLst/>
            </a:prstGeom>
          </p:spPr>
          <p:txBody>
            <a:bodyPr anchor="ctr" rtlCol="false" tIns="0" lIns="0" bIns="0" rIns="0"/>
            <a:lstStyle/>
            <a:p>
              <a:pPr algn="r">
                <a:lnSpc>
                  <a:spcPts val="3600"/>
                </a:lnSpc>
              </a:pPr>
              <a:r>
                <a:rPr lang="en-US" sz="3000" b="true">
                  <a:solidFill>
                    <a:srgbClr val="1A1A1A"/>
                  </a:solidFill>
                  <a:latin typeface="DM Sans Bold"/>
                  <a:ea typeface="DM Sans Bold"/>
                  <a:cs typeface="DM Sans Bold"/>
                  <a:sym typeface="DM Sans Bold"/>
                </a:rPr>
                <a:t>6</a:t>
              </a:r>
            </a:p>
          </p:txBody>
        </p:sp>
      </p:grpSp>
      <p:sp>
        <p:nvSpPr>
          <p:cNvPr name="Freeform 28" id="28"/>
          <p:cNvSpPr/>
          <p:nvPr/>
        </p:nvSpPr>
        <p:spPr>
          <a:xfrm flipH="false" flipV="false" rot="0">
            <a:off x="0" y="-21105"/>
            <a:ext cx="773670" cy="1627249"/>
          </a:xfrm>
          <a:custGeom>
            <a:avLst/>
            <a:gdLst/>
            <a:ahLst/>
            <a:cxnLst/>
            <a:rect r="r" b="b" t="t" l="l"/>
            <a:pathLst>
              <a:path h="1627249" w="773670">
                <a:moveTo>
                  <a:pt x="0" y="0"/>
                </a:moveTo>
                <a:lnTo>
                  <a:pt x="773670" y="0"/>
                </a:lnTo>
                <a:lnTo>
                  <a:pt x="773670" y="1627249"/>
                </a:lnTo>
                <a:lnTo>
                  <a:pt x="0" y="1627249"/>
                </a:lnTo>
                <a:lnTo>
                  <a:pt x="0" y="0"/>
                </a:lnTo>
                <a:close/>
              </a:path>
            </a:pathLst>
          </a:custGeom>
          <a:blipFill>
            <a:blip r:embed="rId4">
              <a:extLst>
                <a:ext uri="{96DAC541-7B7A-43D3-8B79-37D633B846F1}">
                  <asvg:svgBlip xmlns:asvg="http://schemas.microsoft.com/office/drawing/2016/SVG/main" r:embed="rId5"/>
                </a:ext>
              </a:extLst>
            </a:blip>
            <a:stretch>
              <a:fillRect l="0" t="0" r="-1757981" b="0"/>
            </a:stretch>
          </a:blipFill>
        </p:spPr>
      </p:sp>
      <p:grpSp>
        <p:nvGrpSpPr>
          <p:cNvPr name="Group 29" id="29"/>
          <p:cNvGrpSpPr/>
          <p:nvPr/>
        </p:nvGrpSpPr>
        <p:grpSpPr>
          <a:xfrm rot="0">
            <a:off x="438912" y="2052231"/>
            <a:ext cx="2914435" cy="1061482"/>
            <a:chOff x="0" y="0"/>
            <a:chExt cx="2800543" cy="1020000"/>
          </a:xfrm>
        </p:grpSpPr>
        <p:sp>
          <p:nvSpPr>
            <p:cNvPr name="Freeform 30" id="30"/>
            <p:cNvSpPr/>
            <p:nvPr/>
          </p:nvSpPr>
          <p:spPr>
            <a:xfrm flipH="false" flipV="false" rot="0">
              <a:off x="0" y="0"/>
              <a:ext cx="2800492" cy="1019937"/>
            </a:xfrm>
            <a:custGeom>
              <a:avLst/>
              <a:gdLst/>
              <a:ahLst/>
              <a:cxnLst/>
              <a:rect r="r" b="b" t="t" l="l"/>
              <a:pathLst>
                <a:path h="1019937" w="2800492">
                  <a:moveTo>
                    <a:pt x="0" y="0"/>
                  </a:moveTo>
                  <a:lnTo>
                    <a:pt x="2800492" y="0"/>
                  </a:lnTo>
                  <a:lnTo>
                    <a:pt x="2800492" y="1019937"/>
                  </a:lnTo>
                  <a:lnTo>
                    <a:pt x="0" y="1019937"/>
                  </a:lnTo>
                  <a:lnTo>
                    <a:pt x="0" y="0"/>
                  </a:lnTo>
                  <a:close/>
                </a:path>
              </a:pathLst>
            </a:custGeom>
            <a:blipFill>
              <a:blip r:embed="rId6"/>
              <a:stretch>
                <a:fillRect l="0" t="-954" r="-1" b="-960"/>
              </a:stretch>
            </a:blipFill>
          </p:spPr>
        </p:sp>
      </p:grpSp>
      <p:grpSp>
        <p:nvGrpSpPr>
          <p:cNvPr name="Group 31" id="31"/>
          <p:cNvGrpSpPr/>
          <p:nvPr/>
        </p:nvGrpSpPr>
        <p:grpSpPr>
          <a:xfrm rot="0">
            <a:off x="599979" y="2157963"/>
            <a:ext cx="2593186" cy="745409"/>
            <a:chOff x="0" y="0"/>
            <a:chExt cx="2491848" cy="716280"/>
          </a:xfrm>
        </p:grpSpPr>
        <p:sp>
          <p:nvSpPr>
            <p:cNvPr name="Freeform 32" id="32"/>
            <p:cNvSpPr/>
            <p:nvPr/>
          </p:nvSpPr>
          <p:spPr>
            <a:xfrm flipH="false" flipV="false" rot="0">
              <a:off x="0" y="0"/>
              <a:ext cx="2491848" cy="716280"/>
            </a:xfrm>
            <a:custGeom>
              <a:avLst/>
              <a:gdLst/>
              <a:ahLst/>
              <a:cxnLst/>
              <a:rect r="r" b="b" t="t" l="l"/>
              <a:pathLst>
                <a:path h="716280" w="2491848">
                  <a:moveTo>
                    <a:pt x="0" y="0"/>
                  </a:moveTo>
                  <a:lnTo>
                    <a:pt x="2491848" y="0"/>
                  </a:lnTo>
                  <a:lnTo>
                    <a:pt x="2491848" y="716280"/>
                  </a:lnTo>
                  <a:lnTo>
                    <a:pt x="0" y="716280"/>
                  </a:lnTo>
                  <a:close/>
                </a:path>
              </a:pathLst>
            </a:custGeom>
            <a:gradFill rotWithShape="true">
              <a:gsLst>
                <a:gs pos="0">
                  <a:srgbClr val="B2211B">
                    <a:alpha val="100000"/>
                  </a:srgbClr>
                </a:gs>
                <a:gs pos="100000">
                  <a:srgbClr val="9A2F2B">
                    <a:alpha val="100000"/>
                  </a:srgbClr>
                </a:gs>
              </a:gsLst>
              <a:lin ang="0"/>
            </a:gradFill>
          </p:spPr>
        </p:sp>
        <p:sp>
          <p:nvSpPr>
            <p:cNvPr name="TextBox 33" id="33"/>
            <p:cNvSpPr txBox="true"/>
            <p:nvPr/>
          </p:nvSpPr>
          <p:spPr>
            <a:xfrm>
              <a:off x="0" y="19050"/>
              <a:ext cx="2491848" cy="697230"/>
            </a:xfrm>
            <a:prstGeom prst="rect">
              <a:avLst/>
            </a:prstGeom>
          </p:spPr>
          <p:txBody>
            <a:bodyPr anchor="ctr" rtlCol="false" tIns="50800" lIns="50800" bIns="50800" rIns="50800"/>
            <a:lstStyle/>
            <a:p>
              <a:pPr algn="ctr">
                <a:lnSpc>
                  <a:spcPts val="2309"/>
                </a:lnSpc>
              </a:pPr>
              <a:r>
                <a:rPr lang="en-US" b="true" sz="2199" spc="65">
                  <a:solidFill>
                    <a:srgbClr val="FFFFFF"/>
                  </a:solidFill>
                  <a:latin typeface="DM Sans Bold"/>
                  <a:ea typeface="DM Sans Bold"/>
                  <a:cs typeface="DM Sans Bold"/>
                  <a:sym typeface="DM Sans Bold"/>
                </a:rPr>
                <a:t>Komponen</a:t>
              </a:r>
            </a:p>
          </p:txBody>
        </p:sp>
      </p:grpSp>
      <p:grpSp>
        <p:nvGrpSpPr>
          <p:cNvPr name="Group 34" id="34"/>
          <p:cNvGrpSpPr/>
          <p:nvPr/>
        </p:nvGrpSpPr>
        <p:grpSpPr>
          <a:xfrm rot="0">
            <a:off x="3437317" y="2144747"/>
            <a:ext cx="6607336" cy="777129"/>
            <a:chOff x="0" y="0"/>
            <a:chExt cx="6349131" cy="746760"/>
          </a:xfrm>
        </p:grpSpPr>
        <p:sp>
          <p:nvSpPr>
            <p:cNvPr name="Freeform 35" id="35"/>
            <p:cNvSpPr/>
            <p:nvPr/>
          </p:nvSpPr>
          <p:spPr>
            <a:xfrm flipH="false" flipV="false" rot="0">
              <a:off x="0" y="0"/>
              <a:ext cx="6349182" cy="746760"/>
            </a:xfrm>
            <a:custGeom>
              <a:avLst/>
              <a:gdLst/>
              <a:ahLst/>
              <a:cxnLst/>
              <a:rect r="r" b="b" t="t" l="l"/>
              <a:pathLst>
                <a:path h="746760" w="6349182">
                  <a:moveTo>
                    <a:pt x="0" y="0"/>
                  </a:moveTo>
                  <a:lnTo>
                    <a:pt x="6349182" y="0"/>
                  </a:lnTo>
                  <a:lnTo>
                    <a:pt x="6349182" y="746760"/>
                  </a:lnTo>
                  <a:lnTo>
                    <a:pt x="0" y="746760"/>
                  </a:lnTo>
                  <a:close/>
                </a:path>
              </a:pathLst>
            </a:custGeom>
            <a:gradFill rotWithShape="true">
              <a:gsLst>
                <a:gs pos="0">
                  <a:srgbClr val="B2211B">
                    <a:alpha val="100000"/>
                  </a:srgbClr>
                </a:gs>
                <a:gs pos="100000">
                  <a:srgbClr val="9A2F2B">
                    <a:alpha val="100000"/>
                  </a:srgbClr>
                </a:gs>
              </a:gsLst>
              <a:lin ang="0"/>
            </a:gradFill>
            <a:ln w="19048" cap="sq">
              <a:solidFill>
                <a:srgbClr val="1C4AA5"/>
              </a:solidFill>
              <a:prstDash val="solid"/>
              <a:miter/>
            </a:ln>
          </p:spPr>
        </p:sp>
        <p:sp>
          <p:nvSpPr>
            <p:cNvPr name="TextBox 36" id="36"/>
            <p:cNvSpPr txBox="true"/>
            <p:nvPr/>
          </p:nvSpPr>
          <p:spPr>
            <a:xfrm>
              <a:off x="0" y="0"/>
              <a:ext cx="6349131" cy="746760"/>
            </a:xfrm>
            <a:prstGeom prst="rect">
              <a:avLst/>
            </a:prstGeom>
          </p:spPr>
          <p:txBody>
            <a:bodyPr anchor="ctr" rtlCol="false" tIns="50800" lIns="50800" bIns="50800" rIns="50800"/>
            <a:lstStyle/>
            <a:p>
              <a:pPr algn="ctr">
                <a:lnSpc>
                  <a:spcPts val="3479"/>
                </a:lnSpc>
              </a:pPr>
              <a:r>
                <a:rPr lang="en-US" b="true" sz="2899" spc="43">
                  <a:solidFill>
                    <a:srgbClr val="FFFFFF"/>
                  </a:solidFill>
                  <a:latin typeface="DM Sans Bold"/>
                  <a:ea typeface="DM Sans Bold"/>
                  <a:cs typeface="DM Sans Bold"/>
                  <a:sym typeface="DM Sans Bold"/>
                </a:rPr>
                <a:t>Teknologi</a:t>
              </a:r>
            </a:p>
          </p:txBody>
        </p:sp>
      </p:grpSp>
      <p:grpSp>
        <p:nvGrpSpPr>
          <p:cNvPr name="Group 37" id="37"/>
          <p:cNvGrpSpPr/>
          <p:nvPr/>
        </p:nvGrpSpPr>
        <p:grpSpPr>
          <a:xfrm rot="0">
            <a:off x="10305019" y="2144747"/>
            <a:ext cx="6884735" cy="777129"/>
            <a:chOff x="0" y="0"/>
            <a:chExt cx="6615689" cy="746760"/>
          </a:xfrm>
        </p:grpSpPr>
        <p:sp>
          <p:nvSpPr>
            <p:cNvPr name="Freeform 38" id="38"/>
            <p:cNvSpPr/>
            <p:nvPr/>
          </p:nvSpPr>
          <p:spPr>
            <a:xfrm flipH="false" flipV="false" rot="0">
              <a:off x="0" y="0"/>
              <a:ext cx="6615650" cy="746760"/>
            </a:xfrm>
            <a:custGeom>
              <a:avLst/>
              <a:gdLst/>
              <a:ahLst/>
              <a:cxnLst/>
              <a:rect r="r" b="b" t="t" l="l"/>
              <a:pathLst>
                <a:path h="746760" w="6615650">
                  <a:moveTo>
                    <a:pt x="0" y="0"/>
                  </a:moveTo>
                  <a:lnTo>
                    <a:pt x="6615650" y="0"/>
                  </a:lnTo>
                  <a:lnTo>
                    <a:pt x="6615650" y="746760"/>
                  </a:lnTo>
                  <a:lnTo>
                    <a:pt x="0" y="746760"/>
                  </a:lnTo>
                  <a:close/>
                </a:path>
              </a:pathLst>
            </a:custGeom>
            <a:gradFill rotWithShape="true">
              <a:gsLst>
                <a:gs pos="0">
                  <a:srgbClr val="B2211B">
                    <a:alpha val="100000"/>
                  </a:srgbClr>
                </a:gs>
                <a:gs pos="100000">
                  <a:srgbClr val="9A2F2B">
                    <a:alpha val="100000"/>
                  </a:srgbClr>
                </a:gs>
              </a:gsLst>
              <a:lin ang="0"/>
            </a:gradFill>
            <a:ln w="19048" cap="sq">
              <a:solidFill>
                <a:srgbClr val="1C4AA5"/>
              </a:solidFill>
              <a:prstDash val="solid"/>
              <a:miter/>
            </a:ln>
          </p:spPr>
        </p:sp>
        <p:sp>
          <p:nvSpPr>
            <p:cNvPr name="TextBox 39" id="39"/>
            <p:cNvSpPr txBox="true"/>
            <p:nvPr/>
          </p:nvSpPr>
          <p:spPr>
            <a:xfrm>
              <a:off x="0" y="0"/>
              <a:ext cx="6615689" cy="746760"/>
            </a:xfrm>
            <a:prstGeom prst="rect">
              <a:avLst/>
            </a:prstGeom>
          </p:spPr>
          <p:txBody>
            <a:bodyPr anchor="ctr" rtlCol="false" tIns="50800" lIns="50800" bIns="50800" rIns="50800"/>
            <a:lstStyle/>
            <a:p>
              <a:pPr algn="ctr">
                <a:lnSpc>
                  <a:spcPts val="3479"/>
                </a:lnSpc>
              </a:pPr>
              <a:r>
                <a:rPr lang="en-US" b="true" sz="2899" spc="43">
                  <a:solidFill>
                    <a:srgbClr val="FFFFFF"/>
                  </a:solidFill>
                  <a:latin typeface="DM Sans Bold"/>
                  <a:ea typeface="DM Sans Bold"/>
                  <a:cs typeface="DM Sans Bold"/>
                  <a:sym typeface="DM Sans Bold"/>
                </a:rPr>
                <a:t>Fungsi</a:t>
              </a:r>
            </a:p>
          </p:txBody>
        </p:sp>
      </p:grpSp>
      <p:grpSp>
        <p:nvGrpSpPr>
          <p:cNvPr name="Group 40" id="40"/>
          <p:cNvGrpSpPr/>
          <p:nvPr/>
        </p:nvGrpSpPr>
        <p:grpSpPr>
          <a:xfrm rot="0">
            <a:off x="438912" y="3167597"/>
            <a:ext cx="2914435" cy="1061482"/>
            <a:chOff x="0" y="0"/>
            <a:chExt cx="2800543" cy="1020000"/>
          </a:xfrm>
        </p:grpSpPr>
        <p:sp>
          <p:nvSpPr>
            <p:cNvPr name="Freeform 41" id="41"/>
            <p:cNvSpPr/>
            <p:nvPr/>
          </p:nvSpPr>
          <p:spPr>
            <a:xfrm flipH="false" flipV="false" rot="0">
              <a:off x="0" y="0"/>
              <a:ext cx="2800492" cy="1019937"/>
            </a:xfrm>
            <a:custGeom>
              <a:avLst/>
              <a:gdLst/>
              <a:ahLst/>
              <a:cxnLst/>
              <a:rect r="r" b="b" t="t" l="l"/>
              <a:pathLst>
                <a:path h="1019937" w="2800492">
                  <a:moveTo>
                    <a:pt x="0" y="0"/>
                  </a:moveTo>
                  <a:lnTo>
                    <a:pt x="2800492" y="0"/>
                  </a:lnTo>
                  <a:lnTo>
                    <a:pt x="2800492" y="1019937"/>
                  </a:lnTo>
                  <a:lnTo>
                    <a:pt x="0" y="1019937"/>
                  </a:lnTo>
                  <a:lnTo>
                    <a:pt x="0" y="0"/>
                  </a:lnTo>
                  <a:close/>
                </a:path>
              </a:pathLst>
            </a:custGeom>
            <a:blipFill>
              <a:blip r:embed="rId6"/>
              <a:stretch>
                <a:fillRect l="0" t="-954" r="-1" b="-960"/>
              </a:stretch>
            </a:blipFill>
          </p:spPr>
        </p:sp>
      </p:grpSp>
      <p:grpSp>
        <p:nvGrpSpPr>
          <p:cNvPr name="Group 42" id="42"/>
          <p:cNvGrpSpPr/>
          <p:nvPr/>
        </p:nvGrpSpPr>
        <p:grpSpPr>
          <a:xfrm rot="0">
            <a:off x="599979" y="3273328"/>
            <a:ext cx="2593186" cy="831728"/>
            <a:chOff x="0" y="0"/>
            <a:chExt cx="2491848" cy="799225"/>
          </a:xfrm>
        </p:grpSpPr>
        <p:sp>
          <p:nvSpPr>
            <p:cNvPr name="Freeform 43" id="43"/>
            <p:cNvSpPr/>
            <p:nvPr/>
          </p:nvSpPr>
          <p:spPr>
            <a:xfrm flipH="false" flipV="false" rot="0">
              <a:off x="0" y="0"/>
              <a:ext cx="2491848" cy="799225"/>
            </a:xfrm>
            <a:custGeom>
              <a:avLst/>
              <a:gdLst/>
              <a:ahLst/>
              <a:cxnLst/>
              <a:rect r="r" b="b" t="t" l="l"/>
              <a:pathLst>
                <a:path h="799225" w="2491848">
                  <a:moveTo>
                    <a:pt x="0" y="0"/>
                  </a:moveTo>
                  <a:lnTo>
                    <a:pt x="2491848" y="0"/>
                  </a:lnTo>
                  <a:lnTo>
                    <a:pt x="2491848" y="799225"/>
                  </a:lnTo>
                  <a:lnTo>
                    <a:pt x="0" y="799225"/>
                  </a:lnTo>
                  <a:close/>
                </a:path>
              </a:pathLst>
            </a:custGeom>
            <a:solidFill>
              <a:srgbClr val="AA4954"/>
            </a:solidFill>
          </p:spPr>
        </p:sp>
        <p:sp>
          <p:nvSpPr>
            <p:cNvPr name="TextBox 44" id="44"/>
            <p:cNvSpPr txBox="true"/>
            <p:nvPr/>
          </p:nvSpPr>
          <p:spPr>
            <a:xfrm>
              <a:off x="0" y="-9525"/>
              <a:ext cx="2491848" cy="808750"/>
            </a:xfrm>
            <a:prstGeom prst="rect">
              <a:avLst/>
            </a:prstGeom>
          </p:spPr>
          <p:txBody>
            <a:bodyPr anchor="ctr" rtlCol="false" tIns="50800" lIns="50800" bIns="50800" rIns="50800"/>
            <a:lstStyle/>
            <a:p>
              <a:pPr algn="ctr">
                <a:lnSpc>
                  <a:spcPts val="2639"/>
                </a:lnSpc>
              </a:pPr>
              <a:r>
                <a:rPr lang="en-US" b="true" sz="2199" spc="-21">
                  <a:solidFill>
                    <a:srgbClr val="FEFEFE"/>
                  </a:solidFill>
                  <a:latin typeface="DM Sans Bold"/>
                  <a:ea typeface="DM Sans Bold"/>
                  <a:cs typeface="DM Sans Bold"/>
                  <a:sym typeface="DM Sans Bold"/>
                </a:rPr>
                <a:t>Voice</a:t>
              </a:r>
              <a:r>
                <a:rPr lang="en-US" b="true" sz="2199" spc="-21">
                  <a:solidFill>
                    <a:srgbClr val="FEFEFE"/>
                  </a:solidFill>
                  <a:latin typeface="DM Sans Bold"/>
                  <a:ea typeface="DM Sans Bold"/>
                  <a:cs typeface="DM Sans Bold"/>
                  <a:sym typeface="DM Sans Bold"/>
                </a:rPr>
                <a:t> Processing</a:t>
              </a:r>
            </a:p>
          </p:txBody>
        </p:sp>
      </p:grpSp>
      <p:grpSp>
        <p:nvGrpSpPr>
          <p:cNvPr name="Group 45" id="45"/>
          <p:cNvGrpSpPr/>
          <p:nvPr/>
        </p:nvGrpSpPr>
        <p:grpSpPr>
          <a:xfrm rot="0">
            <a:off x="3450739" y="3273328"/>
            <a:ext cx="6580505" cy="750696"/>
            <a:chOff x="0" y="0"/>
            <a:chExt cx="6323349" cy="721360"/>
          </a:xfrm>
        </p:grpSpPr>
        <p:sp>
          <p:nvSpPr>
            <p:cNvPr name="Freeform 46" id="46"/>
            <p:cNvSpPr/>
            <p:nvPr/>
          </p:nvSpPr>
          <p:spPr>
            <a:xfrm flipH="false" flipV="false" rot="0">
              <a:off x="0" y="0"/>
              <a:ext cx="6321711" cy="719963"/>
            </a:xfrm>
            <a:custGeom>
              <a:avLst/>
              <a:gdLst/>
              <a:ahLst/>
              <a:cxnLst/>
              <a:rect r="r" b="b" t="t" l="l"/>
              <a:pathLst>
                <a:path h="719963" w="6321711">
                  <a:moveTo>
                    <a:pt x="6321711" y="719963"/>
                  </a:moveTo>
                  <a:lnTo>
                    <a:pt x="0" y="719963"/>
                  </a:lnTo>
                  <a:lnTo>
                    <a:pt x="0" y="0"/>
                  </a:lnTo>
                  <a:lnTo>
                    <a:pt x="6321711" y="0"/>
                  </a:lnTo>
                  <a:lnTo>
                    <a:pt x="6321711" y="719963"/>
                  </a:lnTo>
                  <a:close/>
                </a:path>
              </a:pathLst>
            </a:custGeom>
            <a:solidFill>
              <a:srgbClr val="FFFFFF"/>
            </a:solidFill>
          </p:spPr>
        </p:sp>
      </p:grpSp>
      <p:grpSp>
        <p:nvGrpSpPr>
          <p:cNvPr name="Group 47" id="47"/>
          <p:cNvGrpSpPr/>
          <p:nvPr/>
        </p:nvGrpSpPr>
        <p:grpSpPr>
          <a:xfrm rot="0">
            <a:off x="3437317" y="3260112"/>
            <a:ext cx="6607336" cy="777129"/>
            <a:chOff x="0" y="0"/>
            <a:chExt cx="6349131" cy="746760"/>
          </a:xfrm>
        </p:grpSpPr>
        <p:sp>
          <p:nvSpPr>
            <p:cNvPr name="Freeform 48" id="48"/>
            <p:cNvSpPr/>
            <p:nvPr/>
          </p:nvSpPr>
          <p:spPr>
            <a:xfrm flipH="false" flipV="false" rot="0">
              <a:off x="0" y="0"/>
              <a:ext cx="6349182" cy="746760"/>
            </a:xfrm>
            <a:custGeom>
              <a:avLst/>
              <a:gdLst/>
              <a:ahLst/>
              <a:cxnLst/>
              <a:rect r="r" b="b" t="t" l="l"/>
              <a:pathLst>
                <a:path h="746760" w="6349182">
                  <a:moveTo>
                    <a:pt x="0" y="0"/>
                  </a:moveTo>
                  <a:lnTo>
                    <a:pt x="6349182" y="0"/>
                  </a:lnTo>
                  <a:lnTo>
                    <a:pt x="6349182" y="746760"/>
                  </a:lnTo>
                  <a:lnTo>
                    <a:pt x="0" y="746760"/>
                  </a:lnTo>
                  <a:close/>
                </a:path>
              </a:pathLst>
            </a:custGeom>
            <a:blipFill>
              <a:blip r:embed="rId3">
                <a:alphaModFix amt="0"/>
              </a:blip>
              <a:stretch>
                <a:fillRect l="0" t="-113126" r="1534" b="-113126"/>
              </a:stretch>
            </a:blipFill>
            <a:ln w="19048" cap="sq">
              <a:solidFill>
                <a:srgbClr val="9A2F2B"/>
              </a:solidFill>
              <a:prstDash val="solid"/>
              <a:miter/>
            </a:ln>
          </p:spPr>
        </p:sp>
        <p:sp>
          <p:nvSpPr>
            <p:cNvPr name="TextBox 49" id="49"/>
            <p:cNvSpPr txBox="true"/>
            <p:nvPr/>
          </p:nvSpPr>
          <p:spPr>
            <a:xfrm>
              <a:off x="0" y="0"/>
              <a:ext cx="6349131" cy="746760"/>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Speech-to-Text &amp; Text-to-Speech</a:t>
              </a:r>
            </a:p>
          </p:txBody>
        </p:sp>
      </p:grpSp>
      <p:grpSp>
        <p:nvGrpSpPr>
          <p:cNvPr name="Group 50" id="50"/>
          <p:cNvGrpSpPr/>
          <p:nvPr/>
        </p:nvGrpSpPr>
        <p:grpSpPr>
          <a:xfrm rot="0">
            <a:off x="10305019" y="3260112"/>
            <a:ext cx="6884735" cy="795516"/>
            <a:chOff x="0" y="0"/>
            <a:chExt cx="6615689" cy="764428"/>
          </a:xfrm>
        </p:grpSpPr>
        <p:sp>
          <p:nvSpPr>
            <p:cNvPr name="Freeform 51" id="51"/>
            <p:cNvSpPr/>
            <p:nvPr/>
          </p:nvSpPr>
          <p:spPr>
            <a:xfrm flipH="false" flipV="false" rot="0">
              <a:off x="0" y="0"/>
              <a:ext cx="6615650" cy="764428"/>
            </a:xfrm>
            <a:custGeom>
              <a:avLst/>
              <a:gdLst/>
              <a:ahLst/>
              <a:cxnLst/>
              <a:rect r="r" b="b" t="t" l="l"/>
              <a:pathLst>
                <a:path h="764428" w="6615650">
                  <a:moveTo>
                    <a:pt x="0" y="0"/>
                  </a:moveTo>
                  <a:lnTo>
                    <a:pt x="6615650" y="0"/>
                  </a:lnTo>
                  <a:lnTo>
                    <a:pt x="6615650" y="764428"/>
                  </a:lnTo>
                  <a:lnTo>
                    <a:pt x="0" y="764428"/>
                  </a:lnTo>
                  <a:close/>
                </a:path>
              </a:pathLst>
            </a:custGeom>
            <a:blipFill>
              <a:blip r:embed="rId3">
                <a:alphaModFix amt="0"/>
              </a:blip>
              <a:stretch>
                <a:fillRect l="0" t="-117201" r="1532" b="-114890"/>
              </a:stretch>
            </a:blipFill>
            <a:ln w="19048" cap="sq">
              <a:solidFill>
                <a:srgbClr val="9A2F2B"/>
              </a:solidFill>
              <a:prstDash val="solid"/>
              <a:miter/>
            </a:ln>
          </p:spPr>
        </p:sp>
        <p:sp>
          <p:nvSpPr>
            <p:cNvPr name="TextBox 52" id="52"/>
            <p:cNvSpPr txBox="true"/>
            <p:nvPr/>
          </p:nvSpPr>
          <p:spPr>
            <a:xfrm>
              <a:off x="0" y="0"/>
              <a:ext cx="6615689" cy="764428"/>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Mengubah suara pengguna menjadi teks dan menghasilkan respons suara</a:t>
              </a:r>
            </a:p>
          </p:txBody>
        </p:sp>
      </p:grpSp>
      <p:grpSp>
        <p:nvGrpSpPr>
          <p:cNvPr name="Group 53" id="53"/>
          <p:cNvGrpSpPr/>
          <p:nvPr/>
        </p:nvGrpSpPr>
        <p:grpSpPr>
          <a:xfrm rot="0">
            <a:off x="438912" y="5126808"/>
            <a:ext cx="2914435" cy="1061482"/>
            <a:chOff x="0" y="0"/>
            <a:chExt cx="2800543" cy="1020000"/>
          </a:xfrm>
        </p:grpSpPr>
        <p:sp>
          <p:nvSpPr>
            <p:cNvPr name="Freeform 54" id="54"/>
            <p:cNvSpPr/>
            <p:nvPr/>
          </p:nvSpPr>
          <p:spPr>
            <a:xfrm flipH="false" flipV="false" rot="0">
              <a:off x="0" y="0"/>
              <a:ext cx="2800492" cy="1019937"/>
            </a:xfrm>
            <a:custGeom>
              <a:avLst/>
              <a:gdLst/>
              <a:ahLst/>
              <a:cxnLst/>
              <a:rect r="r" b="b" t="t" l="l"/>
              <a:pathLst>
                <a:path h="1019937" w="2800492">
                  <a:moveTo>
                    <a:pt x="0" y="0"/>
                  </a:moveTo>
                  <a:lnTo>
                    <a:pt x="2800492" y="0"/>
                  </a:lnTo>
                  <a:lnTo>
                    <a:pt x="2800492" y="1019937"/>
                  </a:lnTo>
                  <a:lnTo>
                    <a:pt x="0" y="1019937"/>
                  </a:lnTo>
                  <a:lnTo>
                    <a:pt x="0" y="0"/>
                  </a:lnTo>
                  <a:close/>
                </a:path>
              </a:pathLst>
            </a:custGeom>
            <a:blipFill>
              <a:blip r:embed="rId6"/>
              <a:stretch>
                <a:fillRect l="0" t="-954" r="-1" b="-960"/>
              </a:stretch>
            </a:blipFill>
          </p:spPr>
        </p:sp>
      </p:grpSp>
      <p:grpSp>
        <p:nvGrpSpPr>
          <p:cNvPr name="Group 55" id="55"/>
          <p:cNvGrpSpPr/>
          <p:nvPr/>
        </p:nvGrpSpPr>
        <p:grpSpPr>
          <a:xfrm rot="0">
            <a:off x="599979" y="5232539"/>
            <a:ext cx="2593186" cy="831728"/>
            <a:chOff x="0" y="0"/>
            <a:chExt cx="2491848" cy="799225"/>
          </a:xfrm>
        </p:grpSpPr>
        <p:sp>
          <p:nvSpPr>
            <p:cNvPr name="Freeform 56" id="56"/>
            <p:cNvSpPr/>
            <p:nvPr/>
          </p:nvSpPr>
          <p:spPr>
            <a:xfrm flipH="false" flipV="false" rot="0">
              <a:off x="0" y="0"/>
              <a:ext cx="2491848" cy="799225"/>
            </a:xfrm>
            <a:custGeom>
              <a:avLst/>
              <a:gdLst/>
              <a:ahLst/>
              <a:cxnLst/>
              <a:rect r="r" b="b" t="t" l="l"/>
              <a:pathLst>
                <a:path h="799225" w="2491848">
                  <a:moveTo>
                    <a:pt x="0" y="0"/>
                  </a:moveTo>
                  <a:lnTo>
                    <a:pt x="2491848" y="0"/>
                  </a:lnTo>
                  <a:lnTo>
                    <a:pt x="2491848" y="799225"/>
                  </a:lnTo>
                  <a:lnTo>
                    <a:pt x="0" y="799225"/>
                  </a:lnTo>
                  <a:close/>
                </a:path>
              </a:pathLst>
            </a:custGeom>
            <a:solidFill>
              <a:srgbClr val="AA4954"/>
            </a:solidFill>
          </p:spPr>
        </p:sp>
        <p:sp>
          <p:nvSpPr>
            <p:cNvPr name="TextBox 57" id="57"/>
            <p:cNvSpPr txBox="true"/>
            <p:nvPr/>
          </p:nvSpPr>
          <p:spPr>
            <a:xfrm>
              <a:off x="0" y="-9525"/>
              <a:ext cx="2491848" cy="808750"/>
            </a:xfrm>
            <a:prstGeom prst="rect">
              <a:avLst/>
            </a:prstGeom>
          </p:spPr>
          <p:txBody>
            <a:bodyPr anchor="ctr" rtlCol="false" tIns="50800" lIns="50800" bIns="50800" rIns="50800"/>
            <a:lstStyle/>
            <a:p>
              <a:pPr algn="ctr">
                <a:lnSpc>
                  <a:spcPts val="2639"/>
                </a:lnSpc>
              </a:pPr>
              <a:r>
                <a:rPr lang="en-US" b="true" sz="2199" spc="-21">
                  <a:solidFill>
                    <a:srgbClr val="FEFEFE"/>
                  </a:solidFill>
                  <a:latin typeface="DM Sans Bold"/>
                  <a:ea typeface="DM Sans Bold"/>
                  <a:cs typeface="DM Sans Bold"/>
                  <a:sym typeface="DM Sans Bold"/>
                </a:rPr>
                <a:t>B</a:t>
              </a:r>
              <a:r>
                <a:rPr lang="en-US" b="true" sz="2199" spc="-21">
                  <a:solidFill>
                    <a:srgbClr val="FEFEFE"/>
                  </a:solidFill>
                  <a:latin typeface="DM Sans Bold"/>
                  <a:ea typeface="DM Sans Bold"/>
                  <a:cs typeface="DM Sans Bold"/>
                  <a:sym typeface="DM Sans Bold"/>
                </a:rPr>
                <a:t>ackend</a:t>
              </a:r>
            </a:p>
          </p:txBody>
        </p:sp>
      </p:grpSp>
      <p:grpSp>
        <p:nvGrpSpPr>
          <p:cNvPr name="Group 58" id="58"/>
          <p:cNvGrpSpPr/>
          <p:nvPr/>
        </p:nvGrpSpPr>
        <p:grpSpPr>
          <a:xfrm rot="0">
            <a:off x="3450739" y="5232539"/>
            <a:ext cx="6580505" cy="750696"/>
            <a:chOff x="0" y="0"/>
            <a:chExt cx="6323349" cy="721360"/>
          </a:xfrm>
        </p:grpSpPr>
        <p:sp>
          <p:nvSpPr>
            <p:cNvPr name="Freeform 59" id="59"/>
            <p:cNvSpPr/>
            <p:nvPr/>
          </p:nvSpPr>
          <p:spPr>
            <a:xfrm flipH="false" flipV="false" rot="0">
              <a:off x="0" y="0"/>
              <a:ext cx="6321711" cy="719963"/>
            </a:xfrm>
            <a:custGeom>
              <a:avLst/>
              <a:gdLst/>
              <a:ahLst/>
              <a:cxnLst/>
              <a:rect r="r" b="b" t="t" l="l"/>
              <a:pathLst>
                <a:path h="719963" w="6321711">
                  <a:moveTo>
                    <a:pt x="6321711" y="719963"/>
                  </a:moveTo>
                  <a:lnTo>
                    <a:pt x="0" y="719963"/>
                  </a:lnTo>
                  <a:lnTo>
                    <a:pt x="0" y="0"/>
                  </a:lnTo>
                  <a:lnTo>
                    <a:pt x="6321711" y="0"/>
                  </a:lnTo>
                  <a:lnTo>
                    <a:pt x="6321711" y="719963"/>
                  </a:lnTo>
                  <a:close/>
                </a:path>
              </a:pathLst>
            </a:custGeom>
            <a:solidFill>
              <a:srgbClr val="FFFFFF"/>
            </a:solidFill>
          </p:spPr>
        </p:sp>
      </p:grpSp>
      <p:grpSp>
        <p:nvGrpSpPr>
          <p:cNvPr name="Group 60" id="60"/>
          <p:cNvGrpSpPr/>
          <p:nvPr/>
        </p:nvGrpSpPr>
        <p:grpSpPr>
          <a:xfrm rot="0">
            <a:off x="3437317" y="5219323"/>
            <a:ext cx="6607336" cy="795516"/>
            <a:chOff x="0" y="0"/>
            <a:chExt cx="6349131" cy="764428"/>
          </a:xfrm>
        </p:grpSpPr>
        <p:sp>
          <p:nvSpPr>
            <p:cNvPr name="Freeform 61" id="61"/>
            <p:cNvSpPr/>
            <p:nvPr/>
          </p:nvSpPr>
          <p:spPr>
            <a:xfrm flipH="false" flipV="false" rot="0">
              <a:off x="0" y="0"/>
              <a:ext cx="6349182" cy="764428"/>
            </a:xfrm>
            <a:custGeom>
              <a:avLst/>
              <a:gdLst/>
              <a:ahLst/>
              <a:cxnLst/>
              <a:rect r="r" b="b" t="t" l="l"/>
              <a:pathLst>
                <a:path h="764428" w="6349182">
                  <a:moveTo>
                    <a:pt x="0" y="0"/>
                  </a:moveTo>
                  <a:lnTo>
                    <a:pt x="6349182" y="0"/>
                  </a:lnTo>
                  <a:lnTo>
                    <a:pt x="6349182" y="764428"/>
                  </a:lnTo>
                  <a:lnTo>
                    <a:pt x="0" y="764428"/>
                  </a:lnTo>
                  <a:close/>
                </a:path>
              </a:pathLst>
            </a:custGeom>
            <a:blipFill>
              <a:blip r:embed="rId3">
                <a:alphaModFix amt="0"/>
              </a:blip>
              <a:stretch>
                <a:fillRect l="0" t="-110511" r="1534" b="-108200"/>
              </a:stretch>
            </a:blipFill>
            <a:ln w="19048" cap="sq">
              <a:solidFill>
                <a:srgbClr val="9A2F2B"/>
              </a:solidFill>
              <a:prstDash val="solid"/>
              <a:miter/>
            </a:ln>
          </p:spPr>
        </p:sp>
        <p:sp>
          <p:nvSpPr>
            <p:cNvPr name="TextBox 62" id="62"/>
            <p:cNvSpPr txBox="true"/>
            <p:nvPr/>
          </p:nvSpPr>
          <p:spPr>
            <a:xfrm>
              <a:off x="0" y="0"/>
              <a:ext cx="6349131" cy="764428"/>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FastAPI</a:t>
              </a:r>
            </a:p>
          </p:txBody>
        </p:sp>
      </p:grpSp>
      <p:grpSp>
        <p:nvGrpSpPr>
          <p:cNvPr name="Group 63" id="63"/>
          <p:cNvGrpSpPr/>
          <p:nvPr/>
        </p:nvGrpSpPr>
        <p:grpSpPr>
          <a:xfrm rot="0">
            <a:off x="10305019" y="5219323"/>
            <a:ext cx="6884735" cy="795516"/>
            <a:chOff x="0" y="0"/>
            <a:chExt cx="6615689" cy="764428"/>
          </a:xfrm>
        </p:grpSpPr>
        <p:sp>
          <p:nvSpPr>
            <p:cNvPr name="Freeform 64" id="64"/>
            <p:cNvSpPr/>
            <p:nvPr/>
          </p:nvSpPr>
          <p:spPr>
            <a:xfrm flipH="false" flipV="false" rot="0">
              <a:off x="0" y="0"/>
              <a:ext cx="6615650" cy="764428"/>
            </a:xfrm>
            <a:custGeom>
              <a:avLst/>
              <a:gdLst/>
              <a:ahLst/>
              <a:cxnLst/>
              <a:rect r="r" b="b" t="t" l="l"/>
              <a:pathLst>
                <a:path h="764428" w="6615650">
                  <a:moveTo>
                    <a:pt x="0" y="0"/>
                  </a:moveTo>
                  <a:lnTo>
                    <a:pt x="6615650" y="0"/>
                  </a:lnTo>
                  <a:lnTo>
                    <a:pt x="6615650" y="764428"/>
                  </a:lnTo>
                  <a:lnTo>
                    <a:pt x="0" y="764428"/>
                  </a:lnTo>
                  <a:close/>
                </a:path>
              </a:pathLst>
            </a:custGeom>
            <a:solidFill>
              <a:srgbClr val="AA4954">
                <a:alpha val="0"/>
              </a:srgbClr>
            </a:solidFill>
            <a:ln w="19048" cap="sq">
              <a:solidFill>
                <a:srgbClr val="9A2F2B"/>
              </a:solidFill>
              <a:prstDash val="solid"/>
              <a:miter/>
            </a:ln>
          </p:spPr>
        </p:sp>
        <p:sp>
          <p:nvSpPr>
            <p:cNvPr name="TextBox 65" id="65"/>
            <p:cNvSpPr txBox="true"/>
            <p:nvPr/>
          </p:nvSpPr>
          <p:spPr>
            <a:xfrm>
              <a:off x="0" y="0"/>
              <a:ext cx="6615689" cy="764428"/>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Mengelola proses sistem dan komunikasi antar komponen</a:t>
              </a:r>
            </a:p>
          </p:txBody>
        </p:sp>
      </p:grpSp>
      <p:grpSp>
        <p:nvGrpSpPr>
          <p:cNvPr name="Group 66" id="66"/>
          <p:cNvGrpSpPr/>
          <p:nvPr/>
        </p:nvGrpSpPr>
        <p:grpSpPr>
          <a:xfrm rot="0">
            <a:off x="438912" y="6242173"/>
            <a:ext cx="2914435" cy="1061482"/>
            <a:chOff x="0" y="0"/>
            <a:chExt cx="2800543" cy="1020000"/>
          </a:xfrm>
        </p:grpSpPr>
        <p:sp>
          <p:nvSpPr>
            <p:cNvPr name="Freeform 67" id="67"/>
            <p:cNvSpPr/>
            <p:nvPr/>
          </p:nvSpPr>
          <p:spPr>
            <a:xfrm flipH="false" flipV="false" rot="0">
              <a:off x="0" y="0"/>
              <a:ext cx="2800492" cy="1019937"/>
            </a:xfrm>
            <a:custGeom>
              <a:avLst/>
              <a:gdLst/>
              <a:ahLst/>
              <a:cxnLst/>
              <a:rect r="r" b="b" t="t" l="l"/>
              <a:pathLst>
                <a:path h="1019937" w="2800492">
                  <a:moveTo>
                    <a:pt x="0" y="0"/>
                  </a:moveTo>
                  <a:lnTo>
                    <a:pt x="2800492" y="0"/>
                  </a:lnTo>
                  <a:lnTo>
                    <a:pt x="2800492" y="1019937"/>
                  </a:lnTo>
                  <a:lnTo>
                    <a:pt x="0" y="1019937"/>
                  </a:lnTo>
                  <a:lnTo>
                    <a:pt x="0" y="0"/>
                  </a:lnTo>
                  <a:close/>
                </a:path>
              </a:pathLst>
            </a:custGeom>
            <a:blipFill>
              <a:blip r:embed="rId6"/>
              <a:stretch>
                <a:fillRect l="0" t="-954" r="-1" b="-960"/>
              </a:stretch>
            </a:blipFill>
          </p:spPr>
        </p:sp>
      </p:grpSp>
      <p:grpSp>
        <p:nvGrpSpPr>
          <p:cNvPr name="Group 68" id="68"/>
          <p:cNvGrpSpPr/>
          <p:nvPr/>
        </p:nvGrpSpPr>
        <p:grpSpPr>
          <a:xfrm rot="0">
            <a:off x="599979" y="6264924"/>
            <a:ext cx="2593186" cy="831728"/>
            <a:chOff x="0" y="0"/>
            <a:chExt cx="2491848" cy="799225"/>
          </a:xfrm>
        </p:grpSpPr>
        <p:sp>
          <p:nvSpPr>
            <p:cNvPr name="Freeform 69" id="69"/>
            <p:cNvSpPr/>
            <p:nvPr/>
          </p:nvSpPr>
          <p:spPr>
            <a:xfrm flipH="false" flipV="false" rot="0">
              <a:off x="0" y="0"/>
              <a:ext cx="2491848" cy="799225"/>
            </a:xfrm>
            <a:custGeom>
              <a:avLst/>
              <a:gdLst/>
              <a:ahLst/>
              <a:cxnLst/>
              <a:rect r="r" b="b" t="t" l="l"/>
              <a:pathLst>
                <a:path h="799225" w="2491848">
                  <a:moveTo>
                    <a:pt x="0" y="0"/>
                  </a:moveTo>
                  <a:lnTo>
                    <a:pt x="2491848" y="0"/>
                  </a:lnTo>
                  <a:lnTo>
                    <a:pt x="2491848" y="799225"/>
                  </a:lnTo>
                  <a:lnTo>
                    <a:pt x="0" y="799225"/>
                  </a:lnTo>
                  <a:close/>
                </a:path>
              </a:pathLst>
            </a:custGeom>
            <a:solidFill>
              <a:srgbClr val="AA4954"/>
            </a:solidFill>
          </p:spPr>
        </p:sp>
        <p:sp>
          <p:nvSpPr>
            <p:cNvPr name="TextBox 70" id="70"/>
            <p:cNvSpPr txBox="true"/>
            <p:nvPr/>
          </p:nvSpPr>
          <p:spPr>
            <a:xfrm>
              <a:off x="0" y="-9525"/>
              <a:ext cx="2491848" cy="808750"/>
            </a:xfrm>
            <a:prstGeom prst="rect">
              <a:avLst/>
            </a:prstGeom>
          </p:spPr>
          <p:txBody>
            <a:bodyPr anchor="ctr" rtlCol="false" tIns="50800" lIns="50800" bIns="50800" rIns="50800"/>
            <a:lstStyle/>
            <a:p>
              <a:pPr algn="ctr">
                <a:lnSpc>
                  <a:spcPts val="2639"/>
                </a:lnSpc>
              </a:pPr>
              <a:r>
                <a:rPr lang="en-US" b="true" sz="2199" spc="-21">
                  <a:solidFill>
                    <a:srgbClr val="FEFEFE"/>
                  </a:solidFill>
                  <a:latin typeface="DM Sans Bold"/>
                  <a:ea typeface="DM Sans Bold"/>
                  <a:cs typeface="DM Sans Bold"/>
                  <a:sym typeface="DM Sans Bold"/>
                </a:rPr>
                <a:t>D</a:t>
              </a:r>
              <a:r>
                <a:rPr lang="en-US" b="true" sz="2199" spc="-21">
                  <a:solidFill>
                    <a:srgbClr val="FEFEFE"/>
                  </a:solidFill>
                  <a:latin typeface="DM Sans Bold"/>
                  <a:ea typeface="DM Sans Bold"/>
                  <a:cs typeface="DM Sans Bold"/>
                  <a:sym typeface="DM Sans Bold"/>
                </a:rPr>
                <a:t>atabase</a:t>
              </a:r>
            </a:p>
          </p:txBody>
        </p:sp>
      </p:grpSp>
      <p:grpSp>
        <p:nvGrpSpPr>
          <p:cNvPr name="Group 71" id="71"/>
          <p:cNvGrpSpPr/>
          <p:nvPr/>
        </p:nvGrpSpPr>
        <p:grpSpPr>
          <a:xfrm rot="0">
            <a:off x="3450739" y="6347905"/>
            <a:ext cx="6580505" cy="750696"/>
            <a:chOff x="0" y="0"/>
            <a:chExt cx="6323349" cy="721360"/>
          </a:xfrm>
        </p:grpSpPr>
        <p:sp>
          <p:nvSpPr>
            <p:cNvPr name="Freeform 72" id="72"/>
            <p:cNvSpPr/>
            <p:nvPr/>
          </p:nvSpPr>
          <p:spPr>
            <a:xfrm flipH="false" flipV="false" rot="0">
              <a:off x="0" y="0"/>
              <a:ext cx="6321711" cy="719963"/>
            </a:xfrm>
            <a:custGeom>
              <a:avLst/>
              <a:gdLst/>
              <a:ahLst/>
              <a:cxnLst/>
              <a:rect r="r" b="b" t="t" l="l"/>
              <a:pathLst>
                <a:path h="719963" w="6321711">
                  <a:moveTo>
                    <a:pt x="6321711" y="719963"/>
                  </a:moveTo>
                  <a:lnTo>
                    <a:pt x="0" y="719963"/>
                  </a:lnTo>
                  <a:lnTo>
                    <a:pt x="0" y="0"/>
                  </a:lnTo>
                  <a:lnTo>
                    <a:pt x="6321711" y="0"/>
                  </a:lnTo>
                  <a:lnTo>
                    <a:pt x="6321711" y="719963"/>
                  </a:lnTo>
                  <a:close/>
                </a:path>
              </a:pathLst>
            </a:custGeom>
            <a:solidFill>
              <a:srgbClr val="FFFFFF"/>
            </a:solidFill>
          </p:spPr>
        </p:sp>
      </p:grpSp>
      <p:grpSp>
        <p:nvGrpSpPr>
          <p:cNvPr name="Group 73" id="73"/>
          <p:cNvGrpSpPr/>
          <p:nvPr/>
        </p:nvGrpSpPr>
        <p:grpSpPr>
          <a:xfrm rot="0">
            <a:off x="3437317" y="6334688"/>
            <a:ext cx="6607336" cy="777129"/>
            <a:chOff x="0" y="0"/>
            <a:chExt cx="6349131" cy="746760"/>
          </a:xfrm>
        </p:grpSpPr>
        <p:sp>
          <p:nvSpPr>
            <p:cNvPr name="Freeform 74" id="74"/>
            <p:cNvSpPr/>
            <p:nvPr/>
          </p:nvSpPr>
          <p:spPr>
            <a:xfrm flipH="false" flipV="false" rot="0">
              <a:off x="0" y="0"/>
              <a:ext cx="6349182" cy="746760"/>
            </a:xfrm>
            <a:custGeom>
              <a:avLst/>
              <a:gdLst/>
              <a:ahLst/>
              <a:cxnLst/>
              <a:rect r="r" b="b" t="t" l="l"/>
              <a:pathLst>
                <a:path h="746760" w="6349182">
                  <a:moveTo>
                    <a:pt x="0" y="0"/>
                  </a:moveTo>
                  <a:lnTo>
                    <a:pt x="6349182" y="0"/>
                  </a:lnTo>
                  <a:lnTo>
                    <a:pt x="6349182" y="746760"/>
                  </a:lnTo>
                  <a:lnTo>
                    <a:pt x="0" y="746760"/>
                  </a:lnTo>
                  <a:close/>
                </a:path>
              </a:pathLst>
            </a:custGeom>
            <a:blipFill>
              <a:blip r:embed="rId3">
                <a:alphaModFix amt="0"/>
              </a:blip>
              <a:stretch>
                <a:fillRect l="0" t="-113126" r="1534" b="-113126"/>
              </a:stretch>
            </a:blipFill>
            <a:ln w="19048" cap="sq">
              <a:solidFill>
                <a:srgbClr val="9A2F2B"/>
              </a:solidFill>
              <a:prstDash val="solid"/>
              <a:miter/>
            </a:ln>
          </p:spPr>
        </p:sp>
        <p:sp>
          <p:nvSpPr>
            <p:cNvPr name="TextBox 75" id="75"/>
            <p:cNvSpPr txBox="true"/>
            <p:nvPr/>
          </p:nvSpPr>
          <p:spPr>
            <a:xfrm>
              <a:off x="0" y="0"/>
              <a:ext cx="6349131" cy="746760"/>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PostgreSQL + Vector Database</a:t>
              </a:r>
            </a:p>
          </p:txBody>
        </p:sp>
      </p:grpSp>
      <p:grpSp>
        <p:nvGrpSpPr>
          <p:cNvPr name="Group 76" id="76"/>
          <p:cNvGrpSpPr/>
          <p:nvPr/>
        </p:nvGrpSpPr>
        <p:grpSpPr>
          <a:xfrm rot="0">
            <a:off x="10305019" y="6334688"/>
            <a:ext cx="6884735" cy="777129"/>
            <a:chOff x="0" y="0"/>
            <a:chExt cx="6615689" cy="746760"/>
          </a:xfrm>
        </p:grpSpPr>
        <p:sp>
          <p:nvSpPr>
            <p:cNvPr name="Freeform 77" id="77"/>
            <p:cNvSpPr/>
            <p:nvPr/>
          </p:nvSpPr>
          <p:spPr>
            <a:xfrm flipH="false" flipV="false" rot="0">
              <a:off x="0" y="0"/>
              <a:ext cx="6615650" cy="746760"/>
            </a:xfrm>
            <a:custGeom>
              <a:avLst/>
              <a:gdLst/>
              <a:ahLst/>
              <a:cxnLst/>
              <a:rect r="r" b="b" t="t" l="l"/>
              <a:pathLst>
                <a:path h="746760" w="6615650">
                  <a:moveTo>
                    <a:pt x="0" y="0"/>
                  </a:moveTo>
                  <a:lnTo>
                    <a:pt x="6615650" y="0"/>
                  </a:lnTo>
                  <a:lnTo>
                    <a:pt x="6615650" y="746760"/>
                  </a:lnTo>
                  <a:lnTo>
                    <a:pt x="0" y="746760"/>
                  </a:lnTo>
                  <a:close/>
                </a:path>
              </a:pathLst>
            </a:custGeom>
            <a:blipFill>
              <a:blip r:embed="rId3">
                <a:alphaModFix amt="0"/>
              </a:blip>
              <a:stretch>
                <a:fillRect l="0" t="-119974" r="1532" b="-119974"/>
              </a:stretch>
            </a:blipFill>
            <a:ln w="19048" cap="sq">
              <a:solidFill>
                <a:srgbClr val="9A2F2B"/>
              </a:solidFill>
              <a:prstDash val="solid"/>
              <a:miter/>
            </a:ln>
          </p:spPr>
        </p:sp>
        <p:sp>
          <p:nvSpPr>
            <p:cNvPr name="TextBox 78" id="78"/>
            <p:cNvSpPr txBox="true"/>
            <p:nvPr/>
          </p:nvSpPr>
          <p:spPr>
            <a:xfrm>
              <a:off x="0" y="0"/>
              <a:ext cx="6615689" cy="746760"/>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Menyimpan data percakapan dan informasi referensi</a:t>
              </a:r>
            </a:p>
          </p:txBody>
        </p:sp>
      </p:grpSp>
      <p:grpSp>
        <p:nvGrpSpPr>
          <p:cNvPr name="Group 79" id="79"/>
          <p:cNvGrpSpPr/>
          <p:nvPr/>
        </p:nvGrpSpPr>
        <p:grpSpPr>
          <a:xfrm rot="0">
            <a:off x="438912" y="4126161"/>
            <a:ext cx="2914435" cy="1061482"/>
            <a:chOff x="0" y="0"/>
            <a:chExt cx="2800543" cy="1020000"/>
          </a:xfrm>
        </p:grpSpPr>
        <p:sp>
          <p:nvSpPr>
            <p:cNvPr name="Freeform 80" id="80"/>
            <p:cNvSpPr/>
            <p:nvPr/>
          </p:nvSpPr>
          <p:spPr>
            <a:xfrm flipH="false" flipV="false" rot="0">
              <a:off x="0" y="0"/>
              <a:ext cx="2800492" cy="1019937"/>
            </a:xfrm>
            <a:custGeom>
              <a:avLst/>
              <a:gdLst/>
              <a:ahLst/>
              <a:cxnLst/>
              <a:rect r="r" b="b" t="t" l="l"/>
              <a:pathLst>
                <a:path h="1019937" w="2800492">
                  <a:moveTo>
                    <a:pt x="0" y="0"/>
                  </a:moveTo>
                  <a:lnTo>
                    <a:pt x="2800492" y="0"/>
                  </a:lnTo>
                  <a:lnTo>
                    <a:pt x="2800492" y="1019937"/>
                  </a:lnTo>
                  <a:lnTo>
                    <a:pt x="0" y="1019937"/>
                  </a:lnTo>
                  <a:lnTo>
                    <a:pt x="0" y="0"/>
                  </a:lnTo>
                  <a:close/>
                </a:path>
              </a:pathLst>
            </a:custGeom>
            <a:blipFill>
              <a:blip r:embed="rId6"/>
              <a:stretch>
                <a:fillRect l="0" t="-954" r="-1" b="-960"/>
              </a:stretch>
            </a:blipFill>
          </p:spPr>
        </p:sp>
      </p:grpSp>
      <p:grpSp>
        <p:nvGrpSpPr>
          <p:cNvPr name="Group 81" id="81"/>
          <p:cNvGrpSpPr/>
          <p:nvPr/>
        </p:nvGrpSpPr>
        <p:grpSpPr>
          <a:xfrm rot="0">
            <a:off x="599979" y="4231893"/>
            <a:ext cx="2593186" cy="831728"/>
            <a:chOff x="0" y="0"/>
            <a:chExt cx="2491848" cy="799225"/>
          </a:xfrm>
        </p:grpSpPr>
        <p:sp>
          <p:nvSpPr>
            <p:cNvPr name="Freeform 82" id="82"/>
            <p:cNvSpPr/>
            <p:nvPr/>
          </p:nvSpPr>
          <p:spPr>
            <a:xfrm flipH="false" flipV="false" rot="0">
              <a:off x="0" y="0"/>
              <a:ext cx="2491848" cy="799225"/>
            </a:xfrm>
            <a:custGeom>
              <a:avLst/>
              <a:gdLst/>
              <a:ahLst/>
              <a:cxnLst/>
              <a:rect r="r" b="b" t="t" l="l"/>
              <a:pathLst>
                <a:path h="799225" w="2491848">
                  <a:moveTo>
                    <a:pt x="0" y="0"/>
                  </a:moveTo>
                  <a:lnTo>
                    <a:pt x="2491848" y="0"/>
                  </a:lnTo>
                  <a:lnTo>
                    <a:pt x="2491848" y="799225"/>
                  </a:lnTo>
                  <a:lnTo>
                    <a:pt x="0" y="799225"/>
                  </a:lnTo>
                  <a:close/>
                </a:path>
              </a:pathLst>
            </a:custGeom>
            <a:solidFill>
              <a:srgbClr val="AA4954"/>
            </a:solidFill>
          </p:spPr>
        </p:sp>
        <p:sp>
          <p:nvSpPr>
            <p:cNvPr name="TextBox 83" id="83"/>
            <p:cNvSpPr txBox="true"/>
            <p:nvPr/>
          </p:nvSpPr>
          <p:spPr>
            <a:xfrm>
              <a:off x="0" y="-9525"/>
              <a:ext cx="2491848" cy="808750"/>
            </a:xfrm>
            <a:prstGeom prst="rect">
              <a:avLst/>
            </a:prstGeom>
          </p:spPr>
          <p:txBody>
            <a:bodyPr anchor="ctr" rtlCol="false" tIns="50800" lIns="50800" bIns="50800" rIns="50800"/>
            <a:lstStyle/>
            <a:p>
              <a:pPr algn="ctr">
                <a:lnSpc>
                  <a:spcPts val="2639"/>
                </a:lnSpc>
              </a:pPr>
              <a:r>
                <a:rPr lang="en-US" b="true" sz="2199" spc="-21">
                  <a:solidFill>
                    <a:srgbClr val="FEFEFE"/>
                  </a:solidFill>
                  <a:latin typeface="DM Sans Bold"/>
                  <a:ea typeface="DM Sans Bold"/>
                  <a:cs typeface="DM Sans Bold"/>
                  <a:sym typeface="DM Sans Bold"/>
                </a:rPr>
                <a:t>AI</a:t>
              </a:r>
              <a:r>
                <a:rPr lang="en-US" b="true" sz="2199" spc="-21">
                  <a:solidFill>
                    <a:srgbClr val="FEFEFE"/>
                  </a:solidFill>
                  <a:latin typeface="DM Sans Bold"/>
                  <a:ea typeface="DM Sans Bold"/>
                  <a:cs typeface="DM Sans Bold"/>
                  <a:sym typeface="DM Sans Bold"/>
                </a:rPr>
                <a:t> Engine</a:t>
              </a:r>
            </a:p>
          </p:txBody>
        </p:sp>
      </p:grpSp>
      <p:grpSp>
        <p:nvGrpSpPr>
          <p:cNvPr name="Group 84" id="84"/>
          <p:cNvGrpSpPr/>
          <p:nvPr/>
        </p:nvGrpSpPr>
        <p:grpSpPr>
          <a:xfrm rot="0">
            <a:off x="3437290" y="4220012"/>
            <a:ext cx="6607336" cy="771842"/>
            <a:chOff x="0" y="0"/>
            <a:chExt cx="6349131" cy="741680"/>
          </a:xfrm>
        </p:grpSpPr>
        <p:sp>
          <p:nvSpPr>
            <p:cNvPr name="Freeform 85" id="85"/>
            <p:cNvSpPr/>
            <p:nvPr/>
          </p:nvSpPr>
          <p:spPr>
            <a:xfrm flipH="false" flipV="false" rot="0">
              <a:off x="0" y="0"/>
              <a:ext cx="6349182" cy="741680"/>
            </a:xfrm>
            <a:custGeom>
              <a:avLst/>
              <a:gdLst/>
              <a:ahLst/>
              <a:cxnLst/>
              <a:rect r="r" b="b" t="t" l="l"/>
              <a:pathLst>
                <a:path h="741680" w="6349182">
                  <a:moveTo>
                    <a:pt x="0" y="0"/>
                  </a:moveTo>
                  <a:lnTo>
                    <a:pt x="6349182" y="0"/>
                  </a:lnTo>
                  <a:lnTo>
                    <a:pt x="6349182" y="741680"/>
                  </a:lnTo>
                  <a:lnTo>
                    <a:pt x="0" y="741680"/>
                  </a:lnTo>
                  <a:close/>
                </a:path>
              </a:pathLst>
            </a:custGeom>
            <a:solidFill>
              <a:srgbClr val="FFFFFF"/>
            </a:solidFill>
            <a:ln w="19048" cap="sq">
              <a:solidFill>
                <a:srgbClr val="9A2F2B"/>
              </a:solidFill>
              <a:prstDash val="solid"/>
              <a:miter/>
            </a:ln>
          </p:spPr>
        </p:sp>
        <p:sp>
          <p:nvSpPr>
            <p:cNvPr name="TextBox 86" id="86"/>
            <p:cNvSpPr txBox="true"/>
            <p:nvPr/>
          </p:nvSpPr>
          <p:spPr>
            <a:xfrm>
              <a:off x="0" y="0"/>
              <a:ext cx="6349131" cy="741680"/>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LLM + RAG</a:t>
              </a:r>
            </a:p>
          </p:txBody>
        </p:sp>
      </p:grpSp>
      <p:grpSp>
        <p:nvGrpSpPr>
          <p:cNvPr name="Group 87" id="87"/>
          <p:cNvGrpSpPr/>
          <p:nvPr/>
        </p:nvGrpSpPr>
        <p:grpSpPr>
          <a:xfrm rot="0">
            <a:off x="10304992" y="4219351"/>
            <a:ext cx="6884735" cy="795516"/>
            <a:chOff x="0" y="0"/>
            <a:chExt cx="6615689" cy="764428"/>
          </a:xfrm>
        </p:grpSpPr>
        <p:sp>
          <p:nvSpPr>
            <p:cNvPr name="Freeform 88" id="88"/>
            <p:cNvSpPr/>
            <p:nvPr/>
          </p:nvSpPr>
          <p:spPr>
            <a:xfrm flipH="false" flipV="false" rot="0">
              <a:off x="0" y="0"/>
              <a:ext cx="6615650" cy="764428"/>
            </a:xfrm>
            <a:custGeom>
              <a:avLst/>
              <a:gdLst/>
              <a:ahLst/>
              <a:cxnLst/>
              <a:rect r="r" b="b" t="t" l="l"/>
              <a:pathLst>
                <a:path h="764428" w="6615650">
                  <a:moveTo>
                    <a:pt x="0" y="0"/>
                  </a:moveTo>
                  <a:lnTo>
                    <a:pt x="6615650" y="0"/>
                  </a:lnTo>
                  <a:lnTo>
                    <a:pt x="6615650" y="764428"/>
                  </a:lnTo>
                  <a:lnTo>
                    <a:pt x="0" y="764428"/>
                  </a:lnTo>
                  <a:close/>
                </a:path>
              </a:pathLst>
            </a:custGeom>
            <a:solidFill>
              <a:srgbClr val="FFFFFF"/>
            </a:solidFill>
            <a:ln w="19048" cap="sq">
              <a:solidFill>
                <a:srgbClr val="9A2F2B"/>
              </a:solidFill>
              <a:prstDash val="solid"/>
              <a:miter/>
            </a:ln>
          </p:spPr>
        </p:sp>
        <p:sp>
          <p:nvSpPr>
            <p:cNvPr name="TextBox 89" id="89"/>
            <p:cNvSpPr txBox="true"/>
            <p:nvPr/>
          </p:nvSpPr>
          <p:spPr>
            <a:xfrm>
              <a:off x="0" y="0"/>
              <a:ext cx="6615689" cy="764428"/>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Memahami pertanyaan dan memberikan jawaban berdasarkan knowledge base</a:t>
              </a:r>
            </a:p>
          </p:txBody>
        </p:sp>
      </p:grpSp>
      <p:grpSp>
        <p:nvGrpSpPr>
          <p:cNvPr name="Group 90" id="90"/>
          <p:cNvGrpSpPr/>
          <p:nvPr/>
        </p:nvGrpSpPr>
        <p:grpSpPr>
          <a:xfrm rot="0">
            <a:off x="438912" y="7173287"/>
            <a:ext cx="2914435" cy="1061482"/>
            <a:chOff x="0" y="0"/>
            <a:chExt cx="2800543" cy="1020000"/>
          </a:xfrm>
        </p:grpSpPr>
        <p:sp>
          <p:nvSpPr>
            <p:cNvPr name="Freeform 91" id="91"/>
            <p:cNvSpPr/>
            <p:nvPr/>
          </p:nvSpPr>
          <p:spPr>
            <a:xfrm flipH="false" flipV="false" rot="0">
              <a:off x="0" y="0"/>
              <a:ext cx="2800492" cy="1019937"/>
            </a:xfrm>
            <a:custGeom>
              <a:avLst/>
              <a:gdLst/>
              <a:ahLst/>
              <a:cxnLst/>
              <a:rect r="r" b="b" t="t" l="l"/>
              <a:pathLst>
                <a:path h="1019937" w="2800492">
                  <a:moveTo>
                    <a:pt x="0" y="0"/>
                  </a:moveTo>
                  <a:lnTo>
                    <a:pt x="2800492" y="0"/>
                  </a:lnTo>
                  <a:lnTo>
                    <a:pt x="2800492" y="1019937"/>
                  </a:lnTo>
                  <a:lnTo>
                    <a:pt x="0" y="1019937"/>
                  </a:lnTo>
                  <a:lnTo>
                    <a:pt x="0" y="0"/>
                  </a:lnTo>
                  <a:close/>
                </a:path>
              </a:pathLst>
            </a:custGeom>
            <a:blipFill>
              <a:blip r:embed="rId6"/>
              <a:stretch>
                <a:fillRect l="0" t="-954" r="-1" b="-960"/>
              </a:stretch>
            </a:blipFill>
          </p:spPr>
        </p:sp>
      </p:grpSp>
      <p:grpSp>
        <p:nvGrpSpPr>
          <p:cNvPr name="Group 92" id="92"/>
          <p:cNvGrpSpPr/>
          <p:nvPr/>
        </p:nvGrpSpPr>
        <p:grpSpPr>
          <a:xfrm rot="0">
            <a:off x="599979" y="7279019"/>
            <a:ext cx="2593186" cy="745409"/>
            <a:chOff x="0" y="0"/>
            <a:chExt cx="2491848" cy="716280"/>
          </a:xfrm>
        </p:grpSpPr>
        <p:sp>
          <p:nvSpPr>
            <p:cNvPr name="Freeform 93" id="93"/>
            <p:cNvSpPr/>
            <p:nvPr/>
          </p:nvSpPr>
          <p:spPr>
            <a:xfrm flipH="false" flipV="false" rot="0">
              <a:off x="0" y="0"/>
              <a:ext cx="2491848" cy="716280"/>
            </a:xfrm>
            <a:custGeom>
              <a:avLst/>
              <a:gdLst/>
              <a:ahLst/>
              <a:cxnLst/>
              <a:rect r="r" b="b" t="t" l="l"/>
              <a:pathLst>
                <a:path h="716280" w="2491848">
                  <a:moveTo>
                    <a:pt x="0" y="0"/>
                  </a:moveTo>
                  <a:lnTo>
                    <a:pt x="2491848" y="0"/>
                  </a:lnTo>
                  <a:lnTo>
                    <a:pt x="2491848" y="716280"/>
                  </a:lnTo>
                  <a:lnTo>
                    <a:pt x="0" y="716280"/>
                  </a:lnTo>
                  <a:close/>
                </a:path>
              </a:pathLst>
            </a:custGeom>
            <a:solidFill>
              <a:srgbClr val="AA4954"/>
            </a:solidFill>
          </p:spPr>
        </p:sp>
        <p:sp>
          <p:nvSpPr>
            <p:cNvPr name="TextBox 94" id="94"/>
            <p:cNvSpPr txBox="true"/>
            <p:nvPr/>
          </p:nvSpPr>
          <p:spPr>
            <a:xfrm>
              <a:off x="0" y="-9525"/>
              <a:ext cx="2491848" cy="725805"/>
            </a:xfrm>
            <a:prstGeom prst="rect">
              <a:avLst/>
            </a:prstGeom>
          </p:spPr>
          <p:txBody>
            <a:bodyPr anchor="ctr" rtlCol="false" tIns="50800" lIns="50800" bIns="50800" rIns="50800"/>
            <a:lstStyle/>
            <a:p>
              <a:pPr algn="ctr">
                <a:lnSpc>
                  <a:spcPts val="2639"/>
                </a:lnSpc>
              </a:pPr>
              <a:r>
                <a:rPr lang="en-US" b="true" sz="2199" spc="-21">
                  <a:solidFill>
                    <a:srgbClr val="FEFEFE"/>
                  </a:solidFill>
                  <a:latin typeface="DM Sans Bold"/>
                  <a:ea typeface="DM Sans Bold"/>
                  <a:cs typeface="DM Sans Bold"/>
                  <a:sym typeface="DM Sans Bold"/>
                </a:rPr>
                <a:t>Dashboa</a:t>
              </a:r>
              <a:r>
                <a:rPr lang="en-US" b="true" sz="2199" spc="-21">
                  <a:solidFill>
                    <a:srgbClr val="FEFEFE"/>
                  </a:solidFill>
                  <a:latin typeface="DM Sans Bold"/>
                  <a:ea typeface="DM Sans Bold"/>
                  <a:cs typeface="DM Sans Bold"/>
                  <a:sym typeface="DM Sans Bold"/>
                </a:rPr>
                <a:t>rd</a:t>
              </a:r>
            </a:p>
          </p:txBody>
        </p:sp>
      </p:grpSp>
      <p:grpSp>
        <p:nvGrpSpPr>
          <p:cNvPr name="Group 95" id="95"/>
          <p:cNvGrpSpPr/>
          <p:nvPr/>
        </p:nvGrpSpPr>
        <p:grpSpPr>
          <a:xfrm rot="0">
            <a:off x="3450739" y="7279019"/>
            <a:ext cx="6580505" cy="750696"/>
            <a:chOff x="0" y="0"/>
            <a:chExt cx="6323349" cy="721360"/>
          </a:xfrm>
        </p:grpSpPr>
        <p:sp>
          <p:nvSpPr>
            <p:cNvPr name="Freeform 96" id="96"/>
            <p:cNvSpPr/>
            <p:nvPr/>
          </p:nvSpPr>
          <p:spPr>
            <a:xfrm flipH="false" flipV="false" rot="0">
              <a:off x="0" y="0"/>
              <a:ext cx="6321711" cy="719963"/>
            </a:xfrm>
            <a:custGeom>
              <a:avLst/>
              <a:gdLst/>
              <a:ahLst/>
              <a:cxnLst/>
              <a:rect r="r" b="b" t="t" l="l"/>
              <a:pathLst>
                <a:path h="719963" w="6321711">
                  <a:moveTo>
                    <a:pt x="6321711" y="719963"/>
                  </a:moveTo>
                  <a:lnTo>
                    <a:pt x="0" y="719963"/>
                  </a:lnTo>
                  <a:lnTo>
                    <a:pt x="0" y="0"/>
                  </a:lnTo>
                  <a:lnTo>
                    <a:pt x="6321711" y="0"/>
                  </a:lnTo>
                  <a:lnTo>
                    <a:pt x="6321711" y="719963"/>
                  </a:lnTo>
                  <a:close/>
                </a:path>
              </a:pathLst>
            </a:custGeom>
            <a:solidFill>
              <a:srgbClr val="FFFFFF"/>
            </a:solidFill>
          </p:spPr>
        </p:sp>
      </p:grpSp>
      <p:grpSp>
        <p:nvGrpSpPr>
          <p:cNvPr name="Group 97" id="97"/>
          <p:cNvGrpSpPr/>
          <p:nvPr/>
        </p:nvGrpSpPr>
        <p:grpSpPr>
          <a:xfrm rot="0">
            <a:off x="3437317" y="7265802"/>
            <a:ext cx="6607336" cy="795516"/>
            <a:chOff x="0" y="0"/>
            <a:chExt cx="6349131" cy="764428"/>
          </a:xfrm>
        </p:grpSpPr>
        <p:sp>
          <p:nvSpPr>
            <p:cNvPr name="Freeform 98" id="98"/>
            <p:cNvSpPr/>
            <p:nvPr/>
          </p:nvSpPr>
          <p:spPr>
            <a:xfrm flipH="false" flipV="false" rot="0">
              <a:off x="0" y="0"/>
              <a:ext cx="6349182" cy="764428"/>
            </a:xfrm>
            <a:custGeom>
              <a:avLst/>
              <a:gdLst/>
              <a:ahLst/>
              <a:cxnLst/>
              <a:rect r="r" b="b" t="t" l="l"/>
              <a:pathLst>
                <a:path h="764428" w="6349182">
                  <a:moveTo>
                    <a:pt x="0" y="0"/>
                  </a:moveTo>
                  <a:lnTo>
                    <a:pt x="6349182" y="0"/>
                  </a:lnTo>
                  <a:lnTo>
                    <a:pt x="6349182" y="764428"/>
                  </a:lnTo>
                  <a:lnTo>
                    <a:pt x="0" y="764428"/>
                  </a:lnTo>
                  <a:close/>
                </a:path>
              </a:pathLst>
            </a:custGeom>
            <a:blipFill>
              <a:blip r:embed="rId3">
                <a:alphaModFix amt="0"/>
              </a:blip>
              <a:stretch>
                <a:fillRect l="0" t="-110511" r="1534" b="-108200"/>
              </a:stretch>
            </a:blipFill>
            <a:ln w="19048" cap="sq">
              <a:solidFill>
                <a:srgbClr val="9A2F2B"/>
              </a:solidFill>
              <a:prstDash val="solid"/>
              <a:miter/>
            </a:ln>
          </p:spPr>
        </p:sp>
        <p:sp>
          <p:nvSpPr>
            <p:cNvPr name="TextBox 99" id="99"/>
            <p:cNvSpPr txBox="true"/>
            <p:nvPr/>
          </p:nvSpPr>
          <p:spPr>
            <a:xfrm>
              <a:off x="0" y="0"/>
              <a:ext cx="6349131" cy="764428"/>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React</a:t>
              </a:r>
            </a:p>
          </p:txBody>
        </p:sp>
      </p:grpSp>
      <p:grpSp>
        <p:nvGrpSpPr>
          <p:cNvPr name="Group 100" id="100"/>
          <p:cNvGrpSpPr/>
          <p:nvPr/>
        </p:nvGrpSpPr>
        <p:grpSpPr>
          <a:xfrm rot="0">
            <a:off x="10305019" y="7265802"/>
            <a:ext cx="6884735" cy="795516"/>
            <a:chOff x="0" y="0"/>
            <a:chExt cx="6615689" cy="764428"/>
          </a:xfrm>
        </p:grpSpPr>
        <p:sp>
          <p:nvSpPr>
            <p:cNvPr name="Freeform 101" id="101"/>
            <p:cNvSpPr/>
            <p:nvPr/>
          </p:nvSpPr>
          <p:spPr>
            <a:xfrm flipH="false" flipV="false" rot="0">
              <a:off x="0" y="0"/>
              <a:ext cx="6615650" cy="764428"/>
            </a:xfrm>
            <a:custGeom>
              <a:avLst/>
              <a:gdLst/>
              <a:ahLst/>
              <a:cxnLst/>
              <a:rect r="r" b="b" t="t" l="l"/>
              <a:pathLst>
                <a:path h="764428" w="6615650">
                  <a:moveTo>
                    <a:pt x="0" y="0"/>
                  </a:moveTo>
                  <a:lnTo>
                    <a:pt x="6615650" y="0"/>
                  </a:lnTo>
                  <a:lnTo>
                    <a:pt x="6615650" y="764428"/>
                  </a:lnTo>
                  <a:lnTo>
                    <a:pt x="0" y="764428"/>
                  </a:lnTo>
                  <a:close/>
                </a:path>
              </a:pathLst>
            </a:custGeom>
            <a:blipFill>
              <a:blip r:embed="rId3">
                <a:alphaModFix amt="0"/>
              </a:blip>
              <a:stretch>
                <a:fillRect l="0" t="-117201" r="1532" b="-114890"/>
              </a:stretch>
            </a:blipFill>
            <a:ln w="19048" cap="sq">
              <a:solidFill>
                <a:srgbClr val="9A2F2B"/>
              </a:solidFill>
              <a:prstDash val="solid"/>
              <a:miter/>
            </a:ln>
          </p:spPr>
        </p:sp>
        <p:sp>
          <p:nvSpPr>
            <p:cNvPr name="TextBox 102" id="102"/>
            <p:cNvSpPr txBox="true"/>
            <p:nvPr/>
          </p:nvSpPr>
          <p:spPr>
            <a:xfrm>
              <a:off x="0" y="0"/>
              <a:ext cx="6615689" cy="764428"/>
            </a:xfrm>
            <a:prstGeom prst="rect">
              <a:avLst/>
            </a:prstGeom>
          </p:spPr>
          <p:txBody>
            <a:bodyPr anchor="ctr" rtlCol="false" tIns="50800" lIns="50800" bIns="50800" rIns="50800"/>
            <a:lstStyle/>
            <a:p>
              <a:pPr algn="ctr">
                <a:lnSpc>
                  <a:spcPts val="2399"/>
                </a:lnSpc>
              </a:pPr>
              <a:r>
                <a:rPr lang="en-US" sz="1999">
                  <a:solidFill>
                    <a:srgbClr val="000000"/>
                  </a:solidFill>
                  <a:latin typeface="DM Sans"/>
                  <a:ea typeface="DM Sans"/>
                  <a:cs typeface="DM Sans"/>
                  <a:sym typeface="DM Sans"/>
                </a:rPr>
                <a:t>Monitoring dan tindak lanjut oleh staf</a:t>
              </a:r>
            </a:p>
          </p:txBody>
        </p:sp>
      </p:grpSp>
      <p:sp>
        <p:nvSpPr>
          <p:cNvPr name="Freeform 103" id="103"/>
          <p:cNvSpPr/>
          <p:nvPr/>
        </p:nvSpPr>
        <p:spPr>
          <a:xfrm flipH="false" flipV="false" rot="0">
            <a:off x="16253047" y="28336"/>
            <a:ext cx="1539316" cy="1539316"/>
          </a:xfrm>
          <a:custGeom>
            <a:avLst/>
            <a:gdLst/>
            <a:ahLst/>
            <a:cxnLst/>
            <a:rect r="r" b="b" t="t" l="l"/>
            <a:pathLst>
              <a:path h="1539316" w="1539316">
                <a:moveTo>
                  <a:pt x="0" y="0"/>
                </a:moveTo>
                <a:lnTo>
                  <a:pt x="1539315" y="0"/>
                </a:lnTo>
                <a:lnTo>
                  <a:pt x="1539315" y="1539316"/>
                </a:lnTo>
                <a:lnTo>
                  <a:pt x="0" y="1539316"/>
                </a:lnTo>
                <a:lnTo>
                  <a:pt x="0" y="0"/>
                </a:lnTo>
                <a:close/>
              </a:path>
            </a:pathLst>
          </a:custGeom>
          <a:blipFill>
            <a:blip r:embed="rId7"/>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371600" y="1165860"/>
            <a:ext cx="6858000" cy="548640"/>
            <a:chOff x="0" y="0"/>
            <a:chExt cx="9144000" cy="731520"/>
          </a:xfrm>
        </p:grpSpPr>
        <p:sp>
          <p:nvSpPr>
            <p:cNvPr name="Freeform 3" id="3"/>
            <p:cNvSpPr/>
            <p:nvPr/>
          </p:nvSpPr>
          <p:spPr>
            <a:xfrm flipH="false" flipV="false" rot="0">
              <a:off x="0" y="0"/>
              <a:ext cx="9144000" cy="731520"/>
            </a:xfrm>
            <a:custGeom>
              <a:avLst/>
              <a:gdLst/>
              <a:ahLst/>
              <a:cxnLst/>
              <a:rect r="r" b="b" t="t" l="l"/>
              <a:pathLst>
                <a:path h="731520" w="9144000">
                  <a:moveTo>
                    <a:pt x="0" y="0"/>
                  </a:moveTo>
                  <a:lnTo>
                    <a:pt x="9144000" y="0"/>
                  </a:lnTo>
                  <a:lnTo>
                    <a:pt x="9144000" y="731520"/>
                  </a:lnTo>
                  <a:lnTo>
                    <a:pt x="0" y="731520"/>
                  </a:lnTo>
                  <a:close/>
                </a:path>
              </a:pathLst>
            </a:custGeom>
            <a:blipFill>
              <a:blip r:embed="rId3">
                <a:alphaModFix amt="0"/>
              </a:blip>
              <a:stretch>
                <a:fillRect l="0" t="-193562" r="0" b="-193562"/>
              </a:stretch>
            </a:blipFill>
          </p:spPr>
        </p:sp>
        <p:sp>
          <p:nvSpPr>
            <p:cNvPr name="TextBox 4" id="4"/>
            <p:cNvSpPr txBox="true"/>
            <p:nvPr/>
          </p:nvSpPr>
          <p:spPr>
            <a:xfrm>
              <a:off x="0" y="9525"/>
              <a:ext cx="9144000" cy="721995"/>
            </a:xfrm>
            <a:prstGeom prst="rect">
              <a:avLst/>
            </a:prstGeom>
          </p:spPr>
          <p:txBody>
            <a:bodyPr anchor="ctr" rtlCol="false" tIns="0" lIns="0" bIns="0" rIns="0"/>
            <a:lstStyle/>
            <a:p>
              <a:pPr algn="l">
                <a:lnSpc>
                  <a:spcPts val="2340"/>
                </a:lnSpc>
              </a:pPr>
              <a:r>
                <a:rPr lang="en-US" b="true" sz="1950" spc="449">
                  <a:solidFill>
                    <a:srgbClr val="AE231D"/>
                  </a:solidFill>
                  <a:latin typeface="DM Sans Bold"/>
                  <a:ea typeface="DM Sans Bold"/>
                  <a:cs typeface="DM Sans Bold"/>
                  <a:sym typeface="DM Sans Bold"/>
                </a:rPr>
                <a:t>KESIMPULAN</a:t>
              </a:r>
            </a:p>
          </p:txBody>
        </p:sp>
      </p:grpSp>
      <p:grpSp>
        <p:nvGrpSpPr>
          <p:cNvPr name="Group 5" id="5"/>
          <p:cNvGrpSpPr/>
          <p:nvPr/>
        </p:nvGrpSpPr>
        <p:grpSpPr>
          <a:xfrm rot="0">
            <a:off x="1371600" y="1783080"/>
            <a:ext cx="15499080" cy="2057400"/>
            <a:chOff x="0" y="0"/>
            <a:chExt cx="20665440" cy="2743200"/>
          </a:xfrm>
        </p:grpSpPr>
        <p:sp>
          <p:nvSpPr>
            <p:cNvPr name="Freeform 6" id="6"/>
            <p:cNvSpPr/>
            <p:nvPr/>
          </p:nvSpPr>
          <p:spPr>
            <a:xfrm flipH="false" flipV="false" rot="0">
              <a:off x="0" y="0"/>
              <a:ext cx="20665439" cy="2743200"/>
            </a:xfrm>
            <a:custGeom>
              <a:avLst/>
              <a:gdLst/>
              <a:ahLst/>
              <a:cxnLst/>
              <a:rect r="r" b="b" t="t" l="l"/>
              <a:pathLst>
                <a:path h="2743200" w="20665439">
                  <a:moveTo>
                    <a:pt x="0" y="0"/>
                  </a:moveTo>
                  <a:lnTo>
                    <a:pt x="20665439" y="0"/>
                  </a:lnTo>
                  <a:lnTo>
                    <a:pt x="20665439" y="2743200"/>
                  </a:lnTo>
                  <a:lnTo>
                    <a:pt x="0" y="2743200"/>
                  </a:lnTo>
                  <a:close/>
                </a:path>
              </a:pathLst>
            </a:custGeom>
            <a:solidFill>
              <a:srgbClr val="1A1A1A">
                <a:alpha val="0"/>
              </a:srgbClr>
            </a:solidFill>
          </p:spPr>
        </p:sp>
        <p:sp>
          <p:nvSpPr>
            <p:cNvPr name="TextBox 7" id="7"/>
            <p:cNvSpPr txBox="true"/>
            <p:nvPr/>
          </p:nvSpPr>
          <p:spPr>
            <a:xfrm>
              <a:off x="0" y="-19050"/>
              <a:ext cx="20665440" cy="2762250"/>
            </a:xfrm>
            <a:prstGeom prst="rect">
              <a:avLst/>
            </a:prstGeom>
          </p:spPr>
          <p:txBody>
            <a:bodyPr anchor="ctr" rtlCol="false" tIns="0" lIns="0" bIns="0" rIns="0"/>
            <a:lstStyle/>
            <a:p>
              <a:pPr algn="l">
                <a:lnSpc>
                  <a:spcPts val="4949"/>
                </a:lnSpc>
              </a:pPr>
              <a:r>
                <a:rPr lang="en-US" sz="3900" b="true">
                  <a:solidFill>
                    <a:srgbClr val="000000"/>
                  </a:solidFill>
                  <a:latin typeface="DM Sans Bold"/>
                  <a:ea typeface="DM Sans Bold"/>
                  <a:cs typeface="DM Sans Bold"/>
                  <a:sym typeface="DM Sans Bold"/>
                </a:rPr>
                <a:t>Dengan SIGAP, tidak ada lagi panggilan orang tua maba yang</a:t>
              </a:r>
              <a:r>
                <a:rPr lang="en-US" sz="3900" b="true">
                  <a:solidFill>
                    <a:srgbClr val="FFFFFF"/>
                  </a:solidFill>
                  <a:latin typeface="DM Sans Bold"/>
                  <a:ea typeface="DM Sans Bold"/>
                  <a:cs typeface="DM Sans Bold"/>
                  <a:sym typeface="DM Sans Bold"/>
                </a:rPr>
                <a:t> </a:t>
              </a:r>
              <a:r>
                <a:rPr lang="en-US" sz="3900" b="true">
                  <a:solidFill>
                    <a:srgbClr val="AE231D"/>
                  </a:solidFill>
                  <a:latin typeface="DM Sans Bold"/>
                  <a:ea typeface="DM Sans Bold"/>
                  <a:cs typeface="DM Sans Bold"/>
                  <a:sym typeface="DM Sans Bold"/>
                </a:rPr>
                <a:t>tidak terlayani </a:t>
              </a:r>
              <a:r>
                <a:rPr lang="en-US" sz="3900" b="true">
                  <a:solidFill>
                    <a:srgbClr val="000000"/>
                  </a:solidFill>
                  <a:latin typeface="DM Sans Bold"/>
                  <a:ea typeface="DM Sans Bold"/>
                  <a:cs typeface="DM Sans Bold"/>
                  <a:sym typeface="DM Sans Bold"/>
                </a:rPr>
                <a:t>— dan tidak ada lagi staf yang ditelepon pukul 12 malam</a:t>
              </a:r>
              <a:r>
                <a:rPr lang="en-US" sz="3900" b="true">
                  <a:solidFill>
                    <a:srgbClr val="FFFFFF"/>
                  </a:solidFill>
                  <a:latin typeface="DM Sans Bold"/>
                  <a:ea typeface="DM Sans Bold"/>
                  <a:cs typeface="DM Sans Bold"/>
                  <a:sym typeface="DM Sans Bold"/>
                </a:rPr>
                <a:t>.</a:t>
              </a:r>
            </a:p>
          </p:txBody>
        </p:sp>
      </p:grpSp>
      <p:grpSp>
        <p:nvGrpSpPr>
          <p:cNvPr name="Group 8" id="8"/>
          <p:cNvGrpSpPr/>
          <p:nvPr/>
        </p:nvGrpSpPr>
        <p:grpSpPr>
          <a:xfrm rot="0">
            <a:off x="1714500" y="4690872"/>
            <a:ext cx="4251960" cy="754380"/>
            <a:chOff x="0" y="0"/>
            <a:chExt cx="5669280" cy="1005840"/>
          </a:xfrm>
        </p:grpSpPr>
        <p:sp>
          <p:nvSpPr>
            <p:cNvPr name="Freeform 9" id="9"/>
            <p:cNvSpPr/>
            <p:nvPr/>
          </p:nvSpPr>
          <p:spPr>
            <a:xfrm flipH="false" flipV="false" rot="0">
              <a:off x="0" y="0"/>
              <a:ext cx="5669280" cy="1005840"/>
            </a:xfrm>
            <a:custGeom>
              <a:avLst/>
              <a:gdLst/>
              <a:ahLst/>
              <a:cxnLst/>
              <a:rect r="r" b="b" t="t" l="l"/>
              <a:pathLst>
                <a:path h="1005840" w="5669280">
                  <a:moveTo>
                    <a:pt x="0" y="0"/>
                  </a:moveTo>
                  <a:lnTo>
                    <a:pt x="5669280" y="0"/>
                  </a:lnTo>
                  <a:lnTo>
                    <a:pt x="5669280" y="1005840"/>
                  </a:lnTo>
                  <a:lnTo>
                    <a:pt x="0" y="1005840"/>
                  </a:lnTo>
                  <a:close/>
                </a:path>
              </a:pathLst>
            </a:custGeom>
            <a:blipFill>
              <a:blip r:embed="rId3">
                <a:alphaModFix amt="0"/>
              </a:blip>
              <a:stretch>
                <a:fillRect l="0" t="-59824" r="0" b="-59824"/>
              </a:stretch>
            </a:blipFill>
          </p:spPr>
        </p:sp>
        <p:sp>
          <p:nvSpPr>
            <p:cNvPr name="TextBox 10" id="10"/>
            <p:cNvSpPr txBox="true"/>
            <p:nvPr/>
          </p:nvSpPr>
          <p:spPr>
            <a:xfrm>
              <a:off x="0" y="0"/>
              <a:ext cx="5669280" cy="1005840"/>
            </a:xfrm>
            <a:prstGeom prst="rect">
              <a:avLst/>
            </a:prstGeom>
          </p:spPr>
          <p:txBody>
            <a:bodyPr anchor="ctr" rtlCol="false" tIns="0" lIns="0" bIns="0" rIns="0"/>
            <a:lstStyle/>
            <a:p>
              <a:pPr algn="l">
                <a:lnSpc>
                  <a:spcPts val="4320"/>
                </a:lnSpc>
              </a:pPr>
              <a:r>
                <a:rPr lang="en-US" b="true" sz="3600">
                  <a:solidFill>
                    <a:srgbClr val="000000"/>
                  </a:solidFill>
                  <a:latin typeface="DM Sans Bold"/>
                  <a:ea typeface="DM Sans Bold"/>
                  <a:cs typeface="DM Sans Bold"/>
                  <a:sym typeface="DM Sans Bold"/>
                </a:rPr>
                <a:t>24/7</a:t>
              </a:r>
            </a:p>
          </p:txBody>
        </p:sp>
      </p:grpSp>
      <p:grpSp>
        <p:nvGrpSpPr>
          <p:cNvPr name="Group 11" id="11"/>
          <p:cNvGrpSpPr/>
          <p:nvPr/>
        </p:nvGrpSpPr>
        <p:grpSpPr>
          <a:xfrm rot="0">
            <a:off x="1714500" y="5486400"/>
            <a:ext cx="4251960" cy="1234440"/>
            <a:chOff x="0" y="0"/>
            <a:chExt cx="5669280" cy="1645920"/>
          </a:xfrm>
        </p:grpSpPr>
        <p:sp>
          <p:nvSpPr>
            <p:cNvPr name="Freeform 12" id="12"/>
            <p:cNvSpPr/>
            <p:nvPr/>
          </p:nvSpPr>
          <p:spPr>
            <a:xfrm flipH="false" flipV="false" rot="0">
              <a:off x="0" y="0"/>
              <a:ext cx="5669280" cy="1645920"/>
            </a:xfrm>
            <a:custGeom>
              <a:avLst/>
              <a:gdLst/>
              <a:ahLst/>
              <a:cxnLst/>
              <a:rect r="r" b="b" t="t" l="l"/>
              <a:pathLst>
                <a:path h="1645920" w="5669280">
                  <a:moveTo>
                    <a:pt x="0" y="0"/>
                  </a:moveTo>
                  <a:lnTo>
                    <a:pt x="5669280" y="0"/>
                  </a:lnTo>
                  <a:lnTo>
                    <a:pt x="5669280" y="1645920"/>
                  </a:lnTo>
                  <a:lnTo>
                    <a:pt x="0" y="1645920"/>
                  </a:lnTo>
                  <a:close/>
                </a:path>
              </a:pathLst>
            </a:custGeom>
            <a:blipFill>
              <a:blip r:embed="rId3">
                <a:alphaModFix amt="0"/>
              </a:blip>
              <a:stretch>
                <a:fillRect l="0" t="-17115" r="0" b="-17115"/>
              </a:stretch>
            </a:blipFill>
          </p:spPr>
        </p:sp>
        <p:sp>
          <p:nvSpPr>
            <p:cNvPr name="TextBox 13" id="13"/>
            <p:cNvSpPr txBox="true"/>
            <p:nvPr/>
          </p:nvSpPr>
          <p:spPr>
            <a:xfrm>
              <a:off x="0" y="-19050"/>
              <a:ext cx="5669280" cy="1664970"/>
            </a:xfrm>
            <a:prstGeom prst="rect">
              <a:avLst/>
            </a:prstGeom>
          </p:spPr>
          <p:txBody>
            <a:bodyPr anchor="ctr" rtlCol="false" tIns="0" lIns="0" bIns="0" rIns="0"/>
            <a:lstStyle/>
            <a:p>
              <a:pPr algn="l">
                <a:lnSpc>
                  <a:spcPts val="2099"/>
                </a:lnSpc>
              </a:pPr>
              <a:r>
                <a:rPr lang="en-US" sz="1575">
                  <a:solidFill>
                    <a:srgbClr val="000000"/>
                  </a:solidFill>
                  <a:latin typeface="DM Sans"/>
                  <a:ea typeface="DM Sans"/>
                  <a:cs typeface="DM Sans"/>
                  <a:sym typeface="DM Sans"/>
                </a:rPr>
                <a:t>L</a:t>
              </a:r>
              <a:r>
                <a:rPr lang="en-US" sz="1575">
                  <a:solidFill>
                    <a:srgbClr val="000000"/>
                  </a:solidFill>
                  <a:latin typeface="DM Sans"/>
                  <a:ea typeface="DM Sans"/>
                  <a:cs typeface="DM Sans"/>
                  <a:sym typeface="DM Sans"/>
                </a:rPr>
                <a:t>ayanan informasi dapat tersedia di luar jam operasional staf.</a:t>
              </a:r>
            </a:p>
          </p:txBody>
        </p:sp>
      </p:grpSp>
      <p:grpSp>
        <p:nvGrpSpPr>
          <p:cNvPr name="Group 14" id="14"/>
          <p:cNvGrpSpPr/>
          <p:nvPr/>
        </p:nvGrpSpPr>
        <p:grpSpPr>
          <a:xfrm rot="0">
            <a:off x="6995160" y="4690872"/>
            <a:ext cx="4251960" cy="754380"/>
            <a:chOff x="0" y="0"/>
            <a:chExt cx="5669280" cy="1005840"/>
          </a:xfrm>
        </p:grpSpPr>
        <p:sp>
          <p:nvSpPr>
            <p:cNvPr name="Freeform 15" id="15"/>
            <p:cNvSpPr/>
            <p:nvPr/>
          </p:nvSpPr>
          <p:spPr>
            <a:xfrm flipH="false" flipV="false" rot="0">
              <a:off x="0" y="0"/>
              <a:ext cx="5669280" cy="1005840"/>
            </a:xfrm>
            <a:custGeom>
              <a:avLst/>
              <a:gdLst/>
              <a:ahLst/>
              <a:cxnLst/>
              <a:rect r="r" b="b" t="t" l="l"/>
              <a:pathLst>
                <a:path h="1005840" w="5669280">
                  <a:moveTo>
                    <a:pt x="0" y="0"/>
                  </a:moveTo>
                  <a:lnTo>
                    <a:pt x="5669280" y="0"/>
                  </a:lnTo>
                  <a:lnTo>
                    <a:pt x="5669280" y="1005840"/>
                  </a:lnTo>
                  <a:lnTo>
                    <a:pt x="0" y="1005840"/>
                  </a:lnTo>
                  <a:close/>
                </a:path>
              </a:pathLst>
            </a:custGeom>
            <a:blipFill>
              <a:blip r:embed="rId3">
                <a:alphaModFix amt="0"/>
              </a:blip>
              <a:stretch>
                <a:fillRect l="0" t="-59824" r="0" b="-59824"/>
              </a:stretch>
            </a:blipFill>
          </p:spPr>
        </p:sp>
        <p:sp>
          <p:nvSpPr>
            <p:cNvPr name="TextBox 16" id="16"/>
            <p:cNvSpPr txBox="true"/>
            <p:nvPr/>
          </p:nvSpPr>
          <p:spPr>
            <a:xfrm>
              <a:off x="0" y="0"/>
              <a:ext cx="5669280" cy="1005840"/>
            </a:xfrm>
            <a:prstGeom prst="rect">
              <a:avLst/>
            </a:prstGeom>
          </p:spPr>
          <p:txBody>
            <a:bodyPr anchor="ctr" rtlCol="false" tIns="0" lIns="0" bIns="0" rIns="0"/>
            <a:lstStyle/>
            <a:p>
              <a:pPr algn="l">
                <a:lnSpc>
                  <a:spcPts val="4320"/>
                </a:lnSpc>
              </a:pPr>
              <a:r>
                <a:rPr lang="en-US" b="true" sz="3600">
                  <a:solidFill>
                    <a:srgbClr val="000000"/>
                  </a:solidFill>
                  <a:latin typeface="DM Sans Bold"/>
                  <a:ea typeface="DM Sans Bold"/>
                  <a:cs typeface="DM Sans Bold"/>
                  <a:sym typeface="DM Sans Bold"/>
                </a:rPr>
                <a:t>≤ 2 detik</a:t>
              </a:r>
            </a:p>
          </p:txBody>
        </p:sp>
      </p:grpSp>
      <p:grpSp>
        <p:nvGrpSpPr>
          <p:cNvPr name="Group 17" id="17"/>
          <p:cNvGrpSpPr/>
          <p:nvPr/>
        </p:nvGrpSpPr>
        <p:grpSpPr>
          <a:xfrm rot="0">
            <a:off x="6995160" y="5486400"/>
            <a:ext cx="4251960" cy="1234440"/>
            <a:chOff x="0" y="0"/>
            <a:chExt cx="5669280" cy="1645920"/>
          </a:xfrm>
        </p:grpSpPr>
        <p:sp>
          <p:nvSpPr>
            <p:cNvPr name="Freeform 18" id="18"/>
            <p:cNvSpPr/>
            <p:nvPr/>
          </p:nvSpPr>
          <p:spPr>
            <a:xfrm flipH="false" flipV="false" rot="0">
              <a:off x="0" y="0"/>
              <a:ext cx="5669280" cy="1645920"/>
            </a:xfrm>
            <a:custGeom>
              <a:avLst/>
              <a:gdLst/>
              <a:ahLst/>
              <a:cxnLst/>
              <a:rect r="r" b="b" t="t" l="l"/>
              <a:pathLst>
                <a:path h="1645920" w="5669280">
                  <a:moveTo>
                    <a:pt x="0" y="0"/>
                  </a:moveTo>
                  <a:lnTo>
                    <a:pt x="5669280" y="0"/>
                  </a:lnTo>
                  <a:lnTo>
                    <a:pt x="5669280" y="1645920"/>
                  </a:lnTo>
                  <a:lnTo>
                    <a:pt x="0" y="1645920"/>
                  </a:lnTo>
                  <a:close/>
                </a:path>
              </a:pathLst>
            </a:custGeom>
            <a:blipFill>
              <a:blip r:embed="rId3">
                <a:alphaModFix amt="0"/>
              </a:blip>
              <a:stretch>
                <a:fillRect l="0" t="-17115" r="0" b="-17115"/>
              </a:stretch>
            </a:blipFill>
          </p:spPr>
        </p:sp>
        <p:sp>
          <p:nvSpPr>
            <p:cNvPr name="TextBox 19" id="19"/>
            <p:cNvSpPr txBox="true"/>
            <p:nvPr/>
          </p:nvSpPr>
          <p:spPr>
            <a:xfrm>
              <a:off x="0" y="-19050"/>
              <a:ext cx="5669280" cy="1664970"/>
            </a:xfrm>
            <a:prstGeom prst="rect">
              <a:avLst/>
            </a:prstGeom>
          </p:spPr>
          <p:txBody>
            <a:bodyPr anchor="ctr" rtlCol="false" tIns="0" lIns="0" bIns="0" rIns="0"/>
            <a:lstStyle/>
            <a:p>
              <a:pPr algn="l">
                <a:lnSpc>
                  <a:spcPts val="2099"/>
                </a:lnSpc>
              </a:pPr>
              <a:r>
                <a:rPr lang="en-US" sz="1575">
                  <a:solidFill>
                    <a:srgbClr val="000000"/>
                  </a:solidFill>
                  <a:latin typeface="DM Sans"/>
                  <a:ea typeface="DM Sans"/>
                  <a:cs typeface="DM Sans"/>
                  <a:sym typeface="DM Sans"/>
                </a:rPr>
                <a:t>respons suara streaming end-to-end yang terasa natural bagi penelepon</a:t>
              </a:r>
            </a:p>
          </p:txBody>
        </p:sp>
      </p:grpSp>
      <p:grpSp>
        <p:nvGrpSpPr>
          <p:cNvPr name="Group 20" id="20"/>
          <p:cNvGrpSpPr/>
          <p:nvPr/>
        </p:nvGrpSpPr>
        <p:grpSpPr>
          <a:xfrm rot="0">
            <a:off x="12275820" y="4690872"/>
            <a:ext cx="4251960" cy="754380"/>
            <a:chOff x="0" y="0"/>
            <a:chExt cx="5669280" cy="1005840"/>
          </a:xfrm>
        </p:grpSpPr>
        <p:sp>
          <p:nvSpPr>
            <p:cNvPr name="Freeform 21" id="21"/>
            <p:cNvSpPr/>
            <p:nvPr/>
          </p:nvSpPr>
          <p:spPr>
            <a:xfrm flipH="false" flipV="false" rot="0">
              <a:off x="0" y="0"/>
              <a:ext cx="5669280" cy="1005840"/>
            </a:xfrm>
            <a:custGeom>
              <a:avLst/>
              <a:gdLst/>
              <a:ahLst/>
              <a:cxnLst/>
              <a:rect r="r" b="b" t="t" l="l"/>
              <a:pathLst>
                <a:path h="1005840" w="5669280">
                  <a:moveTo>
                    <a:pt x="0" y="0"/>
                  </a:moveTo>
                  <a:lnTo>
                    <a:pt x="5669280" y="0"/>
                  </a:lnTo>
                  <a:lnTo>
                    <a:pt x="5669280" y="1005840"/>
                  </a:lnTo>
                  <a:lnTo>
                    <a:pt x="0" y="1005840"/>
                  </a:lnTo>
                  <a:close/>
                </a:path>
              </a:pathLst>
            </a:custGeom>
            <a:blipFill>
              <a:blip r:embed="rId3">
                <a:alphaModFix amt="0"/>
              </a:blip>
              <a:stretch>
                <a:fillRect l="0" t="-59824" r="0" b="-59824"/>
              </a:stretch>
            </a:blipFill>
          </p:spPr>
        </p:sp>
        <p:sp>
          <p:nvSpPr>
            <p:cNvPr name="TextBox 22" id="22"/>
            <p:cNvSpPr txBox="true"/>
            <p:nvPr/>
          </p:nvSpPr>
          <p:spPr>
            <a:xfrm>
              <a:off x="0" y="0"/>
              <a:ext cx="5669280" cy="1005840"/>
            </a:xfrm>
            <a:prstGeom prst="rect">
              <a:avLst/>
            </a:prstGeom>
          </p:spPr>
          <p:txBody>
            <a:bodyPr anchor="ctr" rtlCol="false" tIns="0" lIns="0" bIns="0" rIns="0"/>
            <a:lstStyle/>
            <a:p>
              <a:pPr algn="l">
                <a:lnSpc>
                  <a:spcPts val="4320"/>
                </a:lnSpc>
              </a:pPr>
              <a:r>
                <a:rPr lang="en-US" b="true" sz="3600">
                  <a:solidFill>
                    <a:srgbClr val="000000"/>
                  </a:solidFill>
                  <a:latin typeface="DM Sans Bold"/>
                  <a:ea typeface="DM Sans Bold"/>
                  <a:cs typeface="DM Sans Bold"/>
                  <a:sym typeface="DM Sans Bold"/>
                </a:rPr>
                <a:t>100%</a:t>
              </a:r>
            </a:p>
          </p:txBody>
        </p:sp>
      </p:grpSp>
      <p:grpSp>
        <p:nvGrpSpPr>
          <p:cNvPr name="Group 23" id="23"/>
          <p:cNvGrpSpPr/>
          <p:nvPr/>
        </p:nvGrpSpPr>
        <p:grpSpPr>
          <a:xfrm rot="0">
            <a:off x="12275820" y="5486400"/>
            <a:ext cx="4251960" cy="1234440"/>
            <a:chOff x="0" y="0"/>
            <a:chExt cx="5669280" cy="1645920"/>
          </a:xfrm>
        </p:grpSpPr>
        <p:sp>
          <p:nvSpPr>
            <p:cNvPr name="Freeform 24" id="24"/>
            <p:cNvSpPr/>
            <p:nvPr/>
          </p:nvSpPr>
          <p:spPr>
            <a:xfrm flipH="false" flipV="false" rot="0">
              <a:off x="0" y="0"/>
              <a:ext cx="5669280" cy="1645920"/>
            </a:xfrm>
            <a:custGeom>
              <a:avLst/>
              <a:gdLst/>
              <a:ahLst/>
              <a:cxnLst/>
              <a:rect r="r" b="b" t="t" l="l"/>
              <a:pathLst>
                <a:path h="1645920" w="5669280">
                  <a:moveTo>
                    <a:pt x="0" y="0"/>
                  </a:moveTo>
                  <a:lnTo>
                    <a:pt x="5669280" y="0"/>
                  </a:lnTo>
                  <a:lnTo>
                    <a:pt x="5669280" y="1645920"/>
                  </a:lnTo>
                  <a:lnTo>
                    <a:pt x="0" y="1645920"/>
                  </a:lnTo>
                  <a:close/>
                </a:path>
              </a:pathLst>
            </a:custGeom>
            <a:blipFill>
              <a:blip r:embed="rId3">
                <a:alphaModFix amt="0"/>
              </a:blip>
              <a:stretch>
                <a:fillRect l="0" t="-17115" r="0" b="-17115"/>
              </a:stretch>
            </a:blipFill>
          </p:spPr>
        </p:sp>
        <p:sp>
          <p:nvSpPr>
            <p:cNvPr name="TextBox 25" id="25"/>
            <p:cNvSpPr txBox="true"/>
            <p:nvPr/>
          </p:nvSpPr>
          <p:spPr>
            <a:xfrm>
              <a:off x="0" y="-19050"/>
              <a:ext cx="5669280" cy="1664970"/>
            </a:xfrm>
            <a:prstGeom prst="rect">
              <a:avLst/>
            </a:prstGeom>
          </p:spPr>
          <p:txBody>
            <a:bodyPr anchor="ctr" rtlCol="false" tIns="0" lIns="0" bIns="0" rIns="0"/>
            <a:lstStyle/>
            <a:p>
              <a:pPr algn="l">
                <a:lnSpc>
                  <a:spcPts val="2099"/>
                </a:lnSpc>
              </a:pPr>
              <a:r>
                <a:rPr lang="en-US" sz="1575">
                  <a:solidFill>
                    <a:srgbClr val="000000"/>
                  </a:solidFill>
                  <a:latin typeface="DM Sans"/>
                  <a:ea typeface="DM Sans"/>
                  <a:cs typeface="DM Sans"/>
                  <a:sym typeface="DM Sans"/>
                </a:rPr>
                <a:t>panggilan tercatat &amp; tereskalasi — staf menindaklanjuti lewat dashboard keesokan pagi</a:t>
              </a:r>
            </a:p>
          </p:txBody>
        </p:sp>
      </p:grpSp>
      <p:grpSp>
        <p:nvGrpSpPr>
          <p:cNvPr name="Group 26" id="26"/>
          <p:cNvGrpSpPr/>
          <p:nvPr/>
        </p:nvGrpSpPr>
        <p:grpSpPr>
          <a:xfrm rot="0">
            <a:off x="1371600" y="7612380"/>
            <a:ext cx="15499080" cy="20574"/>
            <a:chOff x="0" y="0"/>
            <a:chExt cx="20665440" cy="27432"/>
          </a:xfrm>
        </p:grpSpPr>
        <p:sp>
          <p:nvSpPr>
            <p:cNvPr name="Freeform 27" id="27"/>
            <p:cNvSpPr/>
            <p:nvPr/>
          </p:nvSpPr>
          <p:spPr>
            <a:xfrm flipH="false" flipV="false" rot="0">
              <a:off x="0" y="0"/>
              <a:ext cx="20665439" cy="27432"/>
            </a:xfrm>
            <a:custGeom>
              <a:avLst/>
              <a:gdLst/>
              <a:ahLst/>
              <a:cxnLst/>
              <a:rect r="r" b="b" t="t" l="l"/>
              <a:pathLst>
                <a:path h="27432" w="20665439">
                  <a:moveTo>
                    <a:pt x="0" y="0"/>
                  </a:moveTo>
                  <a:lnTo>
                    <a:pt x="20665439" y="0"/>
                  </a:lnTo>
                  <a:lnTo>
                    <a:pt x="20665439" y="27432"/>
                  </a:lnTo>
                  <a:lnTo>
                    <a:pt x="0" y="27432"/>
                  </a:lnTo>
                  <a:close/>
                </a:path>
              </a:pathLst>
            </a:custGeom>
            <a:solidFill>
              <a:srgbClr val="3B5580"/>
            </a:solidFill>
          </p:spPr>
        </p:sp>
      </p:grpSp>
      <p:grpSp>
        <p:nvGrpSpPr>
          <p:cNvPr name="Group 28" id="28"/>
          <p:cNvGrpSpPr/>
          <p:nvPr/>
        </p:nvGrpSpPr>
        <p:grpSpPr>
          <a:xfrm rot="0">
            <a:off x="1371600" y="8023860"/>
            <a:ext cx="9601200" cy="1097280"/>
            <a:chOff x="0" y="0"/>
            <a:chExt cx="12801600" cy="1463040"/>
          </a:xfrm>
        </p:grpSpPr>
        <p:sp>
          <p:nvSpPr>
            <p:cNvPr name="Freeform 29" id="29"/>
            <p:cNvSpPr/>
            <p:nvPr/>
          </p:nvSpPr>
          <p:spPr>
            <a:xfrm flipH="false" flipV="false" rot="0">
              <a:off x="0" y="0"/>
              <a:ext cx="12801600" cy="1463040"/>
            </a:xfrm>
            <a:custGeom>
              <a:avLst/>
              <a:gdLst/>
              <a:ahLst/>
              <a:cxnLst/>
              <a:rect r="r" b="b" t="t" l="l"/>
              <a:pathLst>
                <a:path h="1463040" w="12801600">
                  <a:moveTo>
                    <a:pt x="0" y="0"/>
                  </a:moveTo>
                  <a:lnTo>
                    <a:pt x="12801600" y="0"/>
                  </a:lnTo>
                  <a:lnTo>
                    <a:pt x="12801600" y="1463040"/>
                  </a:lnTo>
                  <a:lnTo>
                    <a:pt x="0" y="1463040"/>
                  </a:lnTo>
                  <a:close/>
                </a:path>
              </a:pathLst>
            </a:custGeom>
            <a:blipFill>
              <a:blip r:embed="rId3">
                <a:alphaModFix amt="0"/>
              </a:blip>
              <a:stretch>
                <a:fillRect l="0" t="-120494" r="0" b="-120494"/>
              </a:stretch>
            </a:blipFill>
          </p:spPr>
        </p:sp>
        <p:sp>
          <p:nvSpPr>
            <p:cNvPr name="TextBox 30" id="30"/>
            <p:cNvSpPr txBox="true"/>
            <p:nvPr/>
          </p:nvSpPr>
          <p:spPr>
            <a:xfrm>
              <a:off x="0" y="-9525"/>
              <a:ext cx="12801600" cy="1472565"/>
            </a:xfrm>
            <a:prstGeom prst="rect">
              <a:avLst/>
            </a:prstGeom>
          </p:spPr>
          <p:txBody>
            <a:bodyPr anchor="ctr" rtlCol="false" tIns="0" lIns="0" bIns="0" rIns="0"/>
            <a:lstStyle/>
            <a:p>
              <a:pPr algn="l">
                <a:lnSpc>
                  <a:spcPts val="6120"/>
                </a:lnSpc>
              </a:pPr>
              <a:r>
                <a:rPr lang="en-US" sz="5100" b="true">
                  <a:solidFill>
                    <a:srgbClr val="FFFFFF"/>
                  </a:solidFill>
                  <a:latin typeface="DM Sans Bold"/>
                  <a:ea typeface="DM Sans Bold"/>
                  <a:cs typeface="DM Sans Bold"/>
                  <a:sym typeface="DM Sans Bold"/>
                </a:rPr>
                <a:t>Terima Kasih</a:t>
              </a:r>
            </a:p>
          </p:txBody>
        </p:sp>
      </p:grpSp>
      <p:grpSp>
        <p:nvGrpSpPr>
          <p:cNvPr name="Group 31" id="31"/>
          <p:cNvGrpSpPr/>
          <p:nvPr/>
        </p:nvGrpSpPr>
        <p:grpSpPr>
          <a:xfrm rot="0">
            <a:off x="1601563" y="4651968"/>
            <a:ext cx="4570637" cy="1935701"/>
            <a:chOff x="0" y="0"/>
            <a:chExt cx="1961749" cy="830816"/>
          </a:xfrm>
        </p:grpSpPr>
        <p:sp>
          <p:nvSpPr>
            <p:cNvPr name="Freeform 32" id="32"/>
            <p:cNvSpPr/>
            <p:nvPr/>
          </p:nvSpPr>
          <p:spPr>
            <a:xfrm flipH="false" flipV="false" rot="0">
              <a:off x="0" y="0"/>
              <a:ext cx="1961749" cy="830816"/>
            </a:xfrm>
            <a:custGeom>
              <a:avLst/>
              <a:gdLst/>
              <a:ahLst/>
              <a:cxnLst/>
              <a:rect r="r" b="b" t="t" l="l"/>
              <a:pathLst>
                <a:path h="830816" w="1961749">
                  <a:moveTo>
                    <a:pt x="33083" y="0"/>
                  </a:moveTo>
                  <a:lnTo>
                    <a:pt x="1928666" y="0"/>
                  </a:lnTo>
                  <a:cubicBezTo>
                    <a:pt x="1946938" y="0"/>
                    <a:pt x="1961749" y="14812"/>
                    <a:pt x="1961749" y="33083"/>
                  </a:cubicBezTo>
                  <a:lnTo>
                    <a:pt x="1961749" y="797734"/>
                  </a:lnTo>
                  <a:cubicBezTo>
                    <a:pt x="1961749" y="816005"/>
                    <a:pt x="1946938" y="830816"/>
                    <a:pt x="1928666" y="830816"/>
                  </a:cubicBezTo>
                  <a:lnTo>
                    <a:pt x="33083" y="830816"/>
                  </a:lnTo>
                  <a:cubicBezTo>
                    <a:pt x="14812" y="830816"/>
                    <a:pt x="0" y="816005"/>
                    <a:pt x="0" y="797734"/>
                  </a:cubicBezTo>
                  <a:lnTo>
                    <a:pt x="0" y="33083"/>
                  </a:lnTo>
                  <a:cubicBezTo>
                    <a:pt x="0" y="14812"/>
                    <a:pt x="14812" y="0"/>
                    <a:pt x="33083" y="0"/>
                  </a:cubicBezTo>
                  <a:close/>
                </a:path>
              </a:pathLst>
            </a:custGeom>
            <a:ln w="28575" cap="rnd">
              <a:solidFill>
                <a:srgbClr val="9A2F2B"/>
              </a:solidFill>
              <a:prstDash val="solid"/>
              <a:round/>
            </a:ln>
          </p:spPr>
        </p:sp>
        <p:sp>
          <p:nvSpPr>
            <p:cNvPr name="TextBox 33" id="33"/>
            <p:cNvSpPr txBox="true"/>
            <p:nvPr/>
          </p:nvSpPr>
          <p:spPr>
            <a:xfrm>
              <a:off x="0" y="-9525"/>
              <a:ext cx="1961749" cy="840341"/>
            </a:xfrm>
            <a:prstGeom prst="rect">
              <a:avLst/>
            </a:prstGeom>
          </p:spPr>
          <p:txBody>
            <a:bodyPr anchor="ctr" rtlCol="false" tIns="50800" lIns="50800" bIns="50800" rIns="50800"/>
            <a:lstStyle/>
            <a:p>
              <a:pPr algn="ctr">
                <a:lnSpc>
                  <a:spcPts val="1919"/>
                </a:lnSpc>
              </a:pPr>
            </a:p>
          </p:txBody>
        </p:sp>
      </p:grpSp>
      <p:grpSp>
        <p:nvGrpSpPr>
          <p:cNvPr name="Group 34" id="34"/>
          <p:cNvGrpSpPr/>
          <p:nvPr/>
        </p:nvGrpSpPr>
        <p:grpSpPr>
          <a:xfrm rot="0">
            <a:off x="6846954" y="4679277"/>
            <a:ext cx="4570637" cy="1935701"/>
            <a:chOff x="0" y="0"/>
            <a:chExt cx="1961749" cy="830816"/>
          </a:xfrm>
        </p:grpSpPr>
        <p:sp>
          <p:nvSpPr>
            <p:cNvPr name="Freeform 35" id="35"/>
            <p:cNvSpPr/>
            <p:nvPr/>
          </p:nvSpPr>
          <p:spPr>
            <a:xfrm flipH="false" flipV="false" rot="0">
              <a:off x="0" y="0"/>
              <a:ext cx="1961749" cy="830816"/>
            </a:xfrm>
            <a:custGeom>
              <a:avLst/>
              <a:gdLst/>
              <a:ahLst/>
              <a:cxnLst/>
              <a:rect r="r" b="b" t="t" l="l"/>
              <a:pathLst>
                <a:path h="830816" w="1961749">
                  <a:moveTo>
                    <a:pt x="33083" y="0"/>
                  </a:moveTo>
                  <a:lnTo>
                    <a:pt x="1928666" y="0"/>
                  </a:lnTo>
                  <a:cubicBezTo>
                    <a:pt x="1946938" y="0"/>
                    <a:pt x="1961749" y="14812"/>
                    <a:pt x="1961749" y="33083"/>
                  </a:cubicBezTo>
                  <a:lnTo>
                    <a:pt x="1961749" y="797734"/>
                  </a:lnTo>
                  <a:cubicBezTo>
                    <a:pt x="1961749" y="816005"/>
                    <a:pt x="1946938" y="830816"/>
                    <a:pt x="1928666" y="830816"/>
                  </a:cubicBezTo>
                  <a:lnTo>
                    <a:pt x="33083" y="830816"/>
                  </a:lnTo>
                  <a:cubicBezTo>
                    <a:pt x="14812" y="830816"/>
                    <a:pt x="0" y="816005"/>
                    <a:pt x="0" y="797734"/>
                  </a:cubicBezTo>
                  <a:lnTo>
                    <a:pt x="0" y="33083"/>
                  </a:lnTo>
                  <a:cubicBezTo>
                    <a:pt x="0" y="14812"/>
                    <a:pt x="14812" y="0"/>
                    <a:pt x="33083" y="0"/>
                  </a:cubicBezTo>
                  <a:close/>
                </a:path>
              </a:pathLst>
            </a:custGeom>
            <a:ln w="28575" cap="rnd">
              <a:solidFill>
                <a:srgbClr val="9A2F2B"/>
              </a:solidFill>
              <a:prstDash val="solid"/>
              <a:round/>
            </a:ln>
          </p:spPr>
        </p:sp>
        <p:sp>
          <p:nvSpPr>
            <p:cNvPr name="TextBox 36" id="36"/>
            <p:cNvSpPr txBox="true"/>
            <p:nvPr/>
          </p:nvSpPr>
          <p:spPr>
            <a:xfrm>
              <a:off x="0" y="-9525"/>
              <a:ext cx="1961749" cy="840341"/>
            </a:xfrm>
            <a:prstGeom prst="rect">
              <a:avLst/>
            </a:prstGeom>
          </p:spPr>
          <p:txBody>
            <a:bodyPr anchor="ctr" rtlCol="false" tIns="50800" lIns="50800" bIns="50800" rIns="50800"/>
            <a:lstStyle/>
            <a:p>
              <a:pPr algn="ctr">
                <a:lnSpc>
                  <a:spcPts val="1919"/>
                </a:lnSpc>
              </a:pPr>
            </a:p>
          </p:txBody>
        </p:sp>
      </p:grpSp>
      <p:grpSp>
        <p:nvGrpSpPr>
          <p:cNvPr name="Group 37" id="37"/>
          <p:cNvGrpSpPr/>
          <p:nvPr/>
        </p:nvGrpSpPr>
        <p:grpSpPr>
          <a:xfrm rot="0">
            <a:off x="12093867" y="4758580"/>
            <a:ext cx="4570637" cy="1935701"/>
            <a:chOff x="0" y="0"/>
            <a:chExt cx="1961749" cy="830816"/>
          </a:xfrm>
        </p:grpSpPr>
        <p:sp>
          <p:nvSpPr>
            <p:cNvPr name="Freeform 38" id="38"/>
            <p:cNvSpPr/>
            <p:nvPr/>
          </p:nvSpPr>
          <p:spPr>
            <a:xfrm flipH="false" flipV="false" rot="0">
              <a:off x="0" y="0"/>
              <a:ext cx="1961749" cy="830816"/>
            </a:xfrm>
            <a:custGeom>
              <a:avLst/>
              <a:gdLst/>
              <a:ahLst/>
              <a:cxnLst/>
              <a:rect r="r" b="b" t="t" l="l"/>
              <a:pathLst>
                <a:path h="830816" w="1961749">
                  <a:moveTo>
                    <a:pt x="33083" y="0"/>
                  </a:moveTo>
                  <a:lnTo>
                    <a:pt x="1928666" y="0"/>
                  </a:lnTo>
                  <a:cubicBezTo>
                    <a:pt x="1946938" y="0"/>
                    <a:pt x="1961749" y="14812"/>
                    <a:pt x="1961749" y="33083"/>
                  </a:cubicBezTo>
                  <a:lnTo>
                    <a:pt x="1961749" y="797734"/>
                  </a:lnTo>
                  <a:cubicBezTo>
                    <a:pt x="1961749" y="816005"/>
                    <a:pt x="1946938" y="830816"/>
                    <a:pt x="1928666" y="830816"/>
                  </a:cubicBezTo>
                  <a:lnTo>
                    <a:pt x="33083" y="830816"/>
                  </a:lnTo>
                  <a:cubicBezTo>
                    <a:pt x="14812" y="830816"/>
                    <a:pt x="0" y="816005"/>
                    <a:pt x="0" y="797734"/>
                  </a:cubicBezTo>
                  <a:lnTo>
                    <a:pt x="0" y="33083"/>
                  </a:lnTo>
                  <a:cubicBezTo>
                    <a:pt x="0" y="14812"/>
                    <a:pt x="14812" y="0"/>
                    <a:pt x="33083" y="0"/>
                  </a:cubicBezTo>
                  <a:close/>
                </a:path>
              </a:pathLst>
            </a:custGeom>
            <a:ln w="28575" cap="rnd">
              <a:solidFill>
                <a:srgbClr val="9A2F2B"/>
              </a:solidFill>
              <a:prstDash val="solid"/>
              <a:round/>
            </a:ln>
          </p:spPr>
        </p:sp>
        <p:sp>
          <p:nvSpPr>
            <p:cNvPr name="TextBox 39" id="39"/>
            <p:cNvSpPr txBox="true"/>
            <p:nvPr/>
          </p:nvSpPr>
          <p:spPr>
            <a:xfrm>
              <a:off x="0" y="-9525"/>
              <a:ext cx="1961749" cy="840341"/>
            </a:xfrm>
            <a:prstGeom prst="rect">
              <a:avLst/>
            </a:prstGeom>
          </p:spPr>
          <p:txBody>
            <a:bodyPr anchor="ctr" rtlCol="false" tIns="50800" lIns="50800" bIns="50800" rIns="50800"/>
            <a:lstStyle/>
            <a:p>
              <a:pPr algn="ctr">
                <a:lnSpc>
                  <a:spcPts val="1919"/>
                </a:lnSpc>
              </a:pPr>
            </a:p>
          </p:txBody>
        </p:sp>
      </p:grpSp>
      <p:sp>
        <p:nvSpPr>
          <p:cNvPr name="Freeform 40" id="40"/>
          <p:cNvSpPr/>
          <p:nvPr/>
        </p:nvSpPr>
        <p:spPr>
          <a:xfrm flipH="false" flipV="false" rot="0">
            <a:off x="16101988" y="108118"/>
            <a:ext cx="1565071" cy="1565071"/>
          </a:xfrm>
          <a:custGeom>
            <a:avLst/>
            <a:gdLst/>
            <a:ahLst/>
            <a:cxnLst/>
            <a:rect r="r" b="b" t="t" l="l"/>
            <a:pathLst>
              <a:path h="1565071" w="1565071">
                <a:moveTo>
                  <a:pt x="0" y="0"/>
                </a:moveTo>
                <a:lnTo>
                  <a:pt x="1565071" y="0"/>
                </a:lnTo>
                <a:lnTo>
                  <a:pt x="1565071" y="1565071"/>
                </a:lnTo>
                <a:lnTo>
                  <a:pt x="0" y="1565071"/>
                </a:lnTo>
                <a:lnTo>
                  <a:pt x="0" y="0"/>
                </a:lnTo>
                <a:close/>
              </a:path>
            </a:pathLst>
          </a:custGeom>
          <a:blipFill>
            <a:blip r:embed="rId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DAHSi0D1ITk</dc:identifier>
  <dcterms:modified xsi:type="dcterms:W3CDTF">2011-08-01T06:04:30Z</dcterms:modified>
  <cp:revision>1</cp:revision>
  <dc:title>Kelompok2_I4_UsulanPPL .pptx</dc:title>
</cp:coreProperties>
</file>